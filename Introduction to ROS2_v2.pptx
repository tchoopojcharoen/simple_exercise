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65"/>
  </p:notesMasterIdLst>
  <p:sldIdLst>
    <p:sldId id="372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583" r:id="rId17"/>
    <p:sldId id="3586" r:id="rId18"/>
    <p:sldId id="3589" r:id="rId19"/>
    <p:sldId id="3590" r:id="rId20"/>
    <p:sldId id="3591" r:id="rId21"/>
    <p:sldId id="3707" r:id="rId22"/>
    <p:sldId id="3708" r:id="rId23"/>
    <p:sldId id="271" r:id="rId24"/>
    <p:sldId id="272" r:id="rId25"/>
    <p:sldId id="273" r:id="rId26"/>
    <p:sldId id="274" r:id="rId27"/>
    <p:sldId id="275" r:id="rId28"/>
    <p:sldId id="280" r:id="rId29"/>
    <p:sldId id="3634" r:id="rId30"/>
    <p:sldId id="276" r:id="rId31"/>
    <p:sldId id="277" r:id="rId32"/>
    <p:sldId id="3712" r:id="rId33"/>
    <p:sldId id="278" r:id="rId34"/>
    <p:sldId id="279" r:id="rId35"/>
    <p:sldId id="281" r:id="rId36"/>
    <p:sldId id="282" r:id="rId37"/>
    <p:sldId id="283" r:id="rId38"/>
    <p:sldId id="284" r:id="rId39"/>
    <p:sldId id="3608" r:id="rId40"/>
    <p:sldId id="3609" r:id="rId41"/>
    <p:sldId id="3613" r:id="rId42"/>
    <p:sldId id="3614" r:id="rId43"/>
    <p:sldId id="3615" r:id="rId44"/>
    <p:sldId id="285" r:id="rId45"/>
    <p:sldId id="286" r:id="rId46"/>
    <p:sldId id="3638" r:id="rId47"/>
    <p:sldId id="3640" r:id="rId48"/>
    <p:sldId id="3637" r:id="rId49"/>
    <p:sldId id="3642" r:id="rId50"/>
    <p:sldId id="3714" r:id="rId51"/>
    <p:sldId id="3636" r:id="rId52"/>
    <p:sldId id="3619" r:id="rId53"/>
    <p:sldId id="3618" r:id="rId54"/>
    <p:sldId id="3620" r:id="rId55"/>
    <p:sldId id="3645" r:id="rId56"/>
    <p:sldId id="3706" r:id="rId57"/>
    <p:sldId id="3717" r:id="rId58"/>
    <p:sldId id="3718" r:id="rId59"/>
    <p:sldId id="3719" r:id="rId60"/>
    <p:sldId id="3720" r:id="rId61"/>
    <p:sldId id="3721" r:id="rId62"/>
    <p:sldId id="3724" r:id="rId63"/>
    <p:sldId id="3723" r:id="rId64"/>
  </p:sldIdLst>
  <p:sldSz cx="12192000" cy="6858000"/>
  <p:notesSz cx="6858000" cy="9144000"/>
  <p:embeddedFontLst>
    <p:embeddedFont>
      <p:font typeface="Angsana New" panose="02020603050405020304" pitchFamily="18" charset="-34"/>
      <p:regular r:id="rId66"/>
      <p:bold r:id="rId67"/>
      <p:italic r:id="rId68"/>
      <p:boldItalic r:id="rId69"/>
    </p:embeddedFont>
    <p:embeddedFont>
      <p:font typeface="Barlow Condensed" panose="00000506000000000000" pitchFamily="2" charset="0"/>
      <p:regular r:id="rId70"/>
      <p:bold r:id="rId71"/>
      <p:italic r:id="rId72"/>
      <p:boldItalic r:id="rId73"/>
    </p:embeddedFont>
    <p:embeddedFont>
      <p:font typeface="Cordia New" panose="020B0304020202020204" pitchFamily="34" charset="-34"/>
      <p:regular r:id="rId74"/>
      <p:bold r:id="rId75"/>
      <p:italic r:id="rId76"/>
      <p:boldItalic r:id="rId77"/>
    </p:embeddedFont>
    <p:embeddedFont>
      <p:font typeface="Georgia" panose="02040502050405020303" pitchFamily="18" charset="0"/>
      <p:regular r:id="rId78"/>
      <p:bold r:id="rId79"/>
      <p:italic r:id="rId80"/>
      <p:boldItalic r:id="rId81"/>
    </p:embeddedFont>
    <p:embeddedFont>
      <p:font typeface="Verdana" panose="020B060403050404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593" autoAdjust="0"/>
  </p:normalViewPr>
  <p:slideViewPr>
    <p:cSldViewPr snapToGrid="0">
      <p:cViewPr varScale="1">
        <p:scale>
          <a:sx n="95" d="100"/>
          <a:sy n="95" d="100"/>
        </p:scale>
        <p:origin x="1158"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84" Type="http://schemas.openxmlformats.org/officeDocument/2006/relationships/font" Target="fonts/font19.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80" Type="http://schemas.openxmlformats.org/officeDocument/2006/relationships/font" Target="fonts/font15.fntdata"/><Relationship Id="rId85" Type="http://schemas.openxmlformats.org/officeDocument/2006/relationships/font" Target="fonts/font2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font" Target="fonts/font18.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fntdata"/><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font" Target="fonts/font17.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4" name="Google Shape;26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cf08512837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slide shows the roadmap for the session. We will start with ROS and ROS2 concepts, then move to nodes and topics, then messages and interfaces, and finally packages and basic RCLPY programming.</a:t>
            </a:r>
          </a:p>
          <a:p>
            <a:r>
              <a:rPr lang="en-US" dirty="0"/>
              <a:t>The main objective is practical: you should be able to read simple RCLPY-based code and create or customize a basic ROS2 node.</a:t>
            </a:r>
          </a:p>
          <a:p>
            <a:r>
              <a:rPr lang="en-US" dirty="0"/>
              <a:t>Tell students:</a:t>
            </a:r>
          </a:p>
          <a:p>
            <a:r>
              <a:rPr lang="en-US" dirty="0"/>
              <a:t>Do not worry if some terms sound unfamiliar now. We will keep coming back to the same core idea: ROS2 is about many small programs communicating with each other.</a:t>
            </a:r>
          </a:p>
          <a:p>
            <a:pPr marL="0" lvl="0" indent="0" algn="l" rtl="0">
              <a:spcBef>
                <a:spcPts val="0"/>
              </a:spcBef>
              <a:spcAft>
                <a:spcPts val="0"/>
              </a:spcAft>
              <a:buNone/>
            </a:pPr>
            <a:endParaRPr dirty="0"/>
          </a:p>
        </p:txBody>
      </p:sp>
      <p:sp>
        <p:nvSpPr>
          <p:cNvPr id="271" name="Google Shape;271;g3cf0851283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cfe68d8925_0_1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Start by asking: why do we need something like ROS2?</a:t>
            </a:r>
          </a:p>
          <a:p>
            <a:r>
              <a:rPr lang="en-US" dirty="0"/>
              <a:t>A robot is not usually controlled by one single program. A mobile robot may have a camera program, LiDAR program, localization algorithm, path planner, controller, motor driver, and visualization tool. Each part needs to exchange information with the others.</a:t>
            </a:r>
          </a:p>
          <a:p>
            <a:r>
              <a:rPr lang="en-US" dirty="0"/>
              <a:t>For example, a LiDAR node sends scan data, a localization node estimates where the robot is, a controller sends velocity commands, and the motor driver executes those commands.</a:t>
            </a:r>
          </a:p>
          <a:p>
            <a:r>
              <a:rPr lang="en-US" dirty="0"/>
              <a:t>ROS2 gives us a standard way to organize this communication.</a:t>
            </a:r>
          </a:p>
          <a:p>
            <a:pPr marL="0" lvl="0" indent="0" algn="l" rtl="0">
              <a:spcBef>
                <a:spcPts val="0"/>
              </a:spcBef>
              <a:spcAft>
                <a:spcPts val="0"/>
              </a:spcAft>
              <a:buNone/>
            </a:pPr>
            <a:endParaRPr dirty="0"/>
          </a:p>
        </p:txBody>
      </p:sp>
      <p:sp>
        <p:nvSpPr>
          <p:cNvPr id="280" name="Google Shape;280;g3cfe68d8925_0_1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cf08512837_0_1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diagram introduces the communication idea. Each oval represents a </a:t>
            </a:r>
            <a:r>
              <a:rPr lang="en-US" b="1" dirty="0"/>
              <a:t>node</a:t>
            </a:r>
            <a:r>
              <a:rPr lang="en-US" dirty="0"/>
              <a:t>, which is a running software process. The center block represents the communication channel.</a:t>
            </a:r>
          </a:p>
          <a:p>
            <a:r>
              <a:rPr lang="en-US" dirty="0"/>
              <a:t>In robotics, we often do not want one huge program. Instead, we divide the system into smaller programs. Each program does one job and communicates with the others.</a:t>
            </a:r>
          </a:p>
          <a:p>
            <a:r>
              <a:rPr lang="en-US" dirty="0"/>
              <a:t>Example:</a:t>
            </a:r>
          </a:p>
          <a:p>
            <a:pPr rtl="0"/>
            <a:r>
              <a:rPr lang="en-US" sz="1200" b="0" i="0" u="none" strike="noStrike" cap="none" dirty="0">
                <a:solidFill>
                  <a:schemeClr val="dk1"/>
                </a:solidFill>
                <a:latin typeface="Calibri"/>
                <a:ea typeface="Calibri"/>
                <a:cs typeface="Calibri"/>
                <a:sym typeface="Calibri"/>
              </a:rPr>
              <a:t>Camera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LiDAR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Localization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Controller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Motor driver node</a:t>
            </a:r>
          </a:p>
          <a:p>
            <a:r>
              <a:rPr lang="en-US" dirty="0"/>
              <a:t>Each one can run separately but still exchange data.</a:t>
            </a:r>
          </a:p>
          <a:p>
            <a:pPr marL="0" lvl="0" indent="0" algn="l" rtl="0">
              <a:spcBef>
                <a:spcPts val="0"/>
              </a:spcBef>
              <a:spcAft>
                <a:spcPts val="0"/>
              </a:spcAft>
              <a:buNone/>
            </a:pPr>
            <a:endParaRPr dirty="0"/>
          </a:p>
        </p:txBody>
      </p:sp>
      <p:sp>
        <p:nvSpPr>
          <p:cNvPr id="285" name="Google Shape;285;g3cf08512837_0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cfe68d8925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A node that sends data is called a </a:t>
            </a:r>
            <a:r>
              <a:rPr lang="en-US" b="1" dirty="0"/>
              <a:t>publisher</a:t>
            </a:r>
            <a:r>
              <a:rPr lang="en-US" dirty="0"/>
              <a:t>. For example:</a:t>
            </a:r>
          </a:p>
          <a:p>
            <a:pPr rtl="0"/>
            <a:r>
              <a:rPr lang="en-US" sz="1200" b="0" i="0" u="none" strike="noStrike" cap="none" dirty="0">
                <a:solidFill>
                  <a:schemeClr val="dk1"/>
                </a:solidFill>
                <a:latin typeface="Calibri"/>
                <a:ea typeface="Calibri"/>
                <a:cs typeface="Calibri"/>
                <a:sym typeface="Calibri"/>
              </a:rPr>
              <a:t>Camera node publishes images.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LiDAR node publishes scan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Controller node publishes velocity commands.</a:t>
            </a:r>
          </a:p>
          <a:p>
            <a:r>
              <a:rPr lang="en-US" dirty="0"/>
              <a:t>Publishing means the node is sending data to a named communication channel. The publisher does not need to know exactly who is receiving the data.</a:t>
            </a:r>
          </a:p>
          <a:p>
            <a:r>
              <a:rPr lang="en-US" dirty="0"/>
              <a:t>This is one reason ROS2 is flexible. We can add or remove subscribers without rewriting the publisher.</a:t>
            </a:r>
          </a:p>
          <a:p>
            <a:pPr marL="0" lvl="0" indent="0" algn="l" rtl="0">
              <a:spcBef>
                <a:spcPts val="0"/>
              </a:spcBef>
              <a:spcAft>
                <a:spcPts val="0"/>
              </a:spcAft>
              <a:buNone/>
            </a:pPr>
            <a:endParaRPr dirty="0"/>
          </a:p>
        </p:txBody>
      </p:sp>
      <p:sp>
        <p:nvSpPr>
          <p:cNvPr id="305" name="Google Shape;305;g3cfe68d8925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cfe68d8925_0_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Use this slide to reinforce that robot software is distributed. The communication channel sits between different nodes.</a:t>
            </a:r>
          </a:p>
          <a:p>
            <a:r>
              <a:rPr lang="en-US" dirty="0"/>
              <a:t>The important idea is that we separate computation into modules. One module may handle perception, another localization, another planning, and another control.</a:t>
            </a:r>
          </a:p>
          <a:p>
            <a:r>
              <a:rPr lang="en-US" dirty="0"/>
              <a:t>This makes the system easier to debug. If the controller is not working, we can inspect only the controller node and the topics it uses.</a:t>
            </a:r>
          </a:p>
          <a:p>
            <a:pPr marL="0" lvl="0" indent="0" algn="l" rtl="0">
              <a:spcBef>
                <a:spcPts val="0"/>
              </a:spcBef>
              <a:spcAft>
                <a:spcPts val="0"/>
              </a:spcAft>
              <a:buNone/>
            </a:pPr>
            <a:endParaRPr dirty="0"/>
          </a:p>
        </p:txBody>
      </p:sp>
      <p:sp>
        <p:nvSpPr>
          <p:cNvPr id="326" name="Google Shape;326;g3cfe68d892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cfe68d8925_0_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Now introduce the subscriber side.</a:t>
            </a:r>
          </a:p>
          <a:p>
            <a:r>
              <a:rPr lang="en-US" dirty="0"/>
              <a:t>A node that receives data is called a </a:t>
            </a:r>
            <a:r>
              <a:rPr lang="en-US" b="1" dirty="0"/>
              <a:t>subscriber</a:t>
            </a:r>
            <a:r>
              <a:rPr lang="en-US" dirty="0"/>
              <a:t>. For example:</a:t>
            </a:r>
          </a:p>
          <a:p>
            <a:pPr rtl="0"/>
            <a:r>
              <a:rPr lang="en-US" sz="1200" b="0" i="0" u="none" strike="noStrike" cap="none" dirty="0">
                <a:solidFill>
                  <a:schemeClr val="dk1"/>
                </a:solidFill>
                <a:latin typeface="Calibri"/>
                <a:ea typeface="Calibri"/>
                <a:cs typeface="Calibri"/>
                <a:sym typeface="Calibri"/>
              </a:rPr>
              <a:t>Controller subscribes to robot 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RViz subscribes to odometry.</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Motor driver subscribes to velocity command.</a:t>
            </a:r>
          </a:p>
          <a:p>
            <a:r>
              <a:rPr lang="en-US" dirty="0"/>
              <a:t>A useful analogy:</a:t>
            </a:r>
          </a:p>
          <a:p>
            <a:pPr rtl="0"/>
            <a:r>
              <a:rPr lang="en-US" sz="1200" b="0" i="0" u="none" strike="noStrike" cap="none" dirty="0">
                <a:solidFill>
                  <a:schemeClr val="dk1"/>
                </a:solidFill>
                <a:latin typeface="Calibri"/>
                <a:ea typeface="Calibri"/>
                <a:cs typeface="Calibri"/>
                <a:sym typeface="Calibri"/>
              </a:rPr>
              <a:t>Topic = YouTube channel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Publisher = person uploading videos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Subscriber = person watching videos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Message = the actual content</a:t>
            </a:r>
          </a:p>
          <a:p>
            <a:r>
              <a:rPr lang="en-US" dirty="0"/>
              <a:t>The publisher sends data. Any subscriber listening to the same topic receives it.</a:t>
            </a:r>
          </a:p>
          <a:p>
            <a:pPr marL="0" lvl="0" indent="0" algn="l" rtl="0">
              <a:spcBef>
                <a:spcPts val="0"/>
              </a:spcBef>
              <a:spcAft>
                <a:spcPts val="0"/>
              </a:spcAft>
              <a:buNone/>
            </a:pPr>
            <a:endParaRPr dirty="0"/>
          </a:p>
        </p:txBody>
      </p:sp>
      <p:sp>
        <p:nvSpPr>
          <p:cNvPr id="346" name="Google Shape;346;g3cfe68d8925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cfe68d8925_0_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is an important slide. Students may ask: if Kafka, Redis, MQTT, OPC UA, and </a:t>
            </a:r>
            <a:r>
              <a:rPr lang="en-US" dirty="0" err="1"/>
              <a:t>ZeroMQ</a:t>
            </a:r>
            <a:r>
              <a:rPr lang="en-US" dirty="0"/>
              <a:t> already exist, why do we use ROS2?</a:t>
            </a:r>
          </a:p>
          <a:p>
            <a:r>
              <a:rPr lang="en-US" dirty="0"/>
              <a:t>Explain clearly:</a:t>
            </a:r>
          </a:p>
          <a:p>
            <a:r>
              <a:rPr lang="en-US" dirty="0"/>
              <a:t>These tools are also communication middleware, but they are </a:t>
            </a:r>
            <a:r>
              <a:rPr lang="en-US" b="1" dirty="0"/>
              <a:t>general-purpose communication tools</a:t>
            </a:r>
            <a:r>
              <a:rPr lang="en-US" dirty="0"/>
              <a:t>. ROS2 is designed specifically for robotics.</a:t>
            </a:r>
          </a:p>
          <a:p>
            <a:r>
              <a:rPr lang="en-US" dirty="0"/>
              <a:t>Kafka is excellent for high-throughput data streaming, logging, and large distributed data pipelines. MQTT is lightweight and very common for IoT. Redis can be used for fast data exchange or caching. OPC UA is common in industrial automation. </a:t>
            </a:r>
            <a:r>
              <a:rPr lang="en-US" dirty="0" err="1"/>
              <a:t>ZeroMQ</a:t>
            </a:r>
            <a:r>
              <a:rPr lang="en-US" dirty="0"/>
              <a:t> is a flexible messaging library.</a:t>
            </a:r>
          </a:p>
          <a:p>
            <a:r>
              <a:rPr lang="en-US" dirty="0"/>
              <a:t>But robotics needs more than just sending messages.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Kafka, Redis, MQTT, OPC UA, and </a:t>
            </a:r>
            <a:r>
              <a:rPr lang="en-US" dirty="0" err="1"/>
              <a:t>ZeroMQ</a:t>
            </a:r>
            <a:r>
              <a:rPr lang="en-US" dirty="0"/>
              <a:t> are communication tools. ROS2 is a robotics framework built around communication, robot data types, coordinate frames, simulation, visualization, and robot software organization.</a:t>
            </a:r>
          </a:p>
          <a:p>
            <a:pPr marL="0" lvl="0" indent="0" algn="l" rtl="0">
              <a:spcBef>
                <a:spcPts val="0"/>
              </a:spcBef>
              <a:spcAft>
                <a:spcPts val="0"/>
              </a:spcAft>
              <a:buNone/>
            </a:pPr>
            <a:r>
              <a:rPr lang="en-US" dirty="0"/>
              <a:t>ROS2 does not replace all of these tools in every situation. For example, MQTT or Kafka may still be useful for cloud logging or fleet monitoring. But inside the robot, ROS2 is usually much more convenient because it understands robotics conventions.</a:t>
            </a:r>
          </a:p>
          <a:p>
            <a:pPr marL="0" lvl="0" indent="0" algn="l" rtl="0">
              <a:spcBef>
                <a:spcPts val="0"/>
              </a:spcBef>
              <a:spcAft>
                <a:spcPts val="0"/>
              </a:spcAft>
              <a:buNone/>
            </a:pPr>
            <a:r>
              <a:rPr lang="en-US" dirty="0"/>
              <a:t>General middleware = communication pipe</a:t>
            </a:r>
            <a:br>
              <a:rPr lang="en-US" dirty="0"/>
            </a:br>
            <a:r>
              <a:rPr lang="en-US" dirty="0"/>
              <a:t>ROS2 = robotics communication pipe + robot standards + robot tools + robot ecosystem</a:t>
            </a:r>
            <a:endParaRPr dirty="0"/>
          </a:p>
        </p:txBody>
      </p:sp>
      <p:sp>
        <p:nvSpPr>
          <p:cNvPr id="375" name="Google Shape;375;g3cfe68d8925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cfe68d8925_0_1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slide answers when ROS is useful. Use ROS when building distributed robotic systems where sensors, actuators, and algorithms need to exchange data.</a:t>
            </a:r>
          </a:p>
          <a:p>
            <a:r>
              <a:rPr lang="en-US" dirty="0"/>
              <a:t>For mobile robots, this means:</a:t>
            </a:r>
          </a:p>
          <a:p>
            <a:pPr rtl="0"/>
            <a:r>
              <a:rPr lang="en-US" sz="1200" b="0" i="0" u="none" strike="noStrike" cap="none" dirty="0">
                <a:solidFill>
                  <a:schemeClr val="dk1"/>
                </a:solidFill>
                <a:latin typeface="Calibri"/>
                <a:ea typeface="Calibri"/>
                <a:cs typeface="Calibri"/>
                <a:sym typeface="Calibri"/>
              </a:rPr>
              <a:t>Camera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LiDAR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IMU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Wheel odometry</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Robot 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Map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Velocity commands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Coordinate-frame transformations</a:t>
            </a:r>
          </a:p>
          <a:p>
            <a:r>
              <a:rPr lang="en-US" dirty="0"/>
              <a:t>ROS is especially useful when data is spatially meaningful. For example, a LiDAR point is not just a number. It belongs to a coordinate frame. The robot must understand whether the data is in the LiDAR frame, robot base frame, map frame, or odometry frame.</a:t>
            </a:r>
          </a:p>
          <a:p>
            <a:r>
              <a:rPr lang="en-US" dirty="0"/>
              <a:t>This is why ROS is widely used in perception, localization, kinematics, mapping, and navigation.</a:t>
            </a:r>
          </a:p>
          <a:p>
            <a:pPr marL="0" lvl="0" indent="0" algn="l" rtl="0">
              <a:spcBef>
                <a:spcPts val="0"/>
              </a:spcBef>
              <a:spcAft>
                <a:spcPts val="0"/>
              </a:spcAft>
              <a:buNone/>
            </a:pPr>
            <a:endParaRPr dirty="0"/>
          </a:p>
        </p:txBody>
      </p:sp>
      <p:sp>
        <p:nvSpPr>
          <p:cNvPr id="398" name="Google Shape;398;g3cfe68d8925_0_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cfe68d8925_0_1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3" name="Google Shape;413;g3cfe68d8925_0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cfe68d8925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The name Robot Operating System is a little misleading.</a:t>
            </a:r>
          </a:p>
          <a:p>
            <a:r>
              <a:rPr lang="en-US" dirty="0"/>
              <a:t>Students may think ROS is like Windows, Ubuntu, or macOS. It is not. ROS is a framework that runs on top of an actual operating system, usually Linux/Ubuntu.</a:t>
            </a:r>
          </a:p>
          <a:p>
            <a:br>
              <a:rPr lang="en-US" dirty="0"/>
            </a:br>
            <a:r>
              <a:rPr lang="en-US" dirty="0"/>
              <a:t>Emphasize this strongly:</a:t>
            </a:r>
          </a:p>
          <a:p>
            <a:pPr rtl="0"/>
            <a:r>
              <a:rPr lang="en-US" sz="1200" b="0" i="0" u="none" strike="noStrike" cap="none" dirty="0">
                <a:solidFill>
                  <a:schemeClr val="dk1"/>
                </a:solidFill>
                <a:latin typeface="Calibri"/>
                <a:ea typeface="Calibri"/>
                <a:cs typeface="Calibri"/>
                <a:sym typeface="Calibri"/>
              </a:rPr>
              <a:t>ROS is not an operating system.</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 is a software framework and toolset.</a:t>
            </a:r>
          </a:p>
          <a:p>
            <a:r>
              <a:rPr lang="en-US" dirty="0"/>
              <a:t>A real operating system manages files, memory, hardware, processes, and users. ROS does not replace that.</a:t>
            </a:r>
          </a:p>
          <a:p>
            <a:r>
              <a:rPr lang="en-US" dirty="0"/>
              <a:t>Instead:</a:t>
            </a:r>
          </a:p>
          <a:p>
            <a:pPr rtl="0"/>
            <a:r>
              <a:rPr lang="en-US" sz="1200" b="0" i="0" u="none" strike="noStrike" cap="none" dirty="0">
                <a:solidFill>
                  <a:schemeClr val="dk1"/>
                </a:solidFill>
                <a:latin typeface="Calibri"/>
                <a:ea typeface="Calibri"/>
                <a:cs typeface="Calibri"/>
                <a:sym typeface="Calibri"/>
              </a:rPr>
              <a:t>Ubuntu/Linux = actual operating system</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 robotics framework running on top of Ubuntu/Linux</a:t>
            </a:r>
          </a:p>
          <a:p>
            <a:r>
              <a:rPr lang="en-US" dirty="0"/>
              <a:t>ROS helps developers build robot systems made of many software components.</a:t>
            </a:r>
          </a:p>
          <a:p>
            <a:pPr marL="0" lvl="0" indent="0" algn="l" rtl="0">
              <a:spcBef>
                <a:spcPts val="0"/>
              </a:spcBef>
              <a:spcAft>
                <a:spcPts val="0"/>
              </a:spcAft>
              <a:buNone/>
            </a:pPr>
            <a:endParaRPr dirty="0"/>
          </a:p>
        </p:txBody>
      </p:sp>
      <p:sp>
        <p:nvSpPr>
          <p:cNvPr id="418" name="Google Shape;418;g3cfe68d8925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cfe68d8925_0_1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ROS provides three main things.</a:t>
            </a:r>
          </a:p>
          <a:p>
            <a:r>
              <a:rPr lang="en-US" dirty="0"/>
              <a:t>First, </a:t>
            </a:r>
            <a:r>
              <a:rPr lang="en-US" b="1" dirty="0"/>
              <a:t>tools</a:t>
            </a:r>
            <a:r>
              <a:rPr lang="en-US" dirty="0"/>
              <a:t>: command-line tools, visualization tools, launch tools, debugging tools.</a:t>
            </a:r>
          </a:p>
          <a:p>
            <a:r>
              <a:rPr lang="en-US" dirty="0"/>
              <a:t>Second, </a:t>
            </a:r>
            <a:r>
              <a:rPr lang="en-US" b="1" dirty="0"/>
              <a:t>standards and conventions</a:t>
            </a:r>
            <a:r>
              <a:rPr lang="en-US" dirty="0"/>
              <a:t>: common message types, naming conventions, package structures, coordinate frame conventions.</a:t>
            </a:r>
          </a:p>
          <a:p>
            <a:r>
              <a:rPr lang="en-US" dirty="0"/>
              <a:t>Third, </a:t>
            </a:r>
            <a:r>
              <a:rPr lang="en-US" b="1" dirty="0"/>
              <a:t>resource sharing</a:t>
            </a:r>
            <a:r>
              <a:rPr lang="en-US" dirty="0"/>
              <a:t>: the ROS community provides packages that others can reuse.</a:t>
            </a:r>
          </a:p>
          <a:p>
            <a:r>
              <a:rPr lang="en-US" dirty="0"/>
              <a:t>This saves time. Instead of writing everything from zero, we can use existing packages and focus on the research or engineering problem.</a:t>
            </a:r>
          </a:p>
          <a:p>
            <a:pPr marL="0" lvl="0" indent="0" algn="l" rtl="0">
              <a:spcBef>
                <a:spcPts val="0"/>
              </a:spcBef>
              <a:spcAft>
                <a:spcPts val="0"/>
              </a:spcAft>
              <a:buNone/>
            </a:pPr>
            <a:endParaRPr dirty="0"/>
          </a:p>
        </p:txBody>
      </p:sp>
      <p:sp>
        <p:nvSpPr>
          <p:cNvPr id="428" name="Google Shape;428;g3cfe68d8925_0_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cfe68d8925_0_1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ROS supports multiple programming languages. The most common are Python and C++.</a:t>
            </a:r>
          </a:p>
          <a:p>
            <a:r>
              <a:rPr lang="en-US" dirty="0"/>
              <a:t>For this tutorial, we use Python because it is easier to read and good for learning.</a:t>
            </a:r>
          </a:p>
          <a:p>
            <a:r>
              <a:rPr lang="en-US" dirty="0"/>
              <a:t>But in real robotic systems:</a:t>
            </a:r>
          </a:p>
          <a:p>
            <a:pPr rtl="0"/>
            <a:r>
              <a:rPr lang="en-US" sz="1200" b="0" i="0" u="none" strike="noStrike" cap="none" dirty="0">
                <a:solidFill>
                  <a:schemeClr val="dk1"/>
                </a:solidFill>
                <a:latin typeface="Calibri"/>
                <a:ea typeface="Calibri"/>
                <a:cs typeface="Calibri"/>
                <a:sym typeface="Calibri"/>
              </a:rPr>
              <a:t>Python = fast development, teaching, scripting, prototypes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 = high-performance nodes, real-time control, heavy computation</a:t>
            </a:r>
          </a:p>
          <a:p>
            <a:r>
              <a:rPr lang="en-US" dirty="0"/>
              <a:t>Mention that ROS2 provides client libraries. For Python, the library is called:</a:t>
            </a:r>
          </a:p>
          <a:p>
            <a:pPr rtl="0"/>
            <a:r>
              <a:rPr lang="en-US" sz="1200" b="0" i="0" u="none" strike="noStrike" cap="none" dirty="0" err="1">
                <a:solidFill>
                  <a:schemeClr val="dk1"/>
                </a:solidFill>
                <a:latin typeface="Calibri"/>
                <a:ea typeface="Calibri"/>
                <a:cs typeface="Calibri"/>
                <a:sym typeface="Calibri"/>
              </a:rPr>
              <a:t>rclpy</a:t>
            </a:r>
            <a:endParaRPr lang="en-US" sz="1200" b="0" i="0" u="none" strike="noStrike" cap="none" dirty="0">
              <a:solidFill>
                <a:schemeClr val="dk1"/>
              </a:solidFill>
              <a:latin typeface="Calibri"/>
              <a:ea typeface="Calibri"/>
              <a:cs typeface="Calibri"/>
              <a:sym typeface="Calibri"/>
            </a:endParaRPr>
          </a:p>
          <a:p>
            <a:r>
              <a:rPr lang="en-US" dirty="0"/>
              <a:t>For C++, it is:</a:t>
            </a:r>
          </a:p>
          <a:p>
            <a:pPr rtl="0"/>
            <a:r>
              <a:rPr lang="en-US" sz="1200" b="0" i="0" u="none" strike="noStrike" cap="none" dirty="0" err="1">
                <a:solidFill>
                  <a:schemeClr val="dk1"/>
                </a:solidFill>
                <a:latin typeface="Calibri"/>
                <a:ea typeface="Calibri"/>
                <a:cs typeface="Calibri"/>
                <a:sym typeface="Calibri"/>
              </a:rPr>
              <a:t>rclcpp</a:t>
            </a:r>
            <a:endParaRPr lang="en-US" sz="1200" b="0" i="0" u="none" strike="noStrike" cap="none"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
        <p:nvSpPr>
          <p:cNvPr id="437" name="Google Shape;437;g3cfe68d8925_0_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cfe68d8925_0_1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Robots do not only send simple numbers. They send structured information such as:</a:t>
            </a:r>
          </a:p>
          <a:p>
            <a:pPr rtl="0"/>
            <a:r>
              <a:rPr lang="en-US" sz="1200" b="0" i="0" u="none" strike="noStrike" cap="none" dirty="0">
                <a:solidFill>
                  <a:schemeClr val="dk1"/>
                </a:solidFill>
                <a:latin typeface="Calibri"/>
                <a:ea typeface="Calibri"/>
                <a:cs typeface="Calibri"/>
                <a:sym typeface="Calibri"/>
              </a:rPr>
              <a:t>Pose = position and orientation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Twist = linear and angular velocity</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Image = camera image</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LaserScan</a:t>
            </a:r>
            <a:r>
              <a:rPr lang="en-US" sz="1200" b="0" i="0" u="none" strike="noStrike" cap="none" dirty="0">
                <a:solidFill>
                  <a:schemeClr val="dk1"/>
                </a:solidFill>
                <a:latin typeface="Calibri"/>
                <a:ea typeface="Calibri"/>
                <a:cs typeface="Calibri"/>
                <a:sym typeface="Calibri"/>
              </a:rPr>
              <a:t> = LiDAR scan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Imu = acceleration and angular velocity data</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JointState</a:t>
            </a:r>
            <a:r>
              <a:rPr lang="en-US" sz="1200" b="0" i="0" u="none" strike="noStrike" cap="none" dirty="0">
                <a:solidFill>
                  <a:schemeClr val="dk1"/>
                </a:solidFill>
                <a:latin typeface="Calibri"/>
                <a:ea typeface="Calibri"/>
                <a:cs typeface="Calibri"/>
                <a:sym typeface="Calibri"/>
              </a:rPr>
              <a:t> = joint positions and velocities</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PointCloud</a:t>
            </a:r>
            <a:r>
              <a:rPr lang="en-US" sz="1200" b="0" i="0" u="none" strike="noStrike" cap="none" dirty="0">
                <a:solidFill>
                  <a:schemeClr val="dk1"/>
                </a:solidFill>
                <a:latin typeface="Calibri"/>
                <a:ea typeface="Calibri"/>
                <a:cs typeface="Calibri"/>
                <a:sym typeface="Calibri"/>
              </a:rPr>
              <a:t> = 3D point data</a:t>
            </a:r>
          </a:p>
          <a:p>
            <a:r>
              <a:rPr lang="en-US" dirty="0"/>
              <a:t>ROS provides standard message definitions for these. This is important because different packages can communicate if they use the same message type.</a:t>
            </a:r>
          </a:p>
          <a:p>
            <a:r>
              <a:rPr lang="en-US" dirty="0"/>
              <a:t>For example, if a LiDAR driver publishes </a:t>
            </a:r>
            <a:r>
              <a:rPr lang="en-US" sz="1200" b="0" i="0" u="none" strike="noStrike" cap="none" dirty="0" err="1">
                <a:solidFill>
                  <a:schemeClr val="dk1"/>
                </a:solidFill>
                <a:latin typeface="Calibri"/>
                <a:ea typeface="Calibri"/>
                <a:cs typeface="Calibri"/>
                <a:sym typeface="Calibri"/>
              </a:rPr>
              <a:t>LaserScan</a:t>
            </a:r>
            <a:r>
              <a:rPr lang="en-US" dirty="0"/>
              <a:t>, then mapping or navigation packages can subscribe to it without needing a custom converter.</a:t>
            </a:r>
          </a:p>
          <a:p>
            <a:pPr marL="0" lvl="0" indent="0" algn="l" rtl="0">
              <a:spcBef>
                <a:spcPts val="0"/>
              </a:spcBef>
              <a:spcAft>
                <a:spcPts val="0"/>
              </a:spcAft>
              <a:buNone/>
            </a:pPr>
            <a:endParaRPr dirty="0"/>
          </a:p>
        </p:txBody>
      </p:sp>
      <p:sp>
        <p:nvSpPr>
          <p:cNvPr id="445" name="Google Shape;445;g3cfe68d8925_0_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cfe68d8925_0_1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Examples:</a:t>
            </a:r>
          </a:p>
          <a:p>
            <a:pPr rtl="0"/>
            <a:r>
              <a:rPr lang="en-US" sz="1200" b="0" i="0" u="none" strike="noStrike" cap="none" dirty="0" err="1">
                <a:solidFill>
                  <a:schemeClr val="dk1"/>
                </a:solidFill>
                <a:latin typeface="Calibri"/>
                <a:ea typeface="Calibri"/>
                <a:cs typeface="Calibri"/>
                <a:sym typeface="Calibri"/>
              </a:rPr>
              <a:t>rviz</a:t>
            </a:r>
            <a:r>
              <a:rPr lang="en-US" sz="1200" b="0" i="0" u="none" strike="noStrike" cap="none" dirty="0">
                <a:solidFill>
                  <a:schemeClr val="dk1"/>
                </a:solidFill>
                <a:latin typeface="Calibri"/>
                <a:ea typeface="Calibri"/>
                <a:cs typeface="Calibri"/>
                <a:sym typeface="Calibri"/>
              </a:rPr>
              <a:t> = visualization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gazebo = simulation</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camera_calibration</a:t>
            </a:r>
            <a:r>
              <a:rPr lang="en-US" sz="1200" b="0" i="0" u="none" strike="noStrike" cap="none" dirty="0">
                <a:solidFill>
                  <a:schemeClr val="dk1"/>
                </a:solidFill>
                <a:latin typeface="Calibri"/>
                <a:ea typeface="Calibri"/>
                <a:cs typeface="Calibri"/>
                <a:sym typeface="Calibri"/>
              </a:rPr>
              <a:t> = camera calibration</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map_server</a:t>
            </a:r>
            <a:r>
              <a:rPr lang="en-US" sz="1200" b="0" i="0" u="none" strike="noStrike" cap="none" dirty="0">
                <a:solidFill>
                  <a:schemeClr val="dk1"/>
                </a:solidFill>
                <a:latin typeface="Calibri"/>
                <a:ea typeface="Calibri"/>
                <a:cs typeface="Calibri"/>
                <a:sym typeface="Calibri"/>
              </a:rPr>
              <a:t> = map loading and publishing</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global_planner</a:t>
            </a:r>
            <a:r>
              <a:rPr lang="en-US" sz="1200" b="0" i="0" u="none" strike="noStrike" cap="none" dirty="0">
                <a:solidFill>
                  <a:schemeClr val="dk1"/>
                </a:solidFill>
                <a:latin typeface="Calibri"/>
                <a:ea typeface="Calibri"/>
                <a:cs typeface="Calibri"/>
                <a:sym typeface="Calibri"/>
              </a:rPr>
              <a:t> = path planning</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ros_control</a:t>
            </a:r>
            <a:r>
              <a:rPr lang="en-US" sz="1200" b="0" i="0" u="none" strike="noStrike" cap="none" dirty="0">
                <a:solidFill>
                  <a:schemeClr val="dk1"/>
                </a:solidFill>
                <a:latin typeface="Calibri"/>
                <a:ea typeface="Calibri"/>
                <a:cs typeface="Calibri"/>
                <a:sym typeface="Calibri"/>
              </a:rPr>
              <a:t> = robot control framework</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aruco_detect</a:t>
            </a:r>
            <a:r>
              <a:rPr lang="en-US" sz="1200" b="0" i="0" u="none" strike="noStrike" cap="none" dirty="0">
                <a:solidFill>
                  <a:schemeClr val="dk1"/>
                </a:solidFill>
                <a:latin typeface="Calibri"/>
                <a:ea typeface="Calibri"/>
                <a:cs typeface="Calibri"/>
                <a:sym typeface="Calibri"/>
              </a:rPr>
              <a:t> = marker detection</a:t>
            </a:r>
          </a:p>
          <a:p>
            <a:r>
              <a:rPr lang="en-US" dirty="0"/>
              <a:t>Tell students:</a:t>
            </a:r>
          </a:p>
          <a:p>
            <a:r>
              <a:rPr lang="en-US" dirty="0"/>
              <a:t>If you are trying to do something common in robotics, there may already be a ROS package for it.</a:t>
            </a:r>
          </a:p>
          <a:p>
            <a:r>
              <a:rPr lang="en-US" dirty="0"/>
              <a:t>This does not mean the package will solve everything perfectly, but it gives a strong starting point.</a:t>
            </a:r>
          </a:p>
          <a:p>
            <a:pPr marL="0" lvl="0" indent="0" algn="l" rtl="0">
              <a:spcBef>
                <a:spcPts val="0"/>
              </a:spcBef>
              <a:spcAft>
                <a:spcPts val="0"/>
              </a:spcAft>
              <a:buNone/>
            </a:pPr>
            <a:endParaRPr dirty="0"/>
          </a:p>
        </p:txBody>
      </p:sp>
      <p:sp>
        <p:nvSpPr>
          <p:cNvPr id="454" name="Google Shape;454;g3cfe68d8925_0_1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shift from ROS in general to how we test robot algorithms.</a:t>
            </a:r>
          </a:p>
          <a:p>
            <a:r>
              <a:rPr lang="en-US" dirty="0"/>
              <a:t>Ask students:</a:t>
            </a:r>
          </a:p>
          <a:p>
            <a:r>
              <a:rPr lang="en-US" dirty="0"/>
              <a:t>If we write a controller or planner, should we test it directly on a real robot first?</a:t>
            </a:r>
          </a:p>
          <a:p>
            <a:r>
              <a:rPr lang="en-US" dirty="0"/>
              <a:t>Usually, no. We first test in simulation.</a:t>
            </a:r>
          </a:p>
          <a:p>
            <a:r>
              <a:rPr lang="en-US" dirty="0"/>
              <a:t>The algorithm is the brain. It takes input data, such as pose or sensor readings, and produces outputs, such as velocity commands.</a:t>
            </a:r>
          </a:p>
          <a:p>
            <a:r>
              <a:rPr lang="en-US" dirty="0"/>
              <a:t>Simulation gives us a safer environment to test the algorithm before using real hardware.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7935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simulation-in-the-loop.</a:t>
            </a:r>
          </a:p>
          <a:p>
            <a:r>
              <a:rPr lang="en-US" dirty="0"/>
              <a:t>The algorithm communicates with a model of the robot instead of the physical robot. The simulator provides sensor-like data, and the algorithm sends control commands back.</a:t>
            </a:r>
          </a:p>
          <a:p>
            <a:r>
              <a:rPr lang="en-US" dirty="0"/>
              <a:t>Example:</a:t>
            </a:r>
          </a:p>
          <a:p>
            <a:pPr rtl="0"/>
            <a:r>
              <a:rPr lang="en-US" sz="1200" b="0" i="0" u="none" strike="noStrike" cap="none" dirty="0">
                <a:solidFill>
                  <a:schemeClr val="dk1"/>
                </a:solidFill>
                <a:latin typeface="Calibri"/>
                <a:ea typeface="Calibri"/>
                <a:cs typeface="Calibri"/>
                <a:sym typeface="Calibri"/>
              </a:rPr>
              <a:t>Simulator publishes robot 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Controller subscribes to 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Controller publishes velocity command.</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Simulator receives velocity command and moves the robot.</a:t>
            </a:r>
          </a:p>
          <a:p>
            <a:r>
              <a:rPr lang="en-US" dirty="0"/>
              <a:t>This is exactly the same communication idea we will use later with </a:t>
            </a:r>
            <a:r>
              <a:rPr lang="en-US" dirty="0" err="1"/>
              <a:t>turtlesim</a:t>
            </a:r>
            <a:r>
              <a:rPr lang="en-US" dirty="0"/>
              <a: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25219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represents the robot and environment inside the computer. It may include robot geometry, dynamics, sensor behavior, and world obstacles.</a:t>
            </a:r>
          </a:p>
          <a:p>
            <a:r>
              <a:rPr lang="en-US" dirty="0"/>
              <a:t>Tuning means adjusting controller gains or algorithm parameters.</a:t>
            </a:r>
          </a:p>
          <a:p>
            <a:r>
              <a:rPr lang="en-US" dirty="0"/>
              <a:t>For example, if a robot turns too slowly, we may increase an angular gain. If it oscillates, we may reduce a gain.</a:t>
            </a:r>
          </a:p>
          <a:p>
            <a:r>
              <a:rPr lang="en-US" dirty="0"/>
              <a:t>Simulation lets us tune safely before testing on hardware.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51800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simulation, we can repeatedly test the algorithm with different parameters.</a:t>
            </a:r>
          </a:p>
          <a:p>
            <a:r>
              <a:rPr lang="en-US" dirty="0"/>
              <a:t>For example:</a:t>
            </a:r>
          </a:p>
          <a:p>
            <a:pPr rtl="0"/>
            <a:r>
              <a:rPr lang="en-US" sz="1200" b="0" i="0" u="none" strike="noStrike" cap="none" dirty="0">
                <a:solidFill>
                  <a:schemeClr val="dk1"/>
                </a:solidFill>
                <a:latin typeface="Calibri"/>
                <a:ea typeface="Calibri"/>
                <a:cs typeface="Calibri"/>
                <a:sym typeface="Calibri"/>
              </a:rPr>
              <a:t>Try controller gain = 1</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Try controller gain = 2</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Try controller gain = 5</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Observe motion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Choose stable behavior</a:t>
            </a:r>
          </a:p>
          <a:p>
            <a:r>
              <a:rPr lang="en-US" dirty="0"/>
              <a:t>This is useful because mistakes in simulation do not damage the real robot.</a:t>
            </a:r>
          </a:p>
          <a:p>
            <a:r>
              <a:rPr lang="en-US" dirty="0"/>
              <a:t>But also remind students that simulation is not perfect. Real robots have friction, sensor noise, delays, motor limits, and calibration errors.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0787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an important point: both real robots and simulations require computing resources.</a:t>
            </a:r>
          </a:p>
          <a:p>
            <a:r>
              <a:rPr lang="en-US" dirty="0"/>
              <a:t>A real robot may use a Raspberry Pi, Jetson, laptop, or onboard computer. A simulation also needs a computer to compute the physics, graphics, and sensors.</a:t>
            </a:r>
          </a:p>
          <a:p>
            <a:r>
              <a:rPr lang="en-US" dirty="0"/>
              <a:t>For simple demos like </a:t>
            </a:r>
            <a:r>
              <a:rPr lang="en-US" dirty="0" err="1"/>
              <a:t>turtlesim</a:t>
            </a:r>
            <a:r>
              <a:rPr lang="en-US" dirty="0"/>
              <a:t>, any normal computer is enough. For Gazebo simulation with 3D sensors, we need more CPU/GPU power.</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58206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this question before answering.</a:t>
            </a:r>
          </a:p>
          <a:p>
            <a:r>
              <a:rPr lang="en-US" dirty="0"/>
              <a:t>The answer is: sometimes yes, sometimes no.</a:t>
            </a:r>
          </a:p>
          <a:p>
            <a:r>
              <a:rPr lang="en-US" dirty="0"/>
              <a:t>For learning, we often run everything on one computer. For real systems, the robot may have an onboard computer, while visualization and monitoring run on a laptop.</a:t>
            </a:r>
          </a:p>
          <a:p>
            <a:r>
              <a:rPr lang="en-US" dirty="0"/>
              <a:t>ROS2 supports both:</a:t>
            </a:r>
          </a:p>
          <a:p>
            <a:pPr rtl="0"/>
            <a:r>
              <a:rPr lang="en-US" sz="1200" b="0" i="0" u="none" strike="noStrike" cap="none" dirty="0">
                <a:solidFill>
                  <a:schemeClr val="dk1"/>
                </a:solidFill>
                <a:latin typeface="Calibri"/>
                <a:ea typeface="Calibri"/>
                <a:cs typeface="Calibri"/>
                <a:sym typeface="Calibri"/>
              </a:rPr>
              <a:t>single-computer setup</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multi-computer setup</a:t>
            </a:r>
          </a:p>
          <a:p>
            <a:r>
              <a:rPr lang="en-US" dirty="0"/>
              <a:t>This is one of the reasons ROS2 is useful for distributed robot systems.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3582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needs more computing power, the real robot computer or the simulation computer?</a:t>
            </a:r>
          </a:p>
          <a:p>
            <a:r>
              <a:rPr lang="en-US" dirty="0"/>
              <a:t>Usually, simulation can be more computationally demanding, especially if it includes 3D graphics, physics, cameras, LiDAR, and multiple robots.</a:t>
            </a:r>
          </a:p>
          <a:p>
            <a:r>
              <a:rPr lang="en-US" dirty="0"/>
              <a:t>A real robot computer may only run selected onboard algorithms. But simulation may need to compute the robot, environment, sensors, and visualization at the same time.</a:t>
            </a:r>
          </a:p>
          <a:p>
            <a:r>
              <a:rPr lang="en-US" dirty="0"/>
              <a:t>So for this tutorial, we use </a:t>
            </a:r>
            <a:r>
              <a:rPr lang="en-US" dirty="0" err="1"/>
              <a:t>turtlesim</a:t>
            </a:r>
            <a:r>
              <a:rPr lang="en-US" dirty="0"/>
              <a:t> because it is lightweight and good for learning.</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5125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cfe68d8925_0_2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Now that we understand why robot software needs communication, simulation, and reusable tools, we move specifically to ROS2.</a:t>
            </a:r>
          </a:p>
          <a:p>
            <a:r>
              <a:rPr lang="en-US" dirty="0"/>
              <a:t>ROS2 is the modern version of ROS designed to handle distributed systems better than ROS1.</a:t>
            </a:r>
          </a:p>
          <a:p>
            <a:pPr marL="0" lvl="0" indent="0" algn="l" rtl="0">
              <a:spcBef>
                <a:spcPts val="0"/>
              </a:spcBef>
              <a:spcAft>
                <a:spcPts val="0"/>
              </a:spcAft>
              <a:buNone/>
            </a:pPr>
            <a:endParaRPr dirty="0"/>
          </a:p>
        </p:txBody>
      </p:sp>
      <p:sp>
        <p:nvSpPr>
          <p:cNvPr id="462" name="Google Shape;462;g3cfe68d8925_0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cfe68d8925_0_2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g3cfe68d8925_0_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cfe68d8925_0_2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ROS1 worked very well for research and prototyping, but it had limitations.</a:t>
            </a:r>
          </a:p>
          <a:p>
            <a:r>
              <a:rPr lang="en-US" dirty="0"/>
              <a:t>The most important one is the central master. ROS1 uses a master node to help nodes find each other. If the master has problems, communication can be affected.</a:t>
            </a:r>
          </a:p>
          <a:p>
            <a:r>
              <a:rPr lang="en-US" dirty="0"/>
              <a:t>ROS1 was also not originally designed for large multi-robot systems or strict real-time operation.</a:t>
            </a:r>
          </a:p>
          <a:p>
            <a:r>
              <a:rPr lang="en-US" dirty="0"/>
              <a:t>So ROS1 was excellent for many applications, but robotics needs grew beyond the original design.</a:t>
            </a:r>
          </a:p>
          <a:p>
            <a:pPr marL="0" lvl="0" indent="0" algn="l" rtl="0">
              <a:spcBef>
                <a:spcPts val="0"/>
              </a:spcBef>
              <a:spcAft>
                <a:spcPts val="0"/>
              </a:spcAft>
              <a:buNone/>
            </a:pPr>
            <a:endParaRPr dirty="0"/>
          </a:p>
        </p:txBody>
      </p:sp>
      <p:sp>
        <p:nvSpPr>
          <p:cNvPr id="474" name="Google Shape;474;g3cfe68d8925_0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cfe68d8925_0_2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ROS2 improves the communication architecture.</a:t>
            </a:r>
          </a:p>
          <a:p>
            <a:r>
              <a:rPr lang="en-US" dirty="0"/>
              <a:t>Key points:</a:t>
            </a:r>
          </a:p>
          <a:p>
            <a:pPr rtl="0"/>
            <a:r>
              <a:rPr lang="en-US" sz="1200" b="0" i="0" u="none" strike="noStrike" cap="none" dirty="0">
                <a:solidFill>
                  <a:schemeClr val="dk1"/>
                </a:solidFill>
                <a:latin typeface="Calibri"/>
                <a:ea typeface="Calibri"/>
                <a:cs typeface="Calibri"/>
                <a:sym typeface="Calibri"/>
              </a:rPr>
              <a:t>ROS2 uses DDS-based communication.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has no central ROS master.</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is better for distributed systems.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supports more real-time-aware execution.</a:t>
            </a:r>
          </a:p>
          <a:p>
            <a:r>
              <a:rPr lang="en-US" dirty="0"/>
              <a:t>Explain DDS at a high level only:</a:t>
            </a:r>
          </a:p>
          <a:p>
            <a:r>
              <a:rPr lang="en-US" dirty="0"/>
              <a:t>DDS is a communication standard for distributed systems. ROS2 uses DDS underneath so that nodes can discover each other and exchange data without a central ROS master.</a:t>
            </a:r>
          </a:p>
          <a:p>
            <a:r>
              <a:rPr lang="en-US" dirty="0"/>
              <a:t>Also connect to ME640:</a:t>
            </a:r>
          </a:p>
          <a:p>
            <a:r>
              <a:rPr lang="en-US" dirty="0"/>
              <a:t>For autonomous mobile robots, this is useful because sensors, controllers, visualization, and hardware may run on different computers.</a:t>
            </a:r>
          </a:p>
          <a:p>
            <a:pPr marL="0" lvl="0" indent="0" algn="l" rtl="0">
              <a:spcBef>
                <a:spcPts val="0"/>
              </a:spcBef>
              <a:spcAft>
                <a:spcPts val="0"/>
              </a:spcAft>
              <a:buNone/>
            </a:pPr>
            <a:endParaRPr dirty="0"/>
          </a:p>
        </p:txBody>
      </p:sp>
      <p:sp>
        <p:nvSpPr>
          <p:cNvPr id="485" name="Google Shape;485;g3cfe68d8925_0_2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cfe68d8925_0_2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A ROS2 distribution, or distro, is a specific version of ROS2.</a:t>
            </a:r>
          </a:p>
          <a:p>
            <a:r>
              <a:rPr lang="en-US" dirty="0"/>
              <a:t>Examples include:</a:t>
            </a:r>
          </a:p>
          <a:p>
            <a:pPr rtl="0"/>
            <a:r>
              <a:rPr lang="en-US" sz="1200" b="0" i="0" u="none" strike="noStrike" cap="none" dirty="0">
                <a:solidFill>
                  <a:schemeClr val="dk1"/>
                </a:solidFill>
                <a:latin typeface="Calibri"/>
                <a:ea typeface="Calibri"/>
                <a:cs typeface="Calibri"/>
                <a:sym typeface="Calibri"/>
              </a:rPr>
              <a:t>Humble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Iron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Jazzy</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Kilted</a:t>
            </a:r>
          </a:p>
          <a:p>
            <a:r>
              <a:rPr lang="en-US" dirty="0"/>
              <a:t>LTS means Long-Term Support. LTS versions are usually preferred for courses and projects because they are supported longer.</a:t>
            </a:r>
          </a:p>
          <a:p>
            <a:r>
              <a:rPr lang="en-US" dirty="0"/>
              <a:t>Useful command:</a:t>
            </a:r>
          </a:p>
          <a:p>
            <a:pPr rtl="0"/>
            <a:r>
              <a:rPr lang="en-US" sz="1200" b="0" i="0" u="none" strike="noStrike" cap="none" dirty="0">
                <a:solidFill>
                  <a:schemeClr val="dk1"/>
                </a:solidFill>
                <a:latin typeface="Calibri"/>
                <a:ea typeface="Calibri"/>
                <a:cs typeface="Calibri"/>
                <a:sym typeface="Calibri"/>
              </a:rPr>
              <a:t>echo $ROS_DISTRO</a:t>
            </a:r>
          </a:p>
          <a:p>
            <a:r>
              <a:rPr lang="en-US" dirty="0"/>
              <a:t>This tells students which ROS2 distro they are using.</a:t>
            </a:r>
          </a:p>
          <a:p>
            <a:r>
              <a:rPr lang="en-US" dirty="0"/>
              <a:t>Mention that if the slide shows Humble but the environment uses Jazzy, the commands are mostly similar, but installation package names may change.</a:t>
            </a:r>
          </a:p>
          <a:p>
            <a:pPr marL="0" lvl="0" indent="0" algn="l" rtl="0">
              <a:spcBef>
                <a:spcPts val="0"/>
              </a:spcBef>
              <a:spcAft>
                <a:spcPts val="0"/>
              </a:spcAft>
              <a:buNone/>
            </a:pPr>
            <a:endParaRPr dirty="0"/>
          </a:p>
        </p:txBody>
      </p:sp>
      <p:sp>
        <p:nvSpPr>
          <p:cNvPr id="496" name="Google Shape;496;g3cfe68d8925_0_2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d7814561ea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g3d7814561ea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cfe68d8925_0_2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g3cfe68d8925_0_2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cf08512837_0_1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Explain:</a:t>
            </a:r>
          </a:p>
          <a:p>
            <a:pPr rtl="0"/>
            <a:r>
              <a:rPr lang="en-US" sz="1200" b="0" i="0" u="none" strike="noStrike" cap="none" dirty="0">
                <a:solidFill>
                  <a:schemeClr val="dk1"/>
                </a:solidFill>
                <a:latin typeface="Calibri"/>
                <a:ea typeface="Calibri"/>
                <a:cs typeface="Calibri"/>
                <a:sym typeface="Calibri"/>
              </a:rPr>
              <a:t>Node = running process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Topic = communication channel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Publisher = sends messages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Subscriber = receives messages</a:t>
            </a:r>
          </a:p>
          <a:p>
            <a:r>
              <a:rPr lang="en-US" dirty="0"/>
              <a:t>Example:</a:t>
            </a:r>
          </a:p>
          <a:p>
            <a:pPr rtl="0"/>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is a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/turtle1/</a:t>
            </a:r>
            <a:r>
              <a:rPr lang="en-US" sz="1200" b="0" i="0" u="none" strike="noStrike" cap="none" dirty="0" err="1">
                <a:solidFill>
                  <a:schemeClr val="dk1"/>
                </a:solidFill>
                <a:latin typeface="Calibri"/>
                <a:ea typeface="Calibri"/>
                <a:cs typeface="Calibri"/>
                <a:sym typeface="Calibri"/>
              </a:rPr>
              <a:t>cmd_vel</a:t>
            </a:r>
            <a:r>
              <a:rPr lang="en-US" sz="1200" b="0" i="0" u="none" strike="noStrike" cap="none" dirty="0">
                <a:solidFill>
                  <a:schemeClr val="dk1"/>
                </a:solidFill>
                <a:latin typeface="Calibri"/>
                <a:ea typeface="Calibri"/>
                <a:cs typeface="Calibri"/>
                <a:sym typeface="Calibri"/>
              </a:rPr>
              <a:t> is a topic.</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/turtle1/pose is a topic.</a:t>
            </a:r>
          </a:p>
          <a:p>
            <a:r>
              <a:rPr lang="en-US" dirty="0"/>
              <a:t>A node can publish to one topic and subscribe to another topic at the same time.</a:t>
            </a:r>
          </a:p>
          <a:p>
            <a:r>
              <a:rPr lang="en-US" dirty="0"/>
              <a:t>In robotics terms:</a:t>
            </a:r>
          </a:p>
          <a:p>
            <a:pPr rtl="0"/>
            <a:r>
              <a:rPr lang="en-US" sz="1200" b="0" i="0" u="none" strike="noStrike" cap="none" dirty="0">
                <a:solidFill>
                  <a:schemeClr val="dk1"/>
                </a:solidFill>
                <a:latin typeface="Calibri"/>
                <a:ea typeface="Calibri"/>
                <a:cs typeface="Calibri"/>
                <a:sym typeface="Calibri"/>
              </a:rPr>
              <a:t>Sensor node publishes sensor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Controller node subscribes to sensor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Controller node publishes motor commands.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Motor node subscribes to motor commands.</a:t>
            </a:r>
          </a:p>
          <a:p>
            <a:pPr marL="0" lvl="0" indent="0" algn="l" rtl="0">
              <a:spcBef>
                <a:spcPts val="0"/>
              </a:spcBef>
              <a:spcAft>
                <a:spcPts val="0"/>
              </a:spcAft>
              <a:buNone/>
            </a:pPr>
            <a:endParaRPr dirty="0"/>
          </a:p>
        </p:txBody>
      </p:sp>
      <p:sp>
        <p:nvSpPr>
          <p:cNvPr id="510" name="Google Shape;510;g3cf08512837_0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an interactive slide.</a:t>
            </a:r>
          </a:p>
          <a:p>
            <a:r>
              <a:rPr lang="en-US" dirty="0"/>
              <a:t>Question 1:</a:t>
            </a:r>
          </a:p>
          <a:p>
            <a:r>
              <a:rPr lang="en-US" dirty="0"/>
              <a:t>Can a node have both a publisher and a subscription?</a:t>
            </a:r>
          </a:p>
          <a:p>
            <a:r>
              <a:rPr lang="en-US" dirty="0"/>
              <a:t>Answer: yes.</a:t>
            </a:r>
          </a:p>
          <a:p>
            <a:r>
              <a:rPr lang="en-US" dirty="0"/>
              <a:t>Example: a controller node subscribes to pose and publishes velocity.</a:t>
            </a:r>
          </a:p>
          <a:p>
            <a:r>
              <a:rPr lang="en-US" dirty="0"/>
              <a:t>Question 2:</a:t>
            </a:r>
          </a:p>
          <a:p>
            <a:r>
              <a:rPr lang="en-US" dirty="0"/>
              <a:t>Should a node publish and subscribe to the same topic?</a:t>
            </a:r>
          </a:p>
          <a:p>
            <a:r>
              <a:rPr lang="en-US" dirty="0"/>
              <a:t>Usually, no. It can create confusing loops. A node can technically do it, but unless there is a special reason, it is better to keep input and output topics separate.</a:t>
            </a:r>
          </a:p>
          <a:p>
            <a:r>
              <a:rPr lang="en-US" dirty="0"/>
              <a:t>Example of good design:</a:t>
            </a:r>
          </a:p>
          <a:p>
            <a:pPr rtl="0"/>
            <a:r>
              <a:rPr lang="en-US" sz="1200" b="0" i="0" u="none" strike="noStrike" cap="none" dirty="0">
                <a:solidFill>
                  <a:schemeClr val="dk1"/>
                </a:solidFill>
                <a:latin typeface="Calibri"/>
                <a:ea typeface="Calibri"/>
                <a:cs typeface="Calibri"/>
                <a:sym typeface="Calibri"/>
              </a:rPr>
              <a:t>Input: /turtle1/pose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Output: /turtle1/</a:t>
            </a:r>
            <a:r>
              <a:rPr lang="en-US" sz="1200" b="0" i="0" u="none" strike="noStrike" cap="none" dirty="0" err="1">
                <a:solidFill>
                  <a:schemeClr val="dk1"/>
                </a:solidFill>
                <a:latin typeface="Calibri"/>
                <a:ea typeface="Calibri"/>
                <a:cs typeface="Calibri"/>
                <a:sym typeface="Calibri"/>
              </a:rPr>
              <a:t>cmd_vel</a:t>
            </a:r>
            <a:endParaRPr lang="en-US" sz="1200" b="0" i="0" u="none" strike="noStrike" cap="none" dirty="0">
              <a:solidFill>
                <a:schemeClr val="dk1"/>
              </a:solidFill>
              <a:latin typeface="Calibri"/>
              <a:ea typeface="Calibri"/>
              <a:cs typeface="Calibri"/>
              <a:sym typeface="Calibri"/>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25925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cfe68d8925_0_2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Introduce </a:t>
            </a:r>
            <a:r>
              <a:rPr lang="en-US" dirty="0" err="1"/>
              <a:t>turtlesim</a:t>
            </a:r>
            <a:r>
              <a:rPr lang="en-US" dirty="0"/>
              <a:t>.</a:t>
            </a:r>
          </a:p>
          <a:p>
            <a:r>
              <a:rPr lang="en-US" dirty="0" err="1"/>
              <a:t>Turtlesim</a:t>
            </a:r>
            <a:r>
              <a:rPr lang="en-US" dirty="0"/>
              <a:t> is a simple 2D simulator used for learning ROS2 concepts. It is not meant to be a realistic robot simulator. It is useful because it clearly shows topics, nodes, and messages.</a:t>
            </a:r>
          </a:p>
          <a:p>
            <a:r>
              <a:rPr lang="en-US" dirty="0"/>
              <a:t>Live commands:</a:t>
            </a:r>
          </a:p>
          <a:p>
            <a:r>
              <a:rPr lang="en-US" dirty="0"/>
              <a:t>Terminal 1:</a:t>
            </a:r>
          </a:p>
          <a:p>
            <a:pPr rtl="0"/>
            <a:r>
              <a:rPr lang="en-US" sz="1200" b="0" i="0" u="none" strike="noStrike" cap="none" dirty="0">
                <a:solidFill>
                  <a:schemeClr val="dk1"/>
                </a:solidFill>
                <a:latin typeface="Calibri"/>
                <a:ea typeface="Calibri"/>
                <a:cs typeface="Calibri"/>
                <a:sym typeface="Calibri"/>
              </a:rPr>
              <a:t>ros2 run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turtlesim_node</a:t>
            </a:r>
            <a:endParaRPr lang="en-US" sz="1200" b="0" i="0" u="none" strike="noStrike" cap="none" dirty="0">
              <a:solidFill>
                <a:schemeClr val="dk1"/>
              </a:solidFill>
              <a:latin typeface="Calibri"/>
              <a:ea typeface="Calibri"/>
              <a:cs typeface="Calibri"/>
              <a:sym typeface="Calibri"/>
            </a:endParaRPr>
          </a:p>
          <a:p>
            <a:r>
              <a:rPr lang="en-US" dirty="0"/>
              <a:t>Terminal 2:</a:t>
            </a:r>
          </a:p>
          <a:p>
            <a:pPr rtl="0"/>
            <a:r>
              <a:rPr lang="en-US" sz="1200" b="0" i="0" u="none" strike="noStrike" cap="none" dirty="0">
                <a:solidFill>
                  <a:schemeClr val="dk1"/>
                </a:solidFill>
                <a:latin typeface="Calibri"/>
                <a:ea typeface="Calibri"/>
                <a:cs typeface="Calibri"/>
                <a:sym typeface="Calibri"/>
              </a:rPr>
              <a:t>ros2 node list</a:t>
            </a:r>
          </a:p>
          <a:p>
            <a:r>
              <a:rPr lang="en-US" dirty="0"/>
              <a:t>Expected:</a:t>
            </a:r>
          </a:p>
          <a:p>
            <a:pPr rtl="0"/>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turtlesim</a:t>
            </a:r>
            <a:endParaRPr lang="en-US" sz="1200" b="0" i="0" u="none" strike="noStrike" cap="none" dirty="0">
              <a:solidFill>
                <a:schemeClr val="dk1"/>
              </a:solidFill>
              <a:latin typeface="Calibri"/>
              <a:ea typeface="Calibri"/>
              <a:cs typeface="Calibri"/>
              <a:sym typeface="Calibri"/>
            </a:endParaRPr>
          </a:p>
          <a:p>
            <a:r>
              <a:rPr lang="en-US" dirty="0"/>
              <a:t>Then:</a:t>
            </a:r>
          </a:p>
          <a:p>
            <a:pPr rtl="0"/>
            <a:r>
              <a:rPr lang="en-US" sz="1200" b="0" i="0" u="none" strike="noStrike" cap="none" dirty="0">
                <a:solidFill>
                  <a:schemeClr val="dk1"/>
                </a:solidFill>
                <a:latin typeface="Calibri"/>
                <a:ea typeface="Calibri"/>
                <a:cs typeface="Calibri"/>
                <a:sym typeface="Calibri"/>
              </a:rPr>
              <a:t>ros2 topic list</a:t>
            </a:r>
          </a:p>
          <a:p>
            <a:r>
              <a:rPr lang="en-US" dirty="0"/>
              <a:t>Point out:</a:t>
            </a:r>
          </a:p>
          <a:p>
            <a:pPr rtl="0"/>
            <a:r>
              <a:rPr lang="en-US" sz="1200" b="0" i="0" u="none" strike="noStrike" cap="none" dirty="0">
                <a:solidFill>
                  <a:schemeClr val="dk1"/>
                </a:solidFill>
                <a:latin typeface="Calibri"/>
                <a:ea typeface="Calibri"/>
                <a:cs typeface="Calibri"/>
                <a:sym typeface="Calibri"/>
              </a:rPr>
              <a:t>/turtle1/pose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/turtle1/</a:t>
            </a:r>
            <a:r>
              <a:rPr lang="en-US" sz="1200" b="0" i="0" u="none" strike="noStrike" cap="none" dirty="0" err="1">
                <a:solidFill>
                  <a:schemeClr val="dk1"/>
                </a:solidFill>
                <a:latin typeface="Calibri"/>
                <a:ea typeface="Calibri"/>
                <a:cs typeface="Calibri"/>
                <a:sym typeface="Calibri"/>
              </a:rPr>
              <a:t>cmd_vel</a:t>
            </a:r>
            <a:endParaRPr lang="en-US" sz="1200" b="0" i="0" u="none" strike="noStrike" cap="none" dirty="0">
              <a:solidFill>
                <a:schemeClr val="dk1"/>
              </a:solidFill>
              <a:latin typeface="Calibri"/>
              <a:ea typeface="Calibri"/>
              <a:cs typeface="Calibri"/>
              <a:sym typeface="Calibri"/>
            </a:endParaRPr>
          </a:p>
          <a:p>
            <a:r>
              <a:rPr lang="en-US" dirty="0"/>
              <a:t>Explain:</a:t>
            </a:r>
          </a:p>
          <a:p>
            <a:pPr rtl="0"/>
            <a:r>
              <a:rPr lang="en-US" sz="1200" b="0" i="0" u="none" strike="noStrike" cap="none" dirty="0">
                <a:solidFill>
                  <a:schemeClr val="dk1"/>
                </a:solidFill>
                <a:latin typeface="Calibri"/>
                <a:ea typeface="Calibri"/>
                <a:cs typeface="Calibri"/>
                <a:sym typeface="Calibri"/>
              </a:rPr>
              <a:t>/turtle1/pose = turtle publishes current state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/turtle1/</a:t>
            </a:r>
            <a:r>
              <a:rPr lang="en-US" sz="1200" b="0" i="0" u="none" strike="noStrike" cap="none" dirty="0" err="1">
                <a:solidFill>
                  <a:schemeClr val="dk1"/>
                </a:solidFill>
                <a:latin typeface="Calibri"/>
                <a:ea typeface="Calibri"/>
                <a:cs typeface="Calibri"/>
                <a:sym typeface="Calibri"/>
              </a:rPr>
              <a:t>cmd_vel</a:t>
            </a:r>
            <a:r>
              <a:rPr lang="en-US" sz="1200" b="0" i="0" u="none" strike="noStrike" cap="none" dirty="0">
                <a:solidFill>
                  <a:schemeClr val="dk1"/>
                </a:solidFill>
                <a:latin typeface="Calibri"/>
                <a:ea typeface="Calibri"/>
                <a:cs typeface="Calibri"/>
                <a:sym typeface="Calibri"/>
              </a:rPr>
              <a:t> = turtle receives velocity commands</a:t>
            </a:r>
          </a:p>
          <a:p>
            <a:pPr marL="0" lvl="0" indent="0" algn="l" rtl="0">
              <a:spcBef>
                <a:spcPts val="0"/>
              </a:spcBef>
              <a:spcAft>
                <a:spcPts val="0"/>
              </a:spcAft>
              <a:buNone/>
            </a:pPr>
            <a:endParaRPr dirty="0"/>
          </a:p>
        </p:txBody>
      </p:sp>
      <p:sp>
        <p:nvSpPr>
          <p:cNvPr id="525" name="Google Shape;525;g3cfe68d8925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cfe68d8925_0_3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Now add a keyboard control node.</a:t>
            </a:r>
          </a:p>
          <a:p>
            <a:r>
              <a:rPr lang="en-US" dirty="0"/>
              <a:t>Terminal 2:</a:t>
            </a:r>
          </a:p>
          <a:p>
            <a:pPr rtl="0"/>
            <a:r>
              <a:rPr lang="en-US" sz="1200" b="0" i="0" u="none" strike="noStrike" cap="none" dirty="0">
                <a:solidFill>
                  <a:schemeClr val="dk1"/>
                </a:solidFill>
                <a:latin typeface="Calibri"/>
                <a:ea typeface="Calibri"/>
                <a:cs typeface="Calibri"/>
                <a:sym typeface="Calibri"/>
              </a:rPr>
              <a:t>ros2 run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turtle_teleop_key</a:t>
            </a:r>
            <a:endParaRPr lang="en-US" sz="1200" b="0" i="0" u="none" strike="noStrike" cap="none" dirty="0">
              <a:solidFill>
                <a:schemeClr val="dk1"/>
              </a:solidFill>
              <a:latin typeface="Calibri"/>
              <a:ea typeface="Calibri"/>
              <a:cs typeface="Calibri"/>
              <a:sym typeface="Calibri"/>
            </a:endParaRPr>
          </a:p>
          <a:p>
            <a:r>
              <a:rPr lang="en-US" dirty="0"/>
              <a:t>Keep this terminal active and press arrow keys.</a:t>
            </a:r>
          </a:p>
          <a:p>
            <a:r>
              <a:rPr lang="en-US" dirty="0"/>
              <a:t>Explain the communication:</a:t>
            </a:r>
          </a:p>
          <a:p>
            <a:pPr rtl="0"/>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turtle_teleop</a:t>
            </a:r>
            <a:r>
              <a:rPr lang="en-US" sz="1200" b="0" i="0" u="none" strike="noStrike" cap="none" dirty="0">
                <a:solidFill>
                  <a:schemeClr val="dk1"/>
                </a:solidFill>
                <a:latin typeface="Calibri"/>
                <a:ea typeface="Calibri"/>
                <a:cs typeface="Calibri"/>
                <a:sym typeface="Calibri"/>
              </a:rPr>
              <a:t> publishes velocity command.</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subscribes to velocity command.</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The topic is /turtle1/</a:t>
            </a:r>
            <a:r>
              <a:rPr lang="en-US" sz="1200" b="0" i="0" u="none" strike="noStrike" cap="none" dirty="0" err="1">
                <a:solidFill>
                  <a:schemeClr val="dk1"/>
                </a:solidFill>
                <a:latin typeface="Calibri"/>
                <a:ea typeface="Calibri"/>
                <a:cs typeface="Calibri"/>
                <a:sym typeface="Calibri"/>
              </a:rPr>
              <a:t>cmd_vel</a:t>
            </a:r>
            <a:r>
              <a:rPr lang="en-US" sz="1200" b="0" i="0" u="none" strike="noStrike" cap="none" dirty="0">
                <a:solidFill>
                  <a:schemeClr val="dk1"/>
                </a:solidFill>
                <a:latin typeface="Calibri"/>
                <a:ea typeface="Calibri"/>
                <a:cs typeface="Calibri"/>
                <a:sym typeface="Calibri"/>
              </a:rPr>
              <a:t>.</a:t>
            </a:r>
          </a:p>
          <a:p>
            <a:r>
              <a:rPr lang="en-US" dirty="0"/>
              <a:t>Then inspect:</a:t>
            </a:r>
          </a:p>
          <a:p>
            <a:pPr rtl="0"/>
            <a:r>
              <a:rPr lang="en-US" sz="1200" b="0" i="0" u="none" strike="noStrike" cap="none" dirty="0">
                <a:solidFill>
                  <a:schemeClr val="dk1"/>
                </a:solidFill>
                <a:latin typeface="Calibri"/>
                <a:ea typeface="Calibri"/>
                <a:cs typeface="Calibri"/>
                <a:sym typeface="Calibri"/>
              </a:rPr>
              <a:t>ros2 node list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topic list</a:t>
            </a:r>
          </a:p>
          <a:p>
            <a:r>
              <a:rPr lang="en-US" dirty="0"/>
              <a:t>This shows students that running a new program adds a new node to the ROS2 network.</a:t>
            </a:r>
          </a:p>
          <a:p>
            <a:pPr marL="0" lvl="0" indent="0" algn="l" rtl="0">
              <a:spcBef>
                <a:spcPts val="0"/>
              </a:spcBef>
              <a:spcAft>
                <a:spcPts val="0"/>
              </a:spcAft>
              <a:buNone/>
            </a:pPr>
            <a:endParaRPr dirty="0"/>
          </a:p>
        </p:txBody>
      </p:sp>
      <p:sp>
        <p:nvSpPr>
          <p:cNvPr id="543" name="Google Shape;543;g3cfe68d8925_0_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cfe68d8925_0_3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slide introduces the controller idea.</a:t>
            </a:r>
          </a:p>
          <a:p>
            <a:r>
              <a:rPr lang="en-US" dirty="0"/>
              <a:t>Teleoperation means a human sends commands. Feedback control means a node automatically computes commands based on the turtle’s current pose and goal.</a:t>
            </a:r>
          </a:p>
          <a:p>
            <a:r>
              <a:rPr lang="en-US" dirty="0"/>
              <a:t>The controller node:</a:t>
            </a:r>
          </a:p>
          <a:p>
            <a:pPr rtl="0"/>
            <a:r>
              <a:rPr lang="en-US" sz="1200" b="0" i="0" u="none" strike="noStrike" cap="none" dirty="0">
                <a:solidFill>
                  <a:schemeClr val="dk1"/>
                </a:solidFill>
                <a:latin typeface="Calibri"/>
                <a:ea typeface="Calibri"/>
                <a:cs typeface="Calibri"/>
                <a:sym typeface="Calibri"/>
              </a:rPr>
              <a:t>subscribes to /turtle1/pose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subscribes to /turtle1/goal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publishes to /turtle1/</a:t>
            </a:r>
            <a:r>
              <a:rPr lang="en-US" sz="1200" b="0" i="0" u="none" strike="noStrike" cap="none" dirty="0" err="1">
                <a:solidFill>
                  <a:schemeClr val="dk1"/>
                </a:solidFill>
                <a:latin typeface="Calibri"/>
                <a:ea typeface="Calibri"/>
                <a:cs typeface="Calibri"/>
                <a:sym typeface="Calibri"/>
              </a:rPr>
              <a:t>cmd_vel</a:t>
            </a:r>
            <a:endParaRPr lang="en-US" sz="1200" b="0" i="0" u="none" strike="noStrike" cap="none" dirty="0">
              <a:solidFill>
                <a:schemeClr val="dk1"/>
              </a:solidFill>
              <a:latin typeface="Calibri"/>
              <a:ea typeface="Calibri"/>
              <a:cs typeface="Calibri"/>
              <a:sym typeface="Calibri"/>
            </a:endParaRPr>
          </a:p>
          <a:p>
            <a:r>
              <a:rPr lang="en-US" dirty="0"/>
              <a:t>Explain the control logic simply:</a:t>
            </a:r>
          </a:p>
          <a:p>
            <a:pPr rtl="0"/>
            <a:r>
              <a:rPr lang="en-US" sz="1200" b="0" i="0" u="none" strike="noStrike" cap="none" dirty="0">
                <a:solidFill>
                  <a:schemeClr val="dk1"/>
                </a:solidFill>
                <a:latin typeface="Calibri"/>
                <a:ea typeface="Calibri"/>
                <a:cs typeface="Calibri"/>
                <a:sym typeface="Calibri"/>
              </a:rPr>
              <a:t>current position → compare with goal → compute velocity command → turtle moves</a:t>
            </a:r>
          </a:p>
          <a:p>
            <a:r>
              <a:rPr lang="en-US" dirty="0"/>
              <a:t>This is the foundation of autonomous mobile robot control.</a:t>
            </a:r>
          </a:p>
          <a:p>
            <a:pPr marL="0" lvl="0" indent="0" algn="l" rtl="0">
              <a:spcBef>
                <a:spcPts val="0"/>
              </a:spcBef>
              <a:spcAft>
                <a:spcPts val="0"/>
              </a:spcAft>
              <a:buNone/>
            </a:pPr>
            <a:endParaRPr dirty="0"/>
          </a:p>
        </p:txBody>
      </p:sp>
      <p:sp>
        <p:nvSpPr>
          <p:cNvPr id="576" name="Google Shape;576;g3cfe68d8925_0_3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3c5bd0ded87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A topic is not just a name. It also has a data type.</a:t>
            </a:r>
          </a:p>
          <a:p>
            <a:r>
              <a:rPr lang="en-US" dirty="0"/>
              <a:t>For example:</a:t>
            </a:r>
          </a:p>
          <a:p>
            <a:pPr rtl="0"/>
            <a:r>
              <a:rPr lang="en-US" sz="1200" b="0" i="0" u="none" strike="noStrike" cap="none" dirty="0">
                <a:solidFill>
                  <a:schemeClr val="dk1"/>
                </a:solidFill>
                <a:latin typeface="Calibri"/>
                <a:ea typeface="Calibri"/>
                <a:cs typeface="Calibri"/>
                <a:sym typeface="Calibri"/>
              </a:rPr>
              <a:t>/turtle1/pose uses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/msg/Pose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/turtle1/</a:t>
            </a:r>
            <a:r>
              <a:rPr lang="en-US" sz="1200" b="0" i="0" u="none" strike="noStrike" cap="none" dirty="0" err="1">
                <a:solidFill>
                  <a:schemeClr val="dk1"/>
                </a:solidFill>
                <a:latin typeface="Calibri"/>
                <a:ea typeface="Calibri"/>
                <a:cs typeface="Calibri"/>
                <a:sym typeface="Calibri"/>
              </a:rPr>
              <a:t>cmd_vel</a:t>
            </a:r>
            <a:r>
              <a:rPr lang="en-US" sz="1200" b="0" i="0" u="none" strike="noStrike" cap="none" dirty="0">
                <a:solidFill>
                  <a:schemeClr val="dk1"/>
                </a:solidFill>
                <a:latin typeface="Calibri"/>
                <a:ea typeface="Calibri"/>
                <a:cs typeface="Calibri"/>
                <a:sym typeface="Calibri"/>
              </a:rPr>
              <a:t> uses </a:t>
            </a: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/msg/Twist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/turtle1/goal uses </a:t>
            </a: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/msg/Point</a:t>
            </a:r>
          </a:p>
          <a:p>
            <a:r>
              <a:rPr lang="en-US" dirty="0"/>
              <a:t>The publisher and subscriber must use the same message type.</a:t>
            </a:r>
          </a:p>
          <a:p>
            <a:r>
              <a:rPr lang="en-US" dirty="0"/>
              <a:t>Analogy:</a:t>
            </a:r>
          </a:p>
          <a:p>
            <a:r>
              <a:rPr lang="en-US" dirty="0"/>
              <a:t>If one person sends a picture, the receiver must expect a picture. If one node publishes a velocity command, the subscriber must expect a velocity command.</a:t>
            </a:r>
          </a:p>
          <a:p>
            <a:r>
              <a:rPr lang="en-US" dirty="0"/>
              <a:t>This prevents confusion in the ROS2 network.</a:t>
            </a:r>
          </a:p>
          <a:p>
            <a:pPr marL="0" lvl="0" indent="0" algn="l" rtl="0">
              <a:spcBef>
                <a:spcPts val="0"/>
              </a:spcBef>
              <a:spcAft>
                <a:spcPts val="0"/>
              </a:spcAft>
              <a:buNone/>
            </a:pPr>
            <a:endParaRPr dirty="0"/>
          </a:p>
        </p:txBody>
      </p:sp>
      <p:sp>
        <p:nvSpPr>
          <p:cNvPr id="600" name="Google Shape;600;g3c5bd0ded87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c5bd0ded87_0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Explain </a:t>
            </a:r>
            <a:r>
              <a:rPr lang="en-US" sz="1200" b="0" i="0" u="none" strike="noStrike" cap="none" dirty="0">
                <a:solidFill>
                  <a:schemeClr val="dk1"/>
                </a:solidFill>
                <a:latin typeface="Calibri"/>
                <a:ea typeface="Calibri"/>
                <a:cs typeface="Calibri"/>
                <a:sym typeface="Calibri"/>
              </a:rPr>
              <a:t>Twist</a:t>
            </a:r>
            <a:r>
              <a:rPr lang="en-US" dirty="0"/>
              <a:t>.</a:t>
            </a:r>
          </a:p>
          <a:p>
            <a:r>
              <a:rPr lang="en-US" dirty="0"/>
              <a:t>A </a:t>
            </a:r>
            <a:r>
              <a:rPr lang="en-US" sz="1200" b="0" i="0" u="none" strike="noStrike" cap="none" dirty="0">
                <a:solidFill>
                  <a:schemeClr val="dk1"/>
                </a:solidFill>
                <a:latin typeface="Calibri"/>
                <a:ea typeface="Calibri"/>
                <a:cs typeface="Calibri"/>
                <a:sym typeface="Calibri"/>
              </a:rPr>
              <a:t>Twist</a:t>
            </a:r>
            <a:r>
              <a:rPr lang="en-US" dirty="0"/>
              <a:t> message represents velocity:</a:t>
            </a:r>
          </a:p>
          <a:p>
            <a:pPr rtl="0"/>
            <a:r>
              <a:rPr lang="en-US" sz="1200" b="0" i="0" u="none" strike="noStrike" cap="none" dirty="0">
                <a:solidFill>
                  <a:schemeClr val="dk1"/>
                </a:solidFill>
                <a:latin typeface="Calibri"/>
                <a:ea typeface="Calibri"/>
                <a:cs typeface="Calibri"/>
                <a:sym typeface="Calibri"/>
              </a:rPr>
              <a:t>linear velocity</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angular velocity</a:t>
            </a:r>
          </a:p>
          <a:p>
            <a:r>
              <a:rPr lang="en-US" dirty="0"/>
              <a:t>For a 2D mobile robot, usually:</a:t>
            </a:r>
          </a:p>
          <a:p>
            <a:pPr rtl="0"/>
            <a:r>
              <a:rPr lang="en-US" sz="1200" b="0" i="0" u="none" strike="noStrike" cap="none" dirty="0" err="1">
                <a:solidFill>
                  <a:schemeClr val="dk1"/>
                </a:solidFill>
                <a:latin typeface="Calibri"/>
                <a:ea typeface="Calibri"/>
                <a:cs typeface="Calibri"/>
                <a:sym typeface="Calibri"/>
              </a:rPr>
              <a:t>linear.x</a:t>
            </a:r>
            <a:r>
              <a:rPr lang="en-US" sz="1200" b="0" i="0" u="none" strike="noStrike" cap="none" dirty="0">
                <a:solidFill>
                  <a:schemeClr val="dk1"/>
                </a:solidFill>
                <a:latin typeface="Calibri"/>
                <a:ea typeface="Calibri"/>
                <a:cs typeface="Calibri"/>
                <a:sym typeface="Calibri"/>
              </a:rPr>
              <a:t> = forward speed</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angular.z</a:t>
            </a:r>
            <a:r>
              <a:rPr lang="en-US" sz="1200" b="0" i="0" u="none" strike="noStrike" cap="none" dirty="0">
                <a:solidFill>
                  <a:schemeClr val="dk1"/>
                </a:solidFill>
                <a:latin typeface="Calibri"/>
                <a:ea typeface="Calibri"/>
                <a:cs typeface="Calibri"/>
                <a:sym typeface="Calibri"/>
              </a:rPr>
              <a:t> = turning speed</a:t>
            </a:r>
          </a:p>
          <a:p>
            <a:r>
              <a:rPr lang="en-US" dirty="0"/>
              <a:t>Live commands:</a:t>
            </a:r>
          </a:p>
          <a:p>
            <a:pPr rtl="0"/>
            <a:r>
              <a:rPr lang="en-US" sz="1200" b="0" i="0" u="none" strike="noStrike" cap="none" dirty="0">
                <a:solidFill>
                  <a:schemeClr val="dk1"/>
                </a:solidFill>
                <a:latin typeface="Calibri"/>
                <a:ea typeface="Calibri"/>
                <a:cs typeface="Calibri"/>
                <a:sym typeface="Calibri"/>
              </a:rPr>
              <a:t>ros2 topic info /turtle1/</a:t>
            </a:r>
            <a:r>
              <a:rPr lang="en-US" sz="1200" b="0" i="0" u="none" strike="noStrike" cap="none" dirty="0" err="1">
                <a:solidFill>
                  <a:schemeClr val="dk1"/>
                </a:solidFill>
                <a:latin typeface="Calibri"/>
                <a:ea typeface="Calibri"/>
                <a:cs typeface="Calibri"/>
                <a:sym typeface="Calibri"/>
              </a:rPr>
              <a:t>cmd_vel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interface show </a:t>
            </a: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/msg/Twist</a:t>
            </a:r>
          </a:p>
          <a:p>
            <a:r>
              <a:rPr lang="en-US" dirty="0"/>
              <a:t>Then publish velocity:</a:t>
            </a:r>
          </a:p>
          <a:p>
            <a:pPr rtl="0"/>
            <a:r>
              <a:rPr lang="en-US" sz="1200" b="0" i="0" u="none" strike="noStrike" cap="none" dirty="0">
                <a:solidFill>
                  <a:schemeClr val="dk1"/>
                </a:solidFill>
                <a:latin typeface="Calibri"/>
                <a:ea typeface="Calibri"/>
                <a:cs typeface="Calibri"/>
                <a:sym typeface="Calibri"/>
              </a:rPr>
              <a:t>ros2 topic pub -r 10 /turtle1/</a:t>
            </a:r>
            <a:r>
              <a:rPr lang="en-US" sz="1200" b="0" i="0" u="none" strike="noStrike" cap="none" dirty="0" err="1">
                <a:solidFill>
                  <a:schemeClr val="dk1"/>
                </a:solidFill>
                <a:latin typeface="Calibri"/>
                <a:ea typeface="Calibri"/>
                <a:cs typeface="Calibri"/>
                <a:sym typeface="Calibri"/>
              </a:rPr>
              <a:t>cmd_vel</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/msg/Twist "{linear: {x: 2.0}, angular: {z: 1.5}}"</a:t>
            </a:r>
          </a:p>
          <a:p>
            <a:r>
              <a:rPr lang="en-US" dirty="0"/>
              <a:t>The turtle should move in a circle.</a:t>
            </a:r>
          </a:p>
          <a:p>
            <a:pPr marL="0" lvl="0" indent="0" algn="l" rtl="0">
              <a:spcBef>
                <a:spcPts val="0"/>
              </a:spcBef>
              <a:spcAft>
                <a:spcPts val="0"/>
              </a:spcAft>
              <a:buNone/>
            </a:pPr>
            <a:endParaRPr dirty="0"/>
          </a:p>
        </p:txBody>
      </p:sp>
      <p:sp>
        <p:nvSpPr>
          <p:cNvPr id="626" name="Google Shape;626;g3c5bd0ded87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c5bd0ded87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Explain pose.</a:t>
            </a:r>
          </a:p>
          <a:p>
            <a:r>
              <a:rPr lang="en-US" dirty="0"/>
              <a:t>A pose means:</a:t>
            </a:r>
          </a:p>
          <a:p>
            <a:pPr rtl="0"/>
            <a:r>
              <a:rPr lang="en-US" sz="1200" b="0" i="0" u="none" strike="noStrike" cap="none" dirty="0">
                <a:solidFill>
                  <a:schemeClr val="dk1"/>
                </a:solidFill>
                <a:latin typeface="Calibri"/>
                <a:ea typeface="Calibri"/>
                <a:cs typeface="Calibri"/>
                <a:sym typeface="Calibri"/>
              </a:rPr>
              <a:t>position + orientation</a:t>
            </a:r>
          </a:p>
          <a:p>
            <a:r>
              <a:rPr lang="en-US" dirty="0"/>
              <a:t>In 3D robotics, position has:</a:t>
            </a:r>
          </a:p>
          <a:p>
            <a:pPr rtl="0"/>
            <a:r>
              <a:rPr lang="en-US" sz="1200" b="0" i="0" u="none" strike="noStrike" cap="none" dirty="0">
                <a:solidFill>
                  <a:schemeClr val="dk1"/>
                </a:solidFill>
                <a:latin typeface="Calibri"/>
                <a:ea typeface="Calibri"/>
                <a:cs typeface="Calibri"/>
                <a:sym typeface="Calibri"/>
              </a:rPr>
              <a:t>x, y, z</a:t>
            </a:r>
          </a:p>
          <a:p>
            <a:r>
              <a:rPr lang="en-US" dirty="0"/>
              <a:t>Orientation is often represented using a quaternion:</a:t>
            </a:r>
          </a:p>
          <a:p>
            <a:pPr rtl="0"/>
            <a:r>
              <a:rPr lang="en-US" sz="1200" b="0" i="0" u="none" strike="noStrike" cap="none" dirty="0">
                <a:solidFill>
                  <a:schemeClr val="dk1"/>
                </a:solidFill>
                <a:latin typeface="Calibri"/>
                <a:ea typeface="Calibri"/>
                <a:cs typeface="Calibri"/>
                <a:sym typeface="Calibri"/>
              </a:rPr>
              <a:t>x, y, z, w</a:t>
            </a:r>
          </a:p>
          <a:p>
            <a:r>
              <a:rPr lang="en-US" dirty="0"/>
              <a:t>For today, students do not need to deeply understand quaternions. Just say:</a:t>
            </a:r>
          </a:p>
          <a:p>
            <a:r>
              <a:rPr lang="en-US" dirty="0"/>
              <a:t>A quaternion is a standard way to represent 3D orientation without some problems that occur with Euler angles.</a:t>
            </a:r>
          </a:p>
          <a:p>
            <a:r>
              <a:rPr lang="en-US" dirty="0"/>
              <a:t>For </a:t>
            </a:r>
            <a:r>
              <a:rPr lang="en-US" dirty="0" err="1"/>
              <a:t>turtlesim</a:t>
            </a:r>
            <a:r>
              <a:rPr lang="en-US" dirty="0"/>
              <a:t>, the pose is simpler and includes </a:t>
            </a:r>
            <a:r>
              <a:rPr lang="en-US" sz="1200" b="0" i="0" u="none" strike="noStrike" cap="none" dirty="0">
                <a:solidFill>
                  <a:schemeClr val="dk1"/>
                </a:solidFill>
                <a:latin typeface="Calibri"/>
                <a:ea typeface="Calibri"/>
                <a:cs typeface="Calibri"/>
                <a:sym typeface="Calibri"/>
              </a:rPr>
              <a:t>x</a:t>
            </a:r>
            <a:r>
              <a:rPr lang="en-US" dirty="0"/>
              <a:t>, </a:t>
            </a:r>
            <a:r>
              <a:rPr lang="en-US" sz="1200" b="0" i="0" u="none" strike="noStrike" cap="none" dirty="0">
                <a:solidFill>
                  <a:schemeClr val="dk1"/>
                </a:solidFill>
                <a:latin typeface="Calibri"/>
                <a:ea typeface="Calibri"/>
                <a:cs typeface="Calibri"/>
                <a:sym typeface="Calibri"/>
              </a:rPr>
              <a:t>y</a:t>
            </a:r>
            <a:r>
              <a:rPr lang="en-US" dirty="0"/>
              <a:t>, and </a:t>
            </a:r>
            <a:r>
              <a:rPr lang="en-US" sz="1200" b="0" i="0" u="none" strike="noStrike" cap="none" dirty="0">
                <a:solidFill>
                  <a:schemeClr val="dk1"/>
                </a:solidFill>
                <a:latin typeface="Calibri"/>
                <a:ea typeface="Calibri"/>
                <a:cs typeface="Calibri"/>
                <a:sym typeface="Calibri"/>
              </a:rPr>
              <a:t>theta</a:t>
            </a:r>
            <a:r>
              <a:rPr lang="en-US" dirty="0"/>
              <a:t>.</a:t>
            </a:r>
          </a:p>
          <a:p>
            <a:pPr marL="0" lvl="0" indent="0" algn="l" rtl="0">
              <a:spcBef>
                <a:spcPts val="0"/>
              </a:spcBef>
              <a:spcAft>
                <a:spcPts val="0"/>
              </a:spcAft>
              <a:buNone/>
            </a:pPr>
            <a:endParaRPr dirty="0"/>
          </a:p>
        </p:txBody>
      </p:sp>
      <p:sp>
        <p:nvSpPr>
          <p:cNvPr id="636" name="Google Shape;636;g3c5bd0ded87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reinforces topic inspection.</a:t>
            </a:r>
          </a:p>
          <a:p>
            <a:r>
              <a:rPr lang="en-US" dirty="0"/>
              <a:t>Commands:</a:t>
            </a:r>
          </a:p>
          <a:p>
            <a:pPr rtl="0"/>
            <a:r>
              <a:rPr lang="en-US" sz="1200" b="0" i="0" u="none" strike="noStrike" cap="none" dirty="0">
                <a:solidFill>
                  <a:schemeClr val="dk1"/>
                </a:solidFill>
                <a:latin typeface="Calibri"/>
                <a:ea typeface="Calibri"/>
                <a:cs typeface="Calibri"/>
                <a:sym typeface="Calibri"/>
              </a:rPr>
              <a:t>ros2 topic echo /turtle1/pose</a:t>
            </a:r>
          </a:p>
          <a:p>
            <a:r>
              <a:rPr lang="en-US" dirty="0"/>
              <a:t>shows messages being published.</a:t>
            </a:r>
          </a:p>
          <a:p>
            <a:pPr rtl="0"/>
            <a:r>
              <a:rPr lang="en-US" sz="1200" b="0" i="0" u="none" strike="noStrike" cap="none" dirty="0">
                <a:solidFill>
                  <a:schemeClr val="dk1"/>
                </a:solidFill>
                <a:latin typeface="Calibri"/>
                <a:ea typeface="Calibri"/>
                <a:cs typeface="Calibri"/>
                <a:sym typeface="Calibri"/>
              </a:rPr>
              <a:t>ros2 topic info /turtle1/pose</a:t>
            </a:r>
          </a:p>
          <a:p>
            <a:r>
              <a:rPr lang="en-US" dirty="0"/>
              <a:t>shows the message type and publisher/subscriber count.</a:t>
            </a:r>
          </a:p>
          <a:p>
            <a:pPr rtl="0"/>
            <a:r>
              <a:rPr lang="en-US" sz="1200" b="0" i="0" u="none" strike="noStrike" cap="none" dirty="0">
                <a:solidFill>
                  <a:schemeClr val="dk1"/>
                </a:solidFill>
                <a:latin typeface="Calibri"/>
                <a:ea typeface="Calibri"/>
                <a:cs typeface="Calibri"/>
                <a:sym typeface="Calibri"/>
              </a:rPr>
              <a:t>ros2 interface show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/msg/Pose</a:t>
            </a:r>
          </a:p>
          <a:p>
            <a:r>
              <a:rPr lang="en-US" dirty="0"/>
              <a:t>shows the structure of the message.</a:t>
            </a:r>
          </a:p>
          <a:p>
            <a:r>
              <a:rPr lang="en-US" dirty="0"/>
              <a:t>Mention the correction:</a:t>
            </a:r>
          </a:p>
          <a:p>
            <a:pPr rtl="0"/>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/msg/Pose</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/msg/Twist</a:t>
            </a:r>
          </a:p>
          <a:p>
            <a:r>
              <a:rPr lang="en-US" dirty="0"/>
              <a:t>Use these corrected forms.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944474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ROS2 lets us publish messages directly from the terminal. This is very useful for testing.</a:t>
            </a:r>
          </a:p>
          <a:p>
            <a:r>
              <a:rPr lang="en-US" dirty="0"/>
              <a:t>Command:</a:t>
            </a:r>
          </a:p>
          <a:p>
            <a:pPr rtl="0"/>
            <a:r>
              <a:rPr lang="en-US" sz="1200" b="0" i="0" u="none" strike="noStrike" cap="none" dirty="0">
                <a:solidFill>
                  <a:schemeClr val="dk1"/>
                </a:solidFill>
                <a:latin typeface="Calibri"/>
                <a:ea typeface="Calibri"/>
                <a:cs typeface="Calibri"/>
                <a:sym typeface="Calibri"/>
              </a:rPr>
              <a:t>ros2 topic pub -r 10 /turtle1/</a:t>
            </a:r>
            <a:r>
              <a:rPr lang="en-US" sz="1200" b="0" i="0" u="none" strike="noStrike" cap="none" dirty="0" err="1">
                <a:solidFill>
                  <a:schemeClr val="dk1"/>
                </a:solidFill>
                <a:latin typeface="Calibri"/>
                <a:ea typeface="Calibri"/>
                <a:cs typeface="Calibri"/>
                <a:sym typeface="Calibri"/>
              </a:rPr>
              <a:t>cmd_vel</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/msg/Twist "{linear: {x: 2.0, y: 0.0, z: 0.0}, angular: {x: 0.0, y: 0.0, z: 1.8}}"</a:t>
            </a:r>
          </a:p>
          <a:p>
            <a:r>
              <a:rPr lang="en-US" dirty="0"/>
              <a:t>Explain:</a:t>
            </a:r>
          </a:p>
          <a:p>
            <a:pPr rtl="0"/>
            <a:r>
              <a:rPr lang="en-US" sz="1200" b="0" i="0" u="none" strike="noStrike" cap="none" dirty="0">
                <a:solidFill>
                  <a:schemeClr val="dk1"/>
                </a:solidFill>
                <a:latin typeface="Calibri"/>
                <a:ea typeface="Calibri"/>
                <a:cs typeface="Calibri"/>
                <a:sym typeface="Calibri"/>
              </a:rPr>
              <a:t>-r 10 means publish at 10 Hz.</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linear.x</a:t>
            </a:r>
            <a:r>
              <a:rPr lang="en-US" sz="1200" b="0" i="0" u="none" strike="noStrike" cap="none" dirty="0">
                <a:solidFill>
                  <a:schemeClr val="dk1"/>
                </a:solidFill>
                <a:latin typeface="Calibri"/>
                <a:ea typeface="Calibri"/>
                <a:cs typeface="Calibri"/>
                <a:sym typeface="Calibri"/>
              </a:rPr>
              <a:t> = 2.0 means move forward.</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angular.z</a:t>
            </a:r>
            <a:r>
              <a:rPr lang="en-US" sz="1200" b="0" i="0" u="none" strike="noStrike" cap="none" dirty="0">
                <a:solidFill>
                  <a:schemeClr val="dk1"/>
                </a:solidFill>
                <a:latin typeface="Calibri"/>
                <a:ea typeface="Calibri"/>
                <a:cs typeface="Calibri"/>
                <a:sym typeface="Calibri"/>
              </a:rPr>
              <a:t> = 1.8 means rotate.</a:t>
            </a:r>
          </a:p>
          <a:p>
            <a:r>
              <a:rPr lang="en-US" dirty="0"/>
              <a:t>This makes the turtle move in a circle.</a:t>
            </a:r>
          </a:p>
          <a:p>
            <a:r>
              <a:rPr lang="en-US" dirty="0"/>
              <a:t>Also tell students that the message is written in YAML-like format.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13450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topic is for continuous streaming. A service is for request-response communication.</a:t>
            </a:r>
          </a:p>
          <a:p>
            <a:r>
              <a:rPr lang="en-US" dirty="0"/>
              <a:t>Say:</a:t>
            </a:r>
          </a:p>
          <a:p>
            <a:pPr rtl="0"/>
            <a:r>
              <a:rPr lang="en-US" sz="1200" b="0" i="0" u="none" strike="noStrike" cap="none" dirty="0">
                <a:solidFill>
                  <a:schemeClr val="dk1"/>
                </a:solidFill>
                <a:latin typeface="Calibri"/>
                <a:ea typeface="Calibri"/>
                <a:cs typeface="Calibri"/>
                <a:sym typeface="Calibri"/>
              </a:rPr>
              <a:t>Topic = continuous data flow</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Service = ask once, receive one response</a:t>
            </a:r>
          </a:p>
          <a:p>
            <a:r>
              <a:rPr lang="en-US" dirty="0"/>
              <a:t>Examples:</a:t>
            </a:r>
          </a:p>
          <a:p>
            <a:pPr rtl="0"/>
            <a:r>
              <a:rPr lang="en-US" sz="1200" b="0" i="0" u="none" strike="noStrike" cap="none" dirty="0">
                <a:solidFill>
                  <a:schemeClr val="dk1"/>
                </a:solidFill>
                <a:latin typeface="Calibri"/>
                <a:ea typeface="Calibri"/>
                <a:cs typeface="Calibri"/>
                <a:sym typeface="Calibri"/>
              </a:rPr>
              <a:t>Spawn a new turtle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Clear the screen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Reset the simulator</a:t>
            </a:r>
          </a:p>
          <a:p>
            <a:r>
              <a:rPr lang="en-US" dirty="0"/>
              <a:t>Live demo:</a:t>
            </a:r>
          </a:p>
          <a:p>
            <a:pPr rtl="0"/>
            <a:r>
              <a:rPr lang="en-US" sz="1200" b="0" i="0" u="none" strike="noStrike" cap="none" dirty="0">
                <a:solidFill>
                  <a:schemeClr val="dk1"/>
                </a:solidFill>
                <a:latin typeface="Calibri"/>
                <a:ea typeface="Calibri"/>
                <a:cs typeface="Calibri"/>
                <a:sym typeface="Calibri"/>
              </a:rPr>
              <a:t>ros2 service list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service type /spawn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interface show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srv</a:t>
            </a:r>
            <a:r>
              <a:rPr lang="en-US" sz="1200" b="0" i="0" u="none" strike="noStrike" cap="none" dirty="0">
                <a:solidFill>
                  <a:schemeClr val="dk1"/>
                </a:solidFill>
                <a:latin typeface="Calibri"/>
                <a:ea typeface="Calibri"/>
                <a:cs typeface="Calibri"/>
                <a:sym typeface="Calibri"/>
              </a:rPr>
              <a:t>/Spawn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service call /spawn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srv</a:t>
            </a:r>
            <a:r>
              <a:rPr lang="en-US" sz="1200" b="0" i="0" u="none" strike="noStrike" cap="none" dirty="0">
                <a:solidFill>
                  <a:schemeClr val="dk1"/>
                </a:solidFill>
                <a:latin typeface="Calibri"/>
                <a:ea typeface="Calibri"/>
                <a:cs typeface="Calibri"/>
                <a:sym typeface="Calibri"/>
              </a:rPr>
              <a:t>/Spawn "{x: 2.0, y: 2.0, theta: 0.0, name: 'turtle2'}"</a:t>
            </a:r>
          </a:p>
          <a:p>
            <a:r>
              <a:rPr lang="en-US" dirty="0"/>
              <a:t>Explain that </a:t>
            </a:r>
            <a:r>
              <a:rPr lang="en-US" sz="1200" b="0" i="0" u="none" strike="noStrike" cap="none" dirty="0">
                <a:solidFill>
                  <a:schemeClr val="dk1"/>
                </a:solidFill>
                <a:latin typeface="Calibri"/>
                <a:ea typeface="Calibri"/>
                <a:cs typeface="Calibri"/>
                <a:sym typeface="Calibri"/>
              </a:rPr>
              <a:t>/spawn</a:t>
            </a:r>
            <a:r>
              <a:rPr lang="en-US" dirty="0"/>
              <a:t> is not continuous; we call it once when we want a new turtle.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899601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parameter is a configurable value associated with a node.</a:t>
            </a:r>
          </a:p>
          <a:p>
            <a:r>
              <a:rPr lang="en-US" dirty="0"/>
              <a:t>For example, </a:t>
            </a:r>
            <a:r>
              <a:rPr lang="en-US" dirty="0" err="1"/>
              <a:t>turtlesim</a:t>
            </a:r>
            <a:r>
              <a:rPr lang="en-US" dirty="0"/>
              <a:t> has background color parameters.</a:t>
            </a:r>
          </a:p>
          <a:p>
            <a:r>
              <a:rPr lang="en-US" dirty="0"/>
              <a:t>Live demo:</a:t>
            </a:r>
          </a:p>
          <a:p>
            <a:pPr rtl="0"/>
            <a:r>
              <a:rPr lang="en-US" sz="1200" b="0" i="0" u="none" strike="noStrike" cap="none" dirty="0">
                <a:solidFill>
                  <a:schemeClr val="dk1"/>
                </a:solidFill>
                <a:latin typeface="Calibri"/>
                <a:ea typeface="Calibri"/>
                <a:cs typeface="Calibri"/>
                <a:sym typeface="Calibri"/>
              </a:rPr>
              <a:t>ros2 param list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param get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background_g</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param set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background_r</a:t>
            </a:r>
            <a:r>
              <a:rPr lang="en-US" sz="1200" b="0" i="0" u="none" strike="noStrike" cap="none" dirty="0">
                <a:solidFill>
                  <a:schemeClr val="dk1"/>
                </a:solidFill>
                <a:latin typeface="Calibri"/>
                <a:ea typeface="Calibri"/>
                <a:cs typeface="Calibri"/>
                <a:sym typeface="Calibri"/>
              </a:rPr>
              <a:t> 0</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param set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background_g</a:t>
            </a:r>
            <a:r>
              <a:rPr lang="en-US" sz="1200" b="0" i="0" u="none" strike="noStrike" cap="none" dirty="0">
                <a:solidFill>
                  <a:schemeClr val="dk1"/>
                </a:solidFill>
                <a:latin typeface="Calibri"/>
                <a:ea typeface="Calibri"/>
                <a:cs typeface="Calibri"/>
                <a:sym typeface="Calibri"/>
              </a:rPr>
              <a:t> 0</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param set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background_b</a:t>
            </a:r>
            <a:r>
              <a:rPr lang="en-US" sz="1200" b="0" i="0" u="none" strike="noStrike" cap="none" dirty="0">
                <a:solidFill>
                  <a:schemeClr val="dk1"/>
                </a:solidFill>
                <a:latin typeface="Calibri"/>
                <a:ea typeface="Calibri"/>
                <a:cs typeface="Calibri"/>
                <a:sym typeface="Calibri"/>
              </a:rPr>
              <a:t> 0</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service call /clear </a:t>
            </a:r>
            <a:r>
              <a:rPr lang="en-US" sz="1200" b="0" i="0" u="none" strike="noStrike" cap="none" dirty="0" err="1">
                <a:solidFill>
                  <a:schemeClr val="dk1"/>
                </a:solidFill>
                <a:latin typeface="Calibri"/>
                <a:ea typeface="Calibri"/>
                <a:cs typeface="Calibri"/>
                <a:sym typeface="Calibri"/>
              </a:rPr>
              <a:t>std_srvs</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srv</a:t>
            </a:r>
            <a:r>
              <a:rPr lang="en-US" sz="1200" b="0" i="0" u="none" strike="noStrike" cap="none" dirty="0">
                <a:solidFill>
                  <a:schemeClr val="dk1"/>
                </a:solidFill>
                <a:latin typeface="Calibri"/>
                <a:ea typeface="Calibri"/>
                <a:cs typeface="Calibri"/>
                <a:sym typeface="Calibri"/>
              </a:rPr>
              <a:t>/Empty "{}"</a:t>
            </a:r>
          </a:p>
          <a:p>
            <a:r>
              <a:rPr lang="en-US" dirty="0"/>
              <a:t>Explain:</a:t>
            </a:r>
          </a:p>
          <a:p>
            <a:r>
              <a:rPr lang="en-US" dirty="0"/>
              <a:t>We changed the parameter values, then called </a:t>
            </a:r>
            <a:r>
              <a:rPr lang="en-US" sz="1200" b="0" i="0" u="none" strike="noStrike" cap="none" dirty="0">
                <a:solidFill>
                  <a:schemeClr val="dk1"/>
                </a:solidFill>
                <a:latin typeface="Calibri"/>
                <a:ea typeface="Calibri"/>
                <a:cs typeface="Calibri"/>
                <a:sym typeface="Calibri"/>
              </a:rPr>
              <a:t>/clear</a:t>
            </a:r>
            <a:r>
              <a:rPr lang="en-US" dirty="0"/>
              <a:t> so the background updated.</a:t>
            </a:r>
          </a:p>
          <a:p>
            <a:r>
              <a:rPr lang="en-US" dirty="0"/>
              <a:t>Parameters are useful because we can tune a node without changing the source code.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9992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Actions are for tasks that take time.</a:t>
            </a:r>
          </a:p>
          <a:p>
            <a:r>
              <a:rPr lang="en-US" dirty="0"/>
              <a:t>A service is quick request-response. An action is better when the task may take several seconds or minutes and we want feedback.</a:t>
            </a:r>
          </a:p>
          <a:p>
            <a:r>
              <a:rPr lang="en-US" dirty="0"/>
              <a:t>Examples:</a:t>
            </a:r>
          </a:p>
          <a:p>
            <a:pPr rtl="0"/>
            <a:r>
              <a:rPr lang="en-US" sz="1200" b="0" i="0" u="none" strike="noStrike" cap="none" dirty="0">
                <a:solidFill>
                  <a:schemeClr val="dk1"/>
                </a:solidFill>
                <a:latin typeface="Calibri"/>
                <a:ea typeface="Calibri"/>
                <a:cs typeface="Calibri"/>
                <a:sym typeface="Calibri"/>
              </a:rPr>
              <a:t>Navigate to a goal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Follow a path</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Rotate to a target angle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Pick up an object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Plan a trajectory</a:t>
            </a:r>
          </a:p>
          <a:p>
            <a:r>
              <a:rPr lang="en-US" dirty="0" err="1"/>
              <a:t>Turtlesim</a:t>
            </a:r>
            <a:r>
              <a:rPr lang="en-US" dirty="0"/>
              <a:t> action demo:</a:t>
            </a:r>
          </a:p>
          <a:p>
            <a:pPr rtl="0"/>
            <a:r>
              <a:rPr lang="en-US" sz="1200" b="0" i="0" u="none" strike="noStrike" cap="none" dirty="0">
                <a:solidFill>
                  <a:schemeClr val="dk1"/>
                </a:solidFill>
                <a:latin typeface="Calibri"/>
                <a:ea typeface="Calibri"/>
                <a:cs typeface="Calibri"/>
                <a:sym typeface="Calibri"/>
              </a:rPr>
              <a:t>ros2 action list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action info /turtle1/</a:t>
            </a:r>
            <a:r>
              <a:rPr lang="en-US" sz="1200" b="0" i="0" u="none" strike="noStrike" cap="none" dirty="0" err="1">
                <a:solidFill>
                  <a:schemeClr val="dk1"/>
                </a:solidFill>
                <a:latin typeface="Calibri"/>
                <a:ea typeface="Calibri"/>
                <a:cs typeface="Calibri"/>
                <a:sym typeface="Calibri"/>
              </a:rPr>
              <a:t>rotate_absolute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interface show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/action/</a:t>
            </a:r>
            <a:r>
              <a:rPr lang="en-US" sz="1200" b="0" i="0" u="none" strike="noStrike" cap="none" dirty="0" err="1">
                <a:solidFill>
                  <a:schemeClr val="dk1"/>
                </a:solidFill>
                <a:latin typeface="Calibri"/>
                <a:ea typeface="Calibri"/>
                <a:cs typeface="Calibri"/>
                <a:sym typeface="Calibri"/>
              </a:rPr>
              <a:t>RotateAbsolute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action </a:t>
            </a:r>
            <a:r>
              <a:rPr lang="en-US" sz="1200" b="0" i="0" u="none" strike="noStrike" cap="none" dirty="0" err="1">
                <a:solidFill>
                  <a:schemeClr val="dk1"/>
                </a:solidFill>
                <a:latin typeface="Calibri"/>
                <a:ea typeface="Calibri"/>
                <a:cs typeface="Calibri"/>
                <a:sym typeface="Calibri"/>
              </a:rPr>
              <a:t>send_goal</a:t>
            </a:r>
            <a:r>
              <a:rPr lang="en-US" sz="1200" b="0" i="0" u="none" strike="noStrike" cap="none" dirty="0">
                <a:solidFill>
                  <a:schemeClr val="dk1"/>
                </a:solidFill>
                <a:latin typeface="Calibri"/>
                <a:ea typeface="Calibri"/>
                <a:cs typeface="Calibri"/>
                <a:sym typeface="Calibri"/>
              </a:rPr>
              <a:t> /turtle1/</a:t>
            </a:r>
            <a:r>
              <a:rPr lang="en-US" sz="1200" b="0" i="0" u="none" strike="noStrike" cap="none" dirty="0" err="1">
                <a:solidFill>
                  <a:schemeClr val="dk1"/>
                </a:solidFill>
                <a:latin typeface="Calibri"/>
                <a:ea typeface="Calibri"/>
                <a:cs typeface="Calibri"/>
                <a:sym typeface="Calibri"/>
              </a:rPr>
              <a:t>rotate_absolute</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turtlesim</a:t>
            </a:r>
            <a:r>
              <a:rPr lang="en-US" sz="1200" b="0" i="0" u="none" strike="noStrike" cap="none" dirty="0">
                <a:solidFill>
                  <a:schemeClr val="dk1"/>
                </a:solidFill>
                <a:latin typeface="Calibri"/>
                <a:ea typeface="Calibri"/>
                <a:cs typeface="Calibri"/>
                <a:sym typeface="Calibri"/>
              </a:rPr>
              <a:t>/action/</a:t>
            </a:r>
            <a:r>
              <a:rPr lang="en-US" sz="1200" b="0" i="0" u="none" strike="noStrike" cap="none" dirty="0" err="1">
                <a:solidFill>
                  <a:schemeClr val="dk1"/>
                </a:solidFill>
                <a:latin typeface="Calibri"/>
                <a:ea typeface="Calibri"/>
                <a:cs typeface="Calibri"/>
                <a:sym typeface="Calibri"/>
              </a:rPr>
              <a:t>RotateAbsolute</a:t>
            </a:r>
            <a:r>
              <a:rPr lang="en-US" sz="1200" b="0" i="0" u="none" strike="noStrike" cap="none" dirty="0">
                <a:solidFill>
                  <a:schemeClr val="dk1"/>
                </a:solidFill>
                <a:latin typeface="Calibri"/>
                <a:ea typeface="Calibri"/>
                <a:cs typeface="Calibri"/>
                <a:sym typeface="Calibri"/>
              </a:rPr>
              <a:t> "{theta: 1.57}" --feedback</a:t>
            </a:r>
          </a:p>
          <a:p>
            <a:r>
              <a:rPr lang="en-US" dirty="0"/>
              <a:t>Explain:</a:t>
            </a:r>
          </a:p>
          <a:p>
            <a:r>
              <a:rPr lang="en-US" dirty="0"/>
              <a:t>The action sends a goal, the turtle performs the rotation, and ROS2 can provide feedback while the task is running.</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76672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d7814561e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slide connects </a:t>
            </a:r>
            <a:r>
              <a:rPr lang="en-US" dirty="0" err="1"/>
              <a:t>turtlesim</a:t>
            </a:r>
            <a:r>
              <a:rPr lang="en-US" dirty="0"/>
              <a:t> to a real robot.</a:t>
            </a:r>
          </a:p>
          <a:p>
            <a:r>
              <a:rPr lang="en-US" dirty="0"/>
              <a:t>A real mobile robot may have:</a:t>
            </a:r>
          </a:p>
          <a:p>
            <a:pPr rtl="0"/>
            <a:r>
              <a:rPr lang="en-US" sz="1200" b="0" i="0" u="none" strike="noStrike" cap="none" dirty="0">
                <a:solidFill>
                  <a:schemeClr val="dk1"/>
                </a:solidFill>
                <a:latin typeface="Calibri"/>
                <a:ea typeface="Calibri"/>
                <a:cs typeface="Calibri"/>
                <a:sym typeface="Calibri"/>
              </a:rPr>
              <a:t>Microcontroller for motors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Jetson or Raspberry Pi for onboard computation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Laptop for teleoperation and RViz</a:t>
            </a:r>
          </a:p>
          <a:p>
            <a:r>
              <a:rPr lang="en-US" dirty="0"/>
              <a:t>The laptop may publish:</a:t>
            </a:r>
          </a:p>
          <a:p>
            <a:pPr rtl="0"/>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cmd_vel</a:t>
            </a:r>
            <a:endParaRPr lang="en-US" sz="1200" b="0" i="0" u="none" strike="noStrike" cap="none" dirty="0">
              <a:solidFill>
                <a:schemeClr val="dk1"/>
              </a:solidFill>
              <a:latin typeface="Calibri"/>
              <a:ea typeface="Calibri"/>
              <a:cs typeface="Calibri"/>
              <a:sym typeface="Calibri"/>
            </a:endParaRPr>
          </a:p>
          <a:p>
            <a:r>
              <a:rPr lang="en-US" dirty="0"/>
              <a:t>The robot may publish:</a:t>
            </a:r>
          </a:p>
          <a:p>
            <a:pPr rtl="0"/>
            <a:r>
              <a:rPr lang="en-US" sz="1200" b="0" i="0" u="none" strike="noStrike" cap="none" dirty="0">
                <a:solidFill>
                  <a:schemeClr val="dk1"/>
                </a:solidFill>
                <a:latin typeface="Calibri"/>
                <a:ea typeface="Calibri"/>
                <a:cs typeface="Calibri"/>
                <a:sym typeface="Calibri"/>
              </a:rPr>
              <a:t>/odometry</a:t>
            </a:r>
          </a:p>
          <a:p>
            <a:r>
              <a:rPr lang="en-US" dirty="0"/>
              <a:t>RViz subscribes to data and visualizes it.</a:t>
            </a:r>
          </a:p>
          <a:p>
            <a:r>
              <a:rPr lang="en-US" dirty="0"/>
              <a:t>The important idea:</a:t>
            </a:r>
          </a:p>
          <a:p>
            <a:r>
              <a:rPr lang="en-US" dirty="0"/>
              <a:t>ROS2 is not limited to one program or one computer. It can connect multiple nodes across machines.</a:t>
            </a:r>
          </a:p>
          <a:p>
            <a:r>
              <a:rPr lang="en-US" dirty="0"/>
              <a:t>This is useful for mobile robots, multi-robot systems, and lab experiments.</a:t>
            </a:r>
          </a:p>
          <a:p>
            <a:pPr marL="0" lvl="0" indent="0" algn="l" rtl="0">
              <a:spcBef>
                <a:spcPts val="0"/>
              </a:spcBef>
              <a:spcAft>
                <a:spcPts val="0"/>
              </a:spcAft>
              <a:buNone/>
            </a:pPr>
            <a:endParaRPr dirty="0"/>
          </a:p>
        </p:txBody>
      </p:sp>
      <p:sp>
        <p:nvSpPr>
          <p:cNvPr id="645" name="Google Shape;645;g3d7814561e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c5bd0ded87_0_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Now move from communication to code organization.</a:t>
            </a:r>
          </a:p>
          <a:p>
            <a:r>
              <a:rPr lang="en-US" dirty="0"/>
              <a:t>A ROS2 package is a folder that organizes code and files for a specific task.</a:t>
            </a:r>
          </a:p>
          <a:p>
            <a:r>
              <a:rPr lang="en-US" dirty="0"/>
              <a:t>A package may contain:</a:t>
            </a:r>
          </a:p>
          <a:p>
            <a:pPr rtl="0"/>
            <a:r>
              <a:rPr lang="en-US" sz="1200" b="0" i="0" u="none" strike="noStrike" cap="none" dirty="0">
                <a:solidFill>
                  <a:schemeClr val="dk1"/>
                </a:solidFill>
                <a:latin typeface="Calibri"/>
                <a:ea typeface="Calibri"/>
                <a:cs typeface="Calibri"/>
                <a:sym typeface="Calibri"/>
              </a:rPr>
              <a:t>scripts = executable nodes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config = parameter files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model = URDF/SDF robot models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launch = launch files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package.xml = metadata and dependencies</a:t>
            </a:r>
          </a:p>
          <a:p>
            <a:r>
              <a:rPr lang="en-US" dirty="0"/>
              <a:t>Packages help keep ROS2 projects organized.</a:t>
            </a:r>
          </a:p>
          <a:p>
            <a:pPr marL="0" lvl="0" indent="0" algn="l" rtl="0">
              <a:spcBef>
                <a:spcPts val="0"/>
              </a:spcBef>
              <a:spcAft>
                <a:spcPts val="0"/>
              </a:spcAft>
              <a:buNone/>
            </a:pPr>
            <a:endParaRPr dirty="0"/>
          </a:p>
        </p:txBody>
      </p:sp>
      <p:sp>
        <p:nvSpPr>
          <p:cNvPr id="673" name="Google Shape;673;g3c5bd0ded87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house blueprint analogy from the slide.</a:t>
            </a:r>
          </a:p>
          <a:p>
            <a:r>
              <a:rPr lang="en-US" dirty="0"/>
              <a:t>A package is not the running robot itself. It is like the folder containing the blueprints and materials needed to build or run part of the system.</a:t>
            </a:r>
          </a:p>
          <a:p>
            <a:r>
              <a:rPr lang="en-US" dirty="0"/>
              <a:t>For example, a package called </a:t>
            </a:r>
            <a:r>
              <a:rPr lang="en-US" sz="1200" b="0" i="0" u="none" strike="noStrike" cap="none" dirty="0" err="1">
                <a:solidFill>
                  <a:schemeClr val="dk1"/>
                </a:solidFill>
                <a:latin typeface="Calibri"/>
                <a:ea typeface="Calibri"/>
                <a:cs typeface="Calibri"/>
                <a:sym typeface="Calibri"/>
              </a:rPr>
              <a:t>turtlesim_control</a:t>
            </a:r>
            <a:r>
              <a:rPr lang="en-US" dirty="0"/>
              <a:t> may contain:</a:t>
            </a:r>
          </a:p>
          <a:p>
            <a:pPr rtl="0"/>
            <a:r>
              <a:rPr lang="en-US" sz="1200" b="0" i="0" u="none" strike="noStrike" cap="none" dirty="0">
                <a:solidFill>
                  <a:schemeClr val="dk1"/>
                </a:solidFill>
                <a:latin typeface="Calibri"/>
                <a:ea typeface="Calibri"/>
                <a:cs typeface="Calibri"/>
                <a:sym typeface="Calibri"/>
              </a:rPr>
              <a:t>a circle controller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a go-to-goal controller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launch files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configuration files</a:t>
            </a:r>
          </a:p>
          <a:p>
            <a:r>
              <a:rPr lang="en-US" dirty="0"/>
              <a:t>The package groups related files together.</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60931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ROS2 workspace, custom packages are placed inside the </a:t>
            </a:r>
            <a:r>
              <a:rPr lang="en-US" sz="1200" b="0" i="0" u="none" strike="noStrike" cap="none" dirty="0" err="1">
                <a:solidFill>
                  <a:schemeClr val="dk1"/>
                </a:solidFill>
                <a:latin typeface="Calibri"/>
                <a:ea typeface="Calibri"/>
                <a:cs typeface="Calibri"/>
                <a:sym typeface="Calibri"/>
              </a:rPr>
              <a:t>src</a:t>
            </a:r>
            <a:r>
              <a:rPr lang="en-US" dirty="0"/>
              <a:t> folder.</a:t>
            </a:r>
          </a:p>
          <a:p>
            <a:r>
              <a:rPr lang="en-US" dirty="0"/>
              <a:t>Example:</a:t>
            </a:r>
          </a:p>
          <a:p>
            <a:pPr rtl="0"/>
            <a:r>
              <a:rPr lang="en-US" sz="1200" b="0" i="0" u="none" strike="noStrike" cap="none" dirty="0">
                <a:solidFill>
                  <a:schemeClr val="dk1"/>
                </a:solidFill>
                <a:latin typeface="Calibri"/>
                <a:ea typeface="Calibri"/>
                <a:cs typeface="Calibri"/>
                <a:sym typeface="Calibri"/>
              </a:rPr>
              <a:t>me640_ws/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src</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turtlesim_control</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robot_description</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navigation_config</a:t>
            </a:r>
            <a:r>
              <a:rPr lang="en-US" sz="1200" b="0" i="0" u="none" strike="noStrike" cap="none" dirty="0">
                <a:solidFill>
                  <a:schemeClr val="dk1"/>
                </a:solidFill>
                <a:latin typeface="Calibri"/>
                <a:ea typeface="Calibri"/>
                <a:cs typeface="Calibri"/>
                <a:sym typeface="Calibri"/>
              </a:rPr>
              <a:t>/</a:t>
            </a:r>
          </a:p>
          <a:p>
            <a:r>
              <a:rPr lang="en-US" dirty="0"/>
              <a:t>The </a:t>
            </a:r>
            <a:r>
              <a:rPr lang="en-US" sz="1200" b="0" i="0" u="none" strike="noStrike" cap="none" dirty="0" err="1">
                <a:solidFill>
                  <a:schemeClr val="dk1"/>
                </a:solidFill>
                <a:latin typeface="Calibri"/>
                <a:ea typeface="Calibri"/>
                <a:cs typeface="Calibri"/>
                <a:sym typeface="Calibri"/>
              </a:rPr>
              <a:t>src</a:t>
            </a:r>
            <a:r>
              <a:rPr lang="en-US" dirty="0"/>
              <a:t> folder is where we edit and develop our packages.</a:t>
            </a:r>
          </a:p>
          <a:p>
            <a:r>
              <a:rPr lang="en-US" dirty="0"/>
              <a:t>Mention:</a:t>
            </a:r>
          </a:p>
          <a:p>
            <a:r>
              <a:rPr lang="en-US" dirty="0"/>
              <a:t>Do not put random files everywhere. ROS2 expects packages to be organized inside the workspace source folder.</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64135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workspace is the project folder that contains custom ROS2 packages.</a:t>
            </a:r>
          </a:p>
          <a:p>
            <a:r>
              <a:rPr lang="en-US" dirty="0"/>
              <a:t>Example:</a:t>
            </a:r>
          </a:p>
          <a:p>
            <a:pPr rtl="0"/>
            <a:r>
              <a:rPr lang="en-US" sz="1200" b="0" i="0" u="none" strike="noStrike" cap="none" dirty="0">
                <a:solidFill>
                  <a:schemeClr val="dk1"/>
                </a:solidFill>
                <a:latin typeface="Calibri"/>
                <a:ea typeface="Calibri"/>
                <a:cs typeface="Calibri"/>
                <a:sym typeface="Calibri"/>
              </a:rPr>
              <a:t>me640_ws</a:t>
            </a:r>
          </a:p>
          <a:p>
            <a:r>
              <a:rPr lang="en-US" dirty="0"/>
              <a:t>Inside it:</a:t>
            </a:r>
          </a:p>
          <a:p>
            <a:pPr rtl="0"/>
            <a:r>
              <a:rPr lang="en-US" sz="1200" b="0" i="0" u="none" strike="noStrike" cap="none" dirty="0" err="1">
                <a:solidFill>
                  <a:schemeClr val="dk1"/>
                </a:solidFill>
                <a:latin typeface="Calibri"/>
                <a:ea typeface="Calibri"/>
                <a:cs typeface="Calibri"/>
                <a:sym typeface="Calibri"/>
              </a:rPr>
              <a:t>src</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build/</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install/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log/</a:t>
            </a:r>
          </a:p>
          <a:p>
            <a:r>
              <a:rPr lang="en-US" dirty="0"/>
              <a:t>At the beginning, only </a:t>
            </a:r>
            <a:r>
              <a:rPr lang="en-US" sz="1200" b="0" i="0" u="none" strike="noStrike" cap="none" dirty="0" err="1">
                <a:solidFill>
                  <a:schemeClr val="dk1"/>
                </a:solidFill>
                <a:latin typeface="Calibri"/>
                <a:ea typeface="Calibri"/>
                <a:cs typeface="Calibri"/>
                <a:sym typeface="Calibri"/>
              </a:rPr>
              <a:t>src</a:t>
            </a:r>
            <a:r>
              <a:rPr lang="en-US" dirty="0"/>
              <a:t> exists. After building, ROS2 creates </a:t>
            </a:r>
            <a:r>
              <a:rPr lang="en-US" sz="1200" b="0" i="0" u="none" strike="noStrike" cap="none" dirty="0">
                <a:solidFill>
                  <a:schemeClr val="dk1"/>
                </a:solidFill>
                <a:latin typeface="Calibri"/>
                <a:ea typeface="Calibri"/>
                <a:cs typeface="Calibri"/>
                <a:sym typeface="Calibri"/>
              </a:rPr>
              <a:t>build</a:t>
            </a:r>
            <a:r>
              <a:rPr lang="en-US" dirty="0"/>
              <a:t>, </a:t>
            </a:r>
            <a:r>
              <a:rPr lang="en-US" sz="1200" b="0" i="0" u="none" strike="noStrike" cap="none" dirty="0">
                <a:solidFill>
                  <a:schemeClr val="dk1"/>
                </a:solidFill>
                <a:latin typeface="Calibri"/>
                <a:ea typeface="Calibri"/>
                <a:cs typeface="Calibri"/>
                <a:sym typeface="Calibri"/>
              </a:rPr>
              <a:t>install</a:t>
            </a:r>
            <a:r>
              <a:rPr lang="en-US" dirty="0"/>
              <a:t>, and </a:t>
            </a:r>
            <a:r>
              <a:rPr lang="en-US" sz="1200" b="0" i="0" u="none" strike="noStrike" cap="none" dirty="0">
                <a:solidFill>
                  <a:schemeClr val="dk1"/>
                </a:solidFill>
                <a:latin typeface="Calibri"/>
                <a:ea typeface="Calibri"/>
                <a:cs typeface="Calibri"/>
                <a:sym typeface="Calibri"/>
              </a:rPr>
              <a:t>log</a:t>
            </a:r>
            <a:r>
              <a:rPr lang="en-US" dirty="0"/>
              <a:t>.</a:t>
            </a:r>
          </a:p>
          <a:p>
            <a:r>
              <a:rPr lang="en-US" dirty="0"/>
              <a:t>The workspace lets us keep all packages for one project together.</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60112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t>
            </a:r>
            <a:r>
              <a:rPr lang="en-US" sz="1200" b="0" i="0" u="none" strike="noStrike" cap="none" dirty="0" err="1">
                <a:solidFill>
                  <a:schemeClr val="dk1"/>
                </a:solidFill>
                <a:latin typeface="Calibri"/>
                <a:ea typeface="Calibri"/>
                <a:cs typeface="Calibri"/>
                <a:sym typeface="Calibri"/>
              </a:rPr>
              <a:t>colcon</a:t>
            </a:r>
            <a:r>
              <a:rPr lang="en-US" sz="1200" b="0" i="0" u="none" strike="noStrike" cap="none" dirty="0">
                <a:solidFill>
                  <a:schemeClr val="dk1"/>
                </a:solidFill>
                <a:latin typeface="Calibri"/>
                <a:ea typeface="Calibri"/>
                <a:cs typeface="Calibri"/>
                <a:sym typeface="Calibri"/>
              </a:rPr>
              <a:t> build</a:t>
            </a:r>
            <a:r>
              <a:rPr lang="en-US" dirty="0"/>
              <a:t>.</a:t>
            </a:r>
          </a:p>
          <a:p>
            <a:r>
              <a:rPr lang="en-US" dirty="0"/>
              <a:t>When we write code in </a:t>
            </a:r>
            <a:r>
              <a:rPr lang="en-US" sz="1200" b="0" i="0" u="none" strike="noStrike" cap="none" dirty="0" err="1">
                <a:solidFill>
                  <a:schemeClr val="dk1"/>
                </a:solidFill>
                <a:latin typeface="Calibri"/>
                <a:ea typeface="Calibri"/>
                <a:cs typeface="Calibri"/>
                <a:sym typeface="Calibri"/>
              </a:rPr>
              <a:t>src</a:t>
            </a:r>
            <a:r>
              <a:rPr lang="en-US" dirty="0"/>
              <a:t>, ROS2 does not automatically know about the changes. We need to build the workspace.</a:t>
            </a:r>
          </a:p>
          <a:p>
            <a:r>
              <a:rPr lang="en-US" dirty="0"/>
              <a:t>Command:</a:t>
            </a:r>
          </a:p>
          <a:p>
            <a:pPr rtl="0"/>
            <a:r>
              <a:rPr lang="en-US" sz="1200" b="0" i="0" u="none" strike="noStrike" cap="none" dirty="0" err="1">
                <a:solidFill>
                  <a:schemeClr val="dk1"/>
                </a:solidFill>
                <a:latin typeface="Calibri"/>
                <a:ea typeface="Calibri"/>
                <a:cs typeface="Calibri"/>
                <a:sym typeface="Calibri"/>
              </a:rPr>
              <a:t>colcon</a:t>
            </a:r>
            <a:r>
              <a:rPr lang="en-US" sz="1200" b="0" i="0" u="none" strike="noStrike" cap="none" dirty="0">
                <a:solidFill>
                  <a:schemeClr val="dk1"/>
                </a:solidFill>
                <a:latin typeface="Calibri"/>
                <a:ea typeface="Calibri"/>
                <a:cs typeface="Calibri"/>
                <a:sym typeface="Calibri"/>
              </a:rPr>
              <a:t> build</a:t>
            </a:r>
          </a:p>
          <a:p>
            <a:r>
              <a:rPr lang="en-US" dirty="0"/>
              <a:t>This creates:</a:t>
            </a:r>
          </a:p>
          <a:p>
            <a:pPr rtl="0"/>
            <a:r>
              <a:rPr lang="en-US" sz="1200" b="0" i="0" u="none" strike="noStrike" cap="none" dirty="0">
                <a:solidFill>
                  <a:schemeClr val="dk1"/>
                </a:solidFill>
                <a:latin typeface="Calibri"/>
                <a:ea typeface="Calibri"/>
                <a:cs typeface="Calibri"/>
                <a:sym typeface="Calibri"/>
              </a:rPr>
              <a:t>build/</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install/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log/</a:t>
            </a:r>
          </a:p>
          <a:p>
            <a:r>
              <a:rPr lang="en-US" dirty="0"/>
              <a:t>Important:</a:t>
            </a:r>
          </a:p>
          <a:p>
            <a:pPr rtl="0"/>
            <a:r>
              <a:rPr lang="en-US" sz="1200" b="0" i="0" u="none" strike="noStrike" cap="none" dirty="0" err="1">
                <a:solidFill>
                  <a:schemeClr val="dk1"/>
                </a:solidFill>
                <a:latin typeface="Calibri"/>
                <a:ea typeface="Calibri"/>
                <a:cs typeface="Calibri"/>
                <a:sym typeface="Calibri"/>
              </a:rPr>
              <a:t>src</a:t>
            </a:r>
            <a:r>
              <a:rPr lang="en-US" sz="1200" b="0" i="0" u="none" strike="noStrike" cap="none" dirty="0">
                <a:solidFill>
                  <a:schemeClr val="dk1"/>
                </a:solidFill>
                <a:latin typeface="Calibri"/>
                <a:ea typeface="Calibri"/>
                <a:cs typeface="Calibri"/>
                <a:sym typeface="Calibri"/>
              </a:rPr>
              <a:t> = source code we edit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install = built version ROS2 actually runs</a:t>
            </a:r>
          </a:p>
          <a:p>
            <a:r>
              <a:rPr lang="en-US" dirty="0"/>
              <a:t>That is why we rebuild after changing code.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488438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ROS2 usually runs code from the </a:t>
            </a:r>
            <a:r>
              <a:rPr lang="en-US" sz="1200" b="0" i="0" u="none" strike="noStrike" cap="none" dirty="0">
                <a:solidFill>
                  <a:schemeClr val="dk1"/>
                </a:solidFill>
                <a:latin typeface="Calibri"/>
                <a:ea typeface="Calibri"/>
                <a:cs typeface="Calibri"/>
                <a:sym typeface="Calibri"/>
              </a:rPr>
              <a:t>install</a:t>
            </a:r>
            <a:r>
              <a:rPr lang="en-US" dirty="0"/>
              <a:t> directory. So changing a Python file in </a:t>
            </a:r>
            <a:r>
              <a:rPr lang="en-US" sz="1200" b="0" i="0" u="none" strike="noStrike" cap="none" dirty="0" err="1">
                <a:solidFill>
                  <a:schemeClr val="dk1"/>
                </a:solidFill>
                <a:latin typeface="Calibri"/>
                <a:ea typeface="Calibri"/>
                <a:cs typeface="Calibri"/>
                <a:sym typeface="Calibri"/>
              </a:rPr>
              <a:t>src</a:t>
            </a:r>
            <a:r>
              <a:rPr lang="en-US" dirty="0"/>
              <a:t> may not affect runtime unless we rebuild or use </a:t>
            </a:r>
            <a:r>
              <a:rPr lang="en-US" sz="1200" b="0" i="0" u="none" strike="noStrike" cap="none" dirty="0">
                <a:solidFill>
                  <a:schemeClr val="dk1"/>
                </a:solidFill>
                <a:latin typeface="Calibri"/>
                <a:ea typeface="Calibri"/>
                <a:cs typeface="Calibri"/>
                <a:sym typeface="Calibri"/>
              </a:rPr>
              <a:t>--</a:t>
            </a:r>
            <a:r>
              <a:rPr lang="en-US" sz="1200" b="0" i="0" u="none" strike="noStrike" cap="none" dirty="0" err="1">
                <a:solidFill>
                  <a:schemeClr val="dk1"/>
                </a:solidFill>
                <a:latin typeface="Calibri"/>
                <a:ea typeface="Calibri"/>
                <a:cs typeface="Calibri"/>
                <a:sym typeface="Calibri"/>
              </a:rPr>
              <a:t>symlink</a:t>
            </a:r>
            <a:r>
              <a:rPr lang="en-US" sz="1200" b="0" i="0" u="none" strike="noStrike" cap="none" dirty="0">
                <a:solidFill>
                  <a:schemeClr val="dk1"/>
                </a:solidFill>
                <a:latin typeface="Calibri"/>
                <a:ea typeface="Calibri"/>
                <a:cs typeface="Calibri"/>
                <a:sym typeface="Calibri"/>
              </a:rPr>
              <a:t>-install</a:t>
            </a:r>
            <a:r>
              <a:rPr lang="en-US" dirty="0"/>
              <a:t>.</a:t>
            </a:r>
          </a:p>
          <a:p>
            <a:r>
              <a:rPr lang="en-US" dirty="0"/>
              <a:t>Command:</a:t>
            </a:r>
          </a:p>
          <a:p>
            <a:pPr rtl="0"/>
            <a:r>
              <a:rPr lang="en-US" sz="1200" b="0" i="0" u="none" strike="noStrike" cap="none" dirty="0" err="1">
                <a:solidFill>
                  <a:schemeClr val="dk1"/>
                </a:solidFill>
                <a:latin typeface="Calibri"/>
                <a:ea typeface="Calibri"/>
                <a:cs typeface="Calibri"/>
                <a:sym typeface="Calibri"/>
              </a:rPr>
              <a:t>colcon</a:t>
            </a:r>
            <a:r>
              <a:rPr lang="en-US" sz="1200" b="0" i="0" u="none" strike="noStrike" cap="none" dirty="0">
                <a:solidFill>
                  <a:schemeClr val="dk1"/>
                </a:solidFill>
                <a:latin typeface="Calibri"/>
                <a:ea typeface="Calibri"/>
                <a:cs typeface="Calibri"/>
                <a:sym typeface="Calibri"/>
              </a:rPr>
              <a:t> build --</a:t>
            </a:r>
            <a:r>
              <a:rPr lang="en-US" sz="1200" b="0" i="0" u="none" strike="noStrike" cap="none" dirty="0" err="1">
                <a:solidFill>
                  <a:schemeClr val="dk1"/>
                </a:solidFill>
                <a:latin typeface="Calibri"/>
                <a:ea typeface="Calibri"/>
                <a:cs typeface="Calibri"/>
                <a:sym typeface="Calibri"/>
              </a:rPr>
              <a:t>symlink</a:t>
            </a:r>
            <a:r>
              <a:rPr lang="en-US" sz="1200" b="0" i="0" u="none" strike="noStrike" cap="none" dirty="0">
                <a:solidFill>
                  <a:schemeClr val="dk1"/>
                </a:solidFill>
                <a:latin typeface="Calibri"/>
                <a:ea typeface="Calibri"/>
                <a:cs typeface="Calibri"/>
                <a:sym typeface="Calibri"/>
              </a:rPr>
              <a:t>-install</a:t>
            </a:r>
          </a:p>
          <a:p>
            <a:r>
              <a:rPr lang="en-US" dirty="0"/>
              <a:t>This is useful for Python because edits are reflected more easily.</a:t>
            </a:r>
          </a:p>
          <a:p>
            <a:r>
              <a:rPr lang="en-US" dirty="0"/>
              <a:t>Also emphasize:</a:t>
            </a:r>
          </a:p>
          <a:p>
            <a:r>
              <a:rPr lang="en-US" dirty="0"/>
              <a:t>Do not create a workspace inside another workspace.</a:t>
            </a:r>
          </a:p>
          <a:p>
            <a:r>
              <a:rPr lang="en-US" dirty="0"/>
              <a:t>Nested workspaces can cause confusing build and sourcing problems.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64246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create the workspace.</a:t>
            </a:r>
          </a:p>
          <a:p>
            <a:r>
              <a:rPr lang="en-US" dirty="0"/>
              <a:t>Use:</a:t>
            </a:r>
          </a:p>
          <a:p>
            <a:pPr rtl="0"/>
            <a:r>
              <a:rPr lang="en-US" sz="1200" b="0" i="0" u="none" strike="noStrike" cap="none" dirty="0" err="1">
                <a:solidFill>
                  <a:schemeClr val="dk1"/>
                </a:solidFill>
                <a:latin typeface="Calibri"/>
                <a:ea typeface="Calibri"/>
                <a:cs typeface="Calibri"/>
                <a:sym typeface="Calibri"/>
              </a:rPr>
              <a:t>mkdir</a:t>
            </a:r>
            <a:r>
              <a:rPr lang="en-US" sz="1200" b="0" i="0" u="none" strike="noStrike" cap="none" dirty="0">
                <a:solidFill>
                  <a:schemeClr val="dk1"/>
                </a:solidFill>
                <a:latin typeface="Calibri"/>
                <a:ea typeface="Calibri"/>
                <a:cs typeface="Calibri"/>
                <a:sym typeface="Calibri"/>
              </a:rPr>
              <a:t> -p ~/me640_ws/</a:t>
            </a:r>
            <a:r>
              <a:rPr lang="en-US" sz="1200" b="0" i="0" u="none" strike="noStrike" cap="none" dirty="0" err="1">
                <a:solidFill>
                  <a:schemeClr val="dk1"/>
                </a:solidFill>
                <a:latin typeface="Calibri"/>
                <a:ea typeface="Calibri"/>
                <a:cs typeface="Calibri"/>
                <a:sym typeface="Calibri"/>
              </a:rPr>
              <a:t>src</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cd ~/me640_ws</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colcon</a:t>
            </a:r>
            <a:r>
              <a:rPr lang="en-US" sz="1200" b="0" i="0" u="none" strike="noStrike" cap="none" dirty="0">
                <a:solidFill>
                  <a:schemeClr val="dk1"/>
                </a:solidFill>
                <a:latin typeface="Calibri"/>
                <a:ea typeface="Calibri"/>
                <a:cs typeface="Calibri"/>
                <a:sym typeface="Calibri"/>
              </a:rPr>
              <a:t> build</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source install/</a:t>
            </a:r>
            <a:r>
              <a:rPr lang="en-US" sz="1200" b="0" i="0" u="none" strike="noStrike" cap="none" dirty="0" err="1">
                <a:solidFill>
                  <a:schemeClr val="dk1"/>
                </a:solidFill>
                <a:latin typeface="Calibri"/>
                <a:ea typeface="Calibri"/>
                <a:cs typeface="Calibri"/>
                <a:sym typeface="Calibri"/>
              </a:rPr>
              <a:t>setup.bash</a:t>
            </a:r>
            <a:endParaRPr lang="en-US" sz="1200" b="0" i="0" u="none" strike="noStrike" cap="none" dirty="0">
              <a:solidFill>
                <a:schemeClr val="dk1"/>
              </a:solidFill>
              <a:latin typeface="Calibri"/>
              <a:ea typeface="Calibri"/>
              <a:cs typeface="Calibri"/>
              <a:sym typeface="Calibri"/>
            </a:endParaRPr>
          </a:p>
          <a:p>
            <a:r>
              <a:rPr lang="en-US" dirty="0"/>
              <a:t>Explain each command:</a:t>
            </a:r>
          </a:p>
          <a:p>
            <a:pPr rtl="0"/>
            <a:r>
              <a:rPr lang="en-US" sz="1200" b="0" i="0" u="none" strike="noStrike" cap="none" dirty="0" err="1">
                <a:solidFill>
                  <a:schemeClr val="dk1"/>
                </a:solidFill>
                <a:latin typeface="Calibri"/>
                <a:ea typeface="Calibri"/>
                <a:cs typeface="Calibri"/>
                <a:sym typeface="Calibri"/>
              </a:rPr>
              <a:t>mkdir</a:t>
            </a:r>
            <a:r>
              <a:rPr lang="en-US" sz="1200" b="0" i="0" u="none" strike="noStrike" cap="none" dirty="0">
                <a:solidFill>
                  <a:schemeClr val="dk1"/>
                </a:solidFill>
                <a:latin typeface="Calibri"/>
                <a:ea typeface="Calibri"/>
                <a:cs typeface="Calibri"/>
                <a:sym typeface="Calibri"/>
              </a:rPr>
              <a:t> -p creates the workspace and </a:t>
            </a:r>
            <a:r>
              <a:rPr lang="en-US" sz="1200" b="0" i="0" u="none" strike="noStrike" cap="none" dirty="0" err="1">
                <a:solidFill>
                  <a:schemeClr val="dk1"/>
                </a:solidFill>
                <a:latin typeface="Calibri"/>
                <a:ea typeface="Calibri"/>
                <a:cs typeface="Calibri"/>
                <a:sym typeface="Calibri"/>
              </a:rPr>
              <a:t>src</a:t>
            </a:r>
            <a:r>
              <a:rPr lang="en-US" sz="1200" b="0" i="0" u="none" strike="noStrike" cap="none" dirty="0">
                <a:solidFill>
                  <a:schemeClr val="dk1"/>
                </a:solidFill>
                <a:latin typeface="Calibri"/>
                <a:ea typeface="Calibri"/>
                <a:cs typeface="Calibri"/>
                <a:sym typeface="Calibri"/>
              </a:rPr>
              <a:t> folder.</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cd moves into the workspace.</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colcon</a:t>
            </a:r>
            <a:r>
              <a:rPr lang="en-US" sz="1200" b="0" i="0" u="none" strike="noStrike" cap="none" dirty="0">
                <a:solidFill>
                  <a:schemeClr val="dk1"/>
                </a:solidFill>
                <a:latin typeface="Calibri"/>
                <a:ea typeface="Calibri"/>
                <a:cs typeface="Calibri"/>
                <a:sym typeface="Calibri"/>
              </a:rPr>
              <a:t> build builds the workspace.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source install/</a:t>
            </a:r>
            <a:r>
              <a:rPr lang="en-US" sz="1200" b="0" i="0" u="none" strike="noStrike" cap="none" dirty="0" err="1">
                <a:solidFill>
                  <a:schemeClr val="dk1"/>
                </a:solidFill>
                <a:latin typeface="Calibri"/>
                <a:ea typeface="Calibri"/>
                <a:cs typeface="Calibri"/>
                <a:sym typeface="Calibri"/>
              </a:rPr>
              <a:t>setup.bash</a:t>
            </a:r>
            <a:r>
              <a:rPr lang="en-US" sz="1200" b="0" i="0" u="none" strike="noStrike" cap="none" dirty="0">
                <a:solidFill>
                  <a:schemeClr val="dk1"/>
                </a:solidFill>
                <a:latin typeface="Calibri"/>
                <a:ea typeface="Calibri"/>
                <a:cs typeface="Calibri"/>
                <a:sym typeface="Calibri"/>
              </a:rPr>
              <a:t> tells the terminal about this workspace.</a:t>
            </a:r>
          </a:p>
          <a:p>
            <a:r>
              <a:rPr lang="en-US" dirty="0"/>
              <a:t>Optional:</a:t>
            </a:r>
          </a:p>
          <a:p>
            <a:pPr rtl="0"/>
            <a:r>
              <a:rPr lang="en-US" sz="1200" b="0" i="0" u="none" strike="noStrike" cap="none" dirty="0">
                <a:solidFill>
                  <a:schemeClr val="dk1"/>
                </a:solidFill>
                <a:latin typeface="Calibri"/>
                <a:ea typeface="Calibri"/>
                <a:cs typeface="Calibri"/>
                <a:sym typeface="Calibri"/>
              </a:rPr>
              <a:t>echo "source ~/me640_ws/install/</a:t>
            </a:r>
            <a:r>
              <a:rPr lang="en-US" sz="1200" b="0" i="0" u="none" strike="noStrike" cap="none" dirty="0" err="1">
                <a:solidFill>
                  <a:schemeClr val="dk1"/>
                </a:solidFill>
                <a:latin typeface="Calibri"/>
                <a:ea typeface="Calibri"/>
                <a:cs typeface="Calibri"/>
                <a:sym typeface="Calibri"/>
              </a:rPr>
              <a:t>setup.bash</a:t>
            </a:r>
            <a:r>
              <a:rPr lang="en-US" sz="1200" b="0" i="0" u="none" strike="noStrike" cap="none" dirty="0">
                <a:solidFill>
                  <a:schemeClr val="dk1"/>
                </a:solidFill>
                <a:latin typeface="Calibri"/>
                <a:ea typeface="Calibri"/>
                <a:cs typeface="Calibri"/>
                <a:sym typeface="Calibri"/>
              </a:rPr>
              <a:t>" &gt;&gt; ~/.</a:t>
            </a:r>
            <a:r>
              <a:rPr lang="en-US" sz="1200" b="0" i="0" u="none" strike="noStrike" cap="none" dirty="0" err="1">
                <a:solidFill>
                  <a:schemeClr val="dk1"/>
                </a:solidFill>
                <a:latin typeface="Calibri"/>
                <a:ea typeface="Calibri"/>
                <a:cs typeface="Calibri"/>
                <a:sym typeface="Calibri"/>
              </a:rPr>
              <a:t>bashrc</a:t>
            </a:r>
            <a:endParaRPr lang="en-US" sz="1200" b="0" i="0" u="none" strike="noStrike" cap="none" dirty="0">
              <a:solidFill>
                <a:schemeClr val="dk1"/>
              </a:solidFill>
              <a:latin typeface="Calibri"/>
              <a:ea typeface="Calibri"/>
              <a:cs typeface="Calibri"/>
              <a:sym typeface="Calibri"/>
            </a:endParaRPr>
          </a:p>
          <a:p>
            <a:r>
              <a:rPr lang="en-US" dirty="0"/>
              <a:t>This automatically sources the workspace in new terminals.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235797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Python packages, important files/folders include:</a:t>
            </a:r>
          </a:p>
          <a:p>
            <a:pPr rtl="0"/>
            <a:r>
              <a:rPr lang="en-US" sz="1200" b="0" i="0" u="none" strike="noStrike" cap="none" dirty="0">
                <a:solidFill>
                  <a:schemeClr val="dk1"/>
                </a:solidFill>
                <a:latin typeface="Calibri"/>
                <a:ea typeface="Calibri"/>
                <a:cs typeface="Calibri"/>
                <a:sym typeface="Calibri"/>
              </a:rPr>
              <a:t>package.xml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setup.py</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package_name</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launch/</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config/</a:t>
            </a:r>
          </a:p>
          <a:p>
            <a:r>
              <a:rPr lang="en-US" dirty="0"/>
              <a:t>For C++ packages, you may also see:</a:t>
            </a:r>
          </a:p>
          <a:p>
            <a:pPr rtl="0"/>
            <a:r>
              <a:rPr lang="en-US" sz="1200" b="0" i="0" u="none" strike="noStrike" cap="none" dirty="0" err="1">
                <a:solidFill>
                  <a:schemeClr val="dk1"/>
                </a:solidFill>
                <a:latin typeface="Calibri"/>
                <a:ea typeface="Calibri"/>
                <a:cs typeface="Calibri"/>
                <a:sym typeface="Calibri"/>
              </a:rPr>
              <a:t>src</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include/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CMakeLists.txt</a:t>
            </a:r>
          </a:p>
          <a:p>
            <a:r>
              <a:rPr lang="en-US" dirty="0"/>
              <a:t>Explain:</a:t>
            </a:r>
          </a:p>
          <a:p>
            <a:pPr rtl="0"/>
            <a:r>
              <a:rPr lang="en-US" sz="1200" b="0" i="0" u="none" strike="noStrike" cap="none" dirty="0">
                <a:solidFill>
                  <a:schemeClr val="dk1"/>
                </a:solidFill>
                <a:latin typeface="Calibri"/>
                <a:ea typeface="Calibri"/>
                <a:cs typeface="Calibri"/>
                <a:sym typeface="Calibri"/>
              </a:rPr>
              <a:t>package.xml = dependency and metadata information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setup.py = Python package installation settings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launch = files to start multiple nodes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config = parameter files</a:t>
            </a:r>
          </a:p>
          <a:p>
            <a:r>
              <a:rPr lang="en-US" dirty="0"/>
              <a:t>Students do not need to memorize everything now. They just need to recognize the package structure.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38567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create a Python package.</a:t>
            </a:r>
          </a:p>
          <a:p>
            <a:r>
              <a:rPr lang="en-US" dirty="0"/>
              <a:t>Use:</a:t>
            </a:r>
          </a:p>
          <a:p>
            <a:pPr rtl="0"/>
            <a:r>
              <a:rPr lang="en-US" sz="1200" b="0" i="0" u="none" strike="noStrike" cap="none" dirty="0">
                <a:solidFill>
                  <a:schemeClr val="dk1"/>
                </a:solidFill>
                <a:latin typeface="Calibri"/>
                <a:ea typeface="Calibri"/>
                <a:cs typeface="Calibri"/>
                <a:sym typeface="Calibri"/>
              </a:rPr>
              <a:t>cd ~/me640_ws/</a:t>
            </a:r>
            <a:r>
              <a:rPr lang="en-US" sz="1200" b="0" i="0" u="none" strike="noStrike" cap="none" dirty="0" err="1">
                <a:solidFill>
                  <a:schemeClr val="dk1"/>
                </a:solidFill>
                <a:latin typeface="Calibri"/>
                <a:ea typeface="Calibri"/>
                <a:cs typeface="Calibri"/>
                <a:sym typeface="Calibri"/>
              </a:rPr>
              <a:t>src</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ros2 pkg create --build-type </a:t>
            </a:r>
            <a:r>
              <a:rPr lang="en-US" sz="1200" b="0" i="0" u="none" strike="noStrike" cap="none" dirty="0" err="1">
                <a:solidFill>
                  <a:schemeClr val="dk1"/>
                </a:solidFill>
                <a:latin typeface="Calibri"/>
                <a:ea typeface="Calibri"/>
                <a:cs typeface="Calibri"/>
                <a:sym typeface="Calibri"/>
              </a:rPr>
              <a:t>ament_python</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turtlesim_control</a:t>
            </a:r>
            <a:r>
              <a:rPr lang="en-US" sz="1200" b="0" i="0" u="none" strike="noStrike" cap="none" dirty="0">
                <a:solidFill>
                  <a:schemeClr val="dk1"/>
                </a:solidFill>
                <a:latin typeface="Calibri"/>
                <a:ea typeface="Calibri"/>
                <a:cs typeface="Calibri"/>
                <a:sym typeface="Calibri"/>
              </a:rPr>
              <a:t> --dependencies </a:t>
            </a:r>
            <a:r>
              <a:rPr lang="en-US" sz="1200" b="0" i="0" u="none" strike="noStrike" cap="none" dirty="0" err="1">
                <a:solidFill>
                  <a:schemeClr val="dk1"/>
                </a:solidFill>
                <a:latin typeface="Calibri"/>
                <a:ea typeface="Calibri"/>
                <a:cs typeface="Calibri"/>
                <a:sym typeface="Calibri"/>
              </a:rPr>
              <a:t>rclpy</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geometry_msgs</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turtlesim</a:t>
            </a:r>
            <a:endParaRPr lang="en-US" sz="1200" b="0" i="0" u="none" strike="noStrike" cap="none" dirty="0">
              <a:solidFill>
                <a:schemeClr val="dk1"/>
              </a:solidFill>
              <a:latin typeface="Calibri"/>
              <a:ea typeface="Calibri"/>
              <a:cs typeface="Calibri"/>
              <a:sym typeface="Calibri"/>
            </a:endParaRPr>
          </a:p>
          <a:p>
            <a:r>
              <a:rPr lang="en-US" dirty="0"/>
              <a:t>Explain:</a:t>
            </a:r>
          </a:p>
          <a:p>
            <a:pPr rtl="0"/>
            <a:r>
              <a:rPr lang="en-US" sz="1200" b="0" i="0" u="none" strike="noStrike" cap="none" dirty="0">
                <a:solidFill>
                  <a:schemeClr val="dk1"/>
                </a:solidFill>
                <a:latin typeface="Calibri"/>
                <a:ea typeface="Calibri"/>
                <a:cs typeface="Calibri"/>
                <a:sym typeface="Calibri"/>
              </a:rPr>
              <a:t>ros2 pkg create = create new package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--build-type </a:t>
            </a:r>
            <a:r>
              <a:rPr lang="en-US" sz="1200" b="0" i="0" u="none" strike="noStrike" cap="none" dirty="0" err="1">
                <a:solidFill>
                  <a:schemeClr val="dk1"/>
                </a:solidFill>
                <a:latin typeface="Calibri"/>
                <a:ea typeface="Calibri"/>
                <a:cs typeface="Calibri"/>
                <a:sym typeface="Calibri"/>
              </a:rPr>
              <a:t>ament_python</a:t>
            </a:r>
            <a:r>
              <a:rPr lang="en-US" sz="1200" b="0" i="0" u="none" strike="noStrike" cap="none" dirty="0">
                <a:solidFill>
                  <a:schemeClr val="dk1"/>
                </a:solidFill>
                <a:latin typeface="Calibri"/>
                <a:ea typeface="Calibri"/>
                <a:cs typeface="Calibri"/>
                <a:sym typeface="Calibri"/>
              </a:rPr>
              <a:t> = Python package</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turtlesim_control</a:t>
            </a:r>
            <a:r>
              <a:rPr lang="en-US" sz="1200" b="0" i="0" u="none" strike="noStrike" cap="none" dirty="0">
                <a:solidFill>
                  <a:schemeClr val="dk1"/>
                </a:solidFill>
                <a:latin typeface="Calibri"/>
                <a:ea typeface="Calibri"/>
                <a:cs typeface="Calibri"/>
                <a:sym typeface="Calibri"/>
              </a:rPr>
              <a:t> = package name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--dependencies = packages this code needs</a:t>
            </a:r>
          </a:p>
          <a:p>
            <a:r>
              <a:rPr lang="en-US" dirty="0"/>
              <a:t>Then build:</a:t>
            </a:r>
          </a:p>
          <a:p>
            <a:pPr rtl="0"/>
            <a:r>
              <a:rPr lang="en-US" sz="1200" b="0" i="0" u="none" strike="noStrike" cap="none" dirty="0">
                <a:solidFill>
                  <a:schemeClr val="dk1"/>
                </a:solidFill>
                <a:latin typeface="Calibri"/>
                <a:ea typeface="Calibri"/>
                <a:cs typeface="Calibri"/>
                <a:sym typeface="Calibri"/>
              </a:rPr>
              <a:t>cd ~/me640_ws</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colcon</a:t>
            </a:r>
            <a:r>
              <a:rPr lang="en-US" sz="1200" b="0" i="0" u="none" strike="noStrike" cap="none" dirty="0">
                <a:solidFill>
                  <a:schemeClr val="dk1"/>
                </a:solidFill>
                <a:latin typeface="Calibri"/>
                <a:ea typeface="Calibri"/>
                <a:cs typeface="Calibri"/>
                <a:sym typeface="Calibri"/>
              </a:rPr>
              <a:t> build --packages-select </a:t>
            </a:r>
            <a:r>
              <a:rPr lang="en-US" sz="1200" b="0" i="0" u="none" strike="noStrike" cap="none" dirty="0" err="1">
                <a:solidFill>
                  <a:schemeClr val="dk1"/>
                </a:solidFill>
                <a:latin typeface="Calibri"/>
                <a:ea typeface="Calibri"/>
                <a:cs typeface="Calibri"/>
                <a:sym typeface="Calibri"/>
              </a:rPr>
              <a:t>turtlesim_control</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symlink</a:t>
            </a:r>
            <a:r>
              <a:rPr lang="en-US" sz="1200" b="0" i="0" u="none" strike="noStrike" cap="none" dirty="0">
                <a:solidFill>
                  <a:schemeClr val="dk1"/>
                </a:solidFill>
                <a:latin typeface="Calibri"/>
                <a:ea typeface="Calibri"/>
                <a:cs typeface="Calibri"/>
                <a:sym typeface="Calibri"/>
              </a:rPr>
              <a:t>-install</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source install/</a:t>
            </a:r>
            <a:r>
              <a:rPr lang="en-US" sz="1200" b="0" i="0" u="none" strike="noStrike" cap="none" dirty="0" err="1">
                <a:solidFill>
                  <a:schemeClr val="dk1"/>
                </a:solidFill>
                <a:latin typeface="Calibri"/>
                <a:ea typeface="Calibri"/>
                <a:cs typeface="Calibri"/>
                <a:sym typeface="Calibri"/>
              </a:rPr>
              <a:t>setup.bash</a:t>
            </a:r>
            <a:endParaRPr lang="en-US" sz="1200" b="0" i="0" u="none" strike="noStrike" cap="none" dirty="0">
              <a:solidFill>
                <a:schemeClr val="dk1"/>
              </a:solidFill>
              <a:latin typeface="Calibri"/>
              <a:ea typeface="Calibri"/>
              <a:cs typeface="Calibri"/>
              <a:sym typeface="Calibri"/>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20526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general workflow.</a:t>
            </a:r>
          </a:p>
          <a:p>
            <a:r>
              <a:rPr lang="en-US" dirty="0"/>
              <a:t>For our session, we can use </a:t>
            </a:r>
            <a:r>
              <a:rPr lang="en-US" sz="1200" b="0" i="0" u="none" strike="noStrike" cap="none" dirty="0" err="1">
                <a:solidFill>
                  <a:schemeClr val="dk1"/>
                </a:solidFill>
                <a:latin typeface="Calibri"/>
                <a:ea typeface="Calibri"/>
                <a:cs typeface="Calibri"/>
                <a:sym typeface="Calibri"/>
              </a:rPr>
              <a:t>turtlesim_control</a:t>
            </a:r>
            <a:r>
              <a:rPr lang="en-US" dirty="0"/>
              <a:t> instead of </a:t>
            </a:r>
            <a:r>
              <a:rPr lang="en-US" sz="1200" b="0" i="0" u="none" strike="noStrike" cap="none" dirty="0" err="1">
                <a:solidFill>
                  <a:schemeClr val="dk1"/>
                </a:solidFill>
                <a:latin typeface="Calibri"/>
                <a:ea typeface="Calibri"/>
                <a:cs typeface="Calibri"/>
                <a:sym typeface="Calibri"/>
              </a:rPr>
              <a:t>my_first_pkg</a:t>
            </a:r>
            <a:r>
              <a:rPr lang="en-US" dirty="0"/>
              <a:t>.</a:t>
            </a:r>
          </a:p>
          <a:p>
            <a:r>
              <a:rPr lang="en-US" dirty="0"/>
              <a:t>General steps:</a:t>
            </a:r>
          </a:p>
          <a:p>
            <a:pPr rtl="0"/>
            <a:r>
              <a:rPr lang="en-US" sz="1200" b="0" i="0" u="none" strike="noStrike" cap="none" dirty="0">
                <a:solidFill>
                  <a:schemeClr val="dk1"/>
                </a:solidFill>
                <a:latin typeface="Calibri"/>
                <a:ea typeface="Calibri"/>
                <a:cs typeface="Calibri"/>
                <a:sym typeface="Calibri"/>
              </a:rPr>
              <a:t>1. Go to workspace </a:t>
            </a:r>
            <a:r>
              <a:rPr lang="en-US" sz="1200" b="0" i="0" u="none" strike="noStrike" cap="none" dirty="0" err="1">
                <a:solidFill>
                  <a:schemeClr val="dk1"/>
                </a:solidFill>
                <a:latin typeface="Calibri"/>
                <a:ea typeface="Calibri"/>
                <a:cs typeface="Calibri"/>
                <a:sym typeface="Calibri"/>
              </a:rPr>
              <a:t>src</a:t>
            </a:r>
            <a:r>
              <a:rPr lang="en-US" sz="1200" b="0" i="0" u="none" strike="noStrike" cap="none" dirty="0">
                <a:solidFill>
                  <a:schemeClr val="dk1"/>
                </a:solidFill>
                <a:latin typeface="Calibri"/>
                <a:ea typeface="Calibri"/>
                <a:cs typeface="Calibri"/>
                <a:sym typeface="Calibri"/>
              </a:rPr>
              <a:t> folder.</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2. Create package.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3. Build package.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4. Edit package files.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5. Build again.</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6. Source workspace.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7. Run node.</a:t>
            </a:r>
          </a:p>
          <a:p>
            <a:r>
              <a:rPr lang="en-US" dirty="0"/>
              <a:t>Mention:</a:t>
            </a:r>
          </a:p>
          <a:p>
            <a:r>
              <a:rPr lang="en-US" dirty="0"/>
              <a:t>In ROS2, most mistakes happen because we forget to build or forget to source the workspace.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922049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RCLPY is the ROS2 Python client library.</a:t>
            </a:r>
          </a:p>
          <a:p>
            <a:r>
              <a:rPr lang="en-US" dirty="0"/>
              <a:t>A Python node can create:</a:t>
            </a:r>
          </a:p>
          <a:p>
            <a:pPr rtl="0"/>
            <a:r>
              <a:rPr lang="en-US" sz="1200" b="0" i="0" u="none" strike="noStrike" cap="none" dirty="0">
                <a:solidFill>
                  <a:schemeClr val="dk1"/>
                </a:solidFill>
                <a:latin typeface="Calibri"/>
                <a:ea typeface="Calibri"/>
                <a:cs typeface="Calibri"/>
                <a:sym typeface="Calibri"/>
              </a:rPr>
              <a:t>publishers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subscriptions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timers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services</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clients</a:t>
            </a:r>
          </a:p>
          <a:p>
            <a:r>
              <a:rPr lang="en-US" dirty="0"/>
              <a:t>Important methods:</a:t>
            </a:r>
          </a:p>
          <a:p>
            <a:pPr rtl="0"/>
            <a:r>
              <a:rPr lang="en-US" sz="1200" b="0" i="0" u="none" strike="noStrike" cap="none" dirty="0" err="1">
                <a:solidFill>
                  <a:schemeClr val="dk1"/>
                </a:solidFill>
                <a:latin typeface="Calibri"/>
                <a:ea typeface="Calibri"/>
                <a:cs typeface="Calibri"/>
                <a:sym typeface="Calibri"/>
              </a:rPr>
              <a:t>create_publisher</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create_subscription</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create_timer</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create_service</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create_client</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err="1">
                <a:solidFill>
                  <a:schemeClr val="dk1"/>
                </a:solidFill>
                <a:latin typeface="Calibri"/>
                <a:ea typeface="Calibri"/>
                <a:cs typeface="Calibri"/>
                <a:sym typeface="Calibri"/>
              </a:rPr>
              <a:t>get_logger</a:t>
            </a:r>
            <a:r>
              <a:rPr lang="en-US" sz="1200" b="0" i="0" u="none" strike="noStrike" cap="none" dirty="0">
                <a:solidFill>
                  <a:schemeClr val="dk1"/>
                </a:solidFill>
                <a:latin typeface="Calibri"/>
                <a:ea typeface="Calibri"/>
                <a:cs typeface="Calibri"/>
                <a:sym typeface="Calibri"/>
              </a:rPr>
              <a:t>()</a:t>
            </a:r>
          </a:p>
          <a:p>
            <a:r>
              <a:rPr lang="en-US" dirty="0"/>
              <a:t>Explain:</a:t>
            </a:r>
          </a:p>
          <a:p>
            <a:r>
              <a:rPr lang="en-US" dirty="0"/>
              <a:t>A ROS2 node is not just a normal Python script. It is a Python process connected to the ROS2 communication system.</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841518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RCLPY node follows a standard structure.</a:t>
            </a:r>
          </a:p>
          <a:p>
            <a:r>
              <a:rPr lang="en-US" dirty="0"/>
              <a:t>Steps:</a:t>
            </a:r>
          </a:p>
          <a:p>
            <a:pPr rtl="0"/>
            <a:r>
              <a:rPr lang="en-US" sz="1200" b="0" i="0" u="none" strike="noStrike" cap="none" dirty="0">
                <a:solidFill>
                  <a:schemeClr val="dk1"/>
                </a:solidFill>
                <a:latin typeface="Calibri"/>
                <a:ea typeface="Calibri"/>
                <a:cs typeface="Calibri"/>
                <a:sym typeface="Calibri"/>
              </a:rPr>
              <a:t>1. Initialize ROS2 Python with </a:t>
            </a:r>
            <a:r>
              <a:rPr lang="en-US" sz="1200" b="0" i="0" u="none" strike="noStrike" cap="none" dirty="0" err="1">
                <a:solidFill>
                  <a:schemeClr val="dk1"/>
                </a:solidFill>
                <a:latin typeface="Calibri"/>
                <a:ea typeface="Calibri"/>
                <a:cs typeface="Calibri"/>
                <a:sym typeface="Calibri"/>
              </a:rPr>
              <a:t>rclpy.init</a:t>
            </a:r>
            <a:r>
              <a:rPr lang="en-US" sz="1200" b="0" i="0" u="none" strike="noStrike" cap="none" dirty="0">
                <a:solidFill>
                  <a:schemeClr val="dk1"/>
                </a:solidFill>
                <a:latin typeface="Calibri"/>
                <a:ea typeface="Calibri"/>
                <a:cs typeface="Calibri"/>
                <a:sym typeface="Calibri"/>
              </a:rPr>
              <a: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2. Create a node object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3. Spin the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4. Destroy the node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5. Shut down </a:t>
            </a:r>
            <a:r>
              <a:rPr lang="en-US" sz="1200" b="0" i="0" u="none" strike="noStrike" cap="none" dirty="0" err="1">
                <a:solidFill>
                  <a:schemeClr val="dk1"/>
                </a:solidFill>
                <a:latin typeface="Calibri"/>
                <a:ea typeface="Calibri"/>
                <a:cs typeface="Calibri"/>
                <a:sym typeface="Calibri"/>
              </a:rPr>
              <a:t>rclpy</a:t>
            </a:r>
            <a:endParaRPr lang="en-US" sz="1200" b="0" i="0" u="none" strike="noStrike" cap="none" dirty="0">
              <a:solidFill>
                <a:schemeClr val="dk1"/>
              </a:solidFill>
              <a:latin typeface="Calibri"/>
              <a:ea typeface="Calibri"/>
              <a:cs typeface="Calibri"/>
              <a:sym typeface="Calibri"/>
            </a:endParaRPr>
          </a:p>
          <a:p>
            <a:r>
              <a:rPr lang="en-US" dirty="0"/>
              <a:t>Explain </a:t>
            </a:r>
            <a:r>
              <a:rPr lang="en-US" sz="1200" b="0" i="0" u="none" strike="noStrike" cap="none" dirty="0">
                <a:solidFill>
                  <a:schemeClr val="dk1"/>
                </a:solidFill>
                <a:latin typeface="Calibri"/>
                <a:ea typeface="Calibri"/>
                <a:cs typeface="Calibri"/>
                <a:sym typeface="Calibri"/>
              </a:rPr>
              <a:t>spin</a:t>
            </a:r>
            <a:r>
              <a:rPr lang="en-US" dirty="0"/>
              <a:t>:</a:t>
            </a:r>
          </a:p>
          <a:p>
            <a:r>
              <a:rPr lang="en-US" dirty="0"/>
              <a:t>Spinning means keeping the node alive so it can process timers, subscriptions, services, and callbacks.</a:t>
            </a:r>
          </a:p>
          <a:p>
            <a:r>
              <a:rPr lang="en-US" dirty="0"/>
              <a:t>Without spinning, the node would start and immediately exit.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736615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ROS2 Python nodes are written as classes.</a:t>
            </a:r>
          </a:p>
          <a:p>
            <a:r>
              <a:rPr lang="en-US" dirty="0"/>
              <a:t>Correct import:</a:t>
            </a:r>
          </a:p>
          <a:p>
            <a:pPr rtl="0"/>
            <a:r>
              <a:rPr lang="en-US" sz="1200" b="0" i="0" u="none" strike="noStrike" cap="none" dirty="0">
                <a:solidFill>
                  <a:schemeClr val="dk1"/>
                </a:solidFill>
                <a:latin typeface="Calibri"/>
                <a:ea typeface="Calibri"/>
                <a:cs typeface="Calibri"/>
                <a:sym typeface="Calibri"/>
              </a:rPr>
              <a:t>from </a:t>
            </a:r>
            <a:r>
              <a:rPr lang="en-US" sz="1200" b="0" i="0" u="none" strike="noStrike" cap="none" dirty="0" err="1">
                <a:solidFill>
                  <a:schemeClr val="dk1"/>
                </a:solidFill>
                <a:latin typeface="Calibri"/>
                <a:ea typeface="Calibri"/>
                <a:cs typeface="Calibri"/>
                <a:sym typeface="Calibri"/>
              </a:rPr>
              <a:t>rclpy.node</a:t>
            </a:r>
            <a:r>
              <a:rPr lang="en-US" sz="1200" b="0" i="0" u="none" strike="noStrike" cap="none" dirty="0">
                <a:solidFill>
                  <a:schemeClr val="dk1"/>
                </a:solidFill>
                <a:latin typeface="Calibri"/>
                <a:ea typeface="Calibri"/>
                <a:cs typeface="Calibri"/>
                <a:sym typeface="Calibri"/>
              </a:rPr>
              <a:t> import Node</a:t>
            </a:r>
          </a:p>
          <a:p>
            <a:r>
              <a:rPr lang="en-US" dirty="0"/>
              <a:t>The class inherits from </a:t>
            </a:r>
            <a:r>
              <a:rPr lang="en-US" sz="1200" b="0" i="0" u="none" strike="noStrike" cap="none" dirty="0">
                <a:solidFill>
                  <a:schemeClr val="dk1"/>
                </a:solidFill>
                <a:latin typeface="Calibri"/>
                <a:ea typeface="Calibri"/>
                <a:cs typeface="Calibri"/>
                <a:sym typeface="Calibri"/>
              </a:rPr>
              <a:t>Node</a:t>
            </a:r>
            <a:r>
              <a:rPr lang="en-US" dirty="0"/>
              <a:t>:</a:t>
            </a:r>
          </a:p>
          <a:p>
            <a:pPr rtl="0"/>
            <a:r>
              <a:rPr lang="en-US" sz="1200" b="0" i="0" u="none" strike="noStrike" cap="none" dirty="0">
                <a:solidFill>
                  <a:schemeClr val="dk1"/>
                </a:solidFill>
                <a:latin typeface="Calibri"/>
                <a:ea typeface="Calibri"/>
                <a:cs typeface="Calibri"/>
                <a:sym typeface="Calibri"/>
              </a:rPr>
              <a:t>class </a:t>
            </a:r>
            <a:r>
              <a:rPr lang="en-US" sz="1200" b="0" i="0" u="none" strike="noStrike" cap="none" dirty="0" err="1">
                <a:solidFill>
                  <a:schemeClr val="dk1"/>
                </a:solidFill>
                <a:latin typeface="Calibri"/>
                <a:ea typeface="Calibri"/>
                <a:cs typeface="Calibri"/>
                <a:sym typeface="Calibri"/>
              </a:rPr>
              <a:t>NewNode</a:t>
            </a:r>
            <a:r>
              <a:rPr lang="en-US" sz="1200" b="0" i="0" u="none" strike="noStrike" cap="none" dirty="0">
                <a:solidFill>
                  <a:schemeClr val="dk1"/>
                </a:solidFill>
                <a:latin typeface="Calibri"/>
                <a:ea typeface="Calibri"/>
                <a:cs typeface="Calibri"/>
                <a:sym typeface="Calibri"/>
              </a:rPr>
              <a:t>(Node):</a:t>
            </a:r>
          </a:p>
          <a:p>
            <a:r>
              <a:rPr lang="en-US" dirty="0"/>
              <a:t>Inside the constructor:</a:t>
            </a:r>
          </a:p>
          <a:p>
            <a:pPr rtl="0"/>
            <a:r>
              <a:rPr lang="en-US" sz="1200" b="0" i="0" u="none" strike="noStrike" cap="none" dirty="0">
                <a:solidFill>
                  <a:schemeClr val="dk1"/>
                </a:solidFill>
                <a:latin typeface="Calibri"/>
                <a:ea typeface="Calibri"/>
                <a:cs typeface="Calibri"/>
                <a:sym typeface="Calibri"/>
              </a:rPr>
              <a:t>super().__</a:t>
            </a:r>
            <a:r>
              <a:rPr lang="en-US" sz="1200" b="0" i="0" u="none" strike="noStrike" cap="none" dirty="0" err="1">
                <a:solidFill>
                  <a:schemeClr val="dk1"/>
                </a:solidFill>
                <a:latin typeface="Calibri"/>
                <a:ea typeface="Calibri"/>
                <a:cs typeface="Calibri"/>
                <a:sym typeface="Calibri"/>
              </a:rPr>
              <a:t>init</a:t>
            </a:r>
            <a:r>
              <a:rPr lang="en-US" sz="1200" b="0" i="0" u="none" strike="noStrike" cap="none" dirty="0">
                <a:solidFill>
                  <a:schemeClr val="dk1"/>
                </a:solidFill>
                <a:latin typeface="Calibri"/>
                <a:ea typeface="Calibri"/>
                <a:cs typeface="Calibri"/>
                <a:sym typeface="Calibri"/>
              </a:rPr>
              <a:t>__('</a:t>
            </a:r>
            <a:r>
              <a:rPr lang="en-US" sz="1200" b="0" i="0" u="none" strike="noStrike" cap="none" dirty="0" err="1">
                <a:solidFill>
                  <a:schemeClr val="dk1"/>
                </a:solidFill>
                <a:latin typeface="Calibri"/>
                <a:ea typeface="Calibri"/>
                <a:cs typeface="Calibri"/>
                <a:sym typeface="Calibri"/>
              </a:rPr>
              <a:t>node_name</a:t>
            </a:r>
            <a:r>
              <a:rPr lang="en-US" sz="1200" b="0" i="0" u="none" strike="noStrike" cap="none" dirty="0">
                <a:solidFill>
                  <a:schemeClr val="dk1"/>
                </a:solidFill>
                <a:latin typeface="Calibri"/>
                <a:ea typeface="Calibri"/>
                <a:cs typeface="Calibri"/>
                <a:sym typeface="Calibri"/>
              </a:rPr>
              <a:t>')</a:t>
            </a:r>
          </a:p>
          <a:p>
            <a:r>
              <a:rPr lang="en-US" dirty="0"/>
              <a:t>This gives the ROS2 node its name.</a:t>
            </a:r>
          </a:p>
          <a:p>
            <a:r>
              <a:rPr lang="en-US" dirty="0"/>
              <a:t>Then:</a:t>
            </a:r>
          </a:p>
          <a:p>
            <a:pPr rtl="0"/>
            <a:r>
              <a:rPr lang="en-US" sz="1200" b="0" i="0" u="none" strike="noStrike" cap="none" dirty="0" err="1">
                <a:solidFill>
                  <a:schemeClr val="dk1"/>
                </a:solidFill>
                <a:latin typeface="Calibri"/>
                <a:ea typeface="Calibri"/>
                <a:cs typeface="Calibri"/>
                <a:sym typeface="Calibri"/>
              </a:rPr>
              <a:t>rclpy.spin</a:t>
            </a:r>
            <a:r>
              <a:rPr lang="en-US" sz="1200" b="0" i="0" u="none" strike="noStrike" cap="none" dirty="0">
                <a:solidFill>
                  <a:schemeClr val="dk1"/>
                </a:solidFill>
                <a:latin typeface="Calibri"/>
                <a:ea typeface="Calibri"/>
                <a:cs typeface="Calibri"/>
                <a:sym typeface="Calibri"/>
              </a:rPr>
              <a:t>(node)</a:t>
            </a:r>
          </a:p>
          <a:p>
            <a:r>
              <a:rPr lang="en-US" dirty="0"/>
              <a:t>keeps the node running.</a:t>
            </a:r>
          </a:p>
          <a:p>
            <a:r>
              <a:rPr lang="en-US" dirty="0"/>
              <a:t>Explain:</a:t>
            </a:r>
          </a:p>
          <a:p>
            <a:r>
              <a:rPr lang="en-US" dirty="0"/>
              <a:t>We use class-based programming because the node often needs to remember internal variables, publishers, subscribers, and timers.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566187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 runs a callback repeatedly.</a:t>
            </a:r>
          </a:p>
          <a:p>
            <a:r>
              <a:rPr lang="en-US" dirty="0"/>
              <a:t>Example:</a:t>
            </a:r>
          </a:p>
          <a:p>
            <a:pPr rtl="0"/>
            <a:r>
              <a:rPr lang="en-US" sz="1200" b="0" i="0" u="none" strike="noStrike" cap="none" dirty="0" err="1">
                <a:solidFill>
                  <a:schemeClr val="dk1"/>
                </a:solidFill>
                <a:latin typeface="Calibri"/>
                <a:ea typeface="Calibri"/>
                <a:cs typeface="Calibri"/>
                <a:sym typeface="Calibri"/>
              </a:rPr>
              <a:t>self.create_timer</a:t>
            </a:r>
            <a:r>
              <a:rPr lang="en-US" sz="1200" b="0" i="0" u="none" strike="noStrike" cap="none" dirty="0">
                <a:solidFill>
                  <a:schemeClr val="dk1"/>
                </a:solidFill>
                <a:latin typeface="Calibri"/>
                <a:ea typeface="Calibri"/>
                <a:cs typeface="Calibri"/>
                <a:sym typeface="Calibri"/>
              </a:rPr>
              <a:t>(1.0, </a:t>
            </a:r>
            <a:r>
              <a:rPr lang="en-US" sz="1200" b="0" i="0" u="none" strike="noStrike" cap="none" dirty="0" err="1">
                <a:solidFill>
                  <a:schemeClr val="dk1"/>
                </a:solidFill>
                <a:latin typeface="Calibri"/>
                <a:ea typeface="Calibri"/>
                <a:cs typeface="Calibri"/>
                <a:sym typeface="Calibri"/>
              </a:rPr>
              <a:t>timer_callback</a:t>
            </a:r>
            <a:r>
              <a:rPr lang="en-US" sz="1200" b="0" i="0" u="none" strike="noStrike" cap="none" dirty="0">
                <a:solidFill>
                  <a:schemeClr val="dk1"/>
                </a:solidFill>
                <a:latin typeface="Calibri"/>
                <a:ea typeface="Calibri"/>
                <a:cs typeface="Calibri"/>
                <a:sym typeface="Calibri"/>
              </a:rPr>
              <a:t>)</a:t>
            </a:r>
          </a:p>
          <a:p>
            <a:r>
              <a:rPr lang="en-US" dirty="0"/>
              <a:t>means call </a:t>
            </a:r>
            <a:r>
              <a:rPr lang="en-US" sz="1200" b="0" i="0" u="none" strike="noStrike" cap="none" dirty="0" err="1">
                <a:solidFill>
                  <a:schemeClr val="dk1"/>
                </a:solidFill>
                <a:latin typeface="Calibri"/>
                <a:ea typeface="Calibri"/>
                <a:cs typeface="Calibri"/>
                <a:sym typeface="Calibri"/>
              </a:rPr>
              <a:t>timer_callback</a:t>
            </a:r>
            <a:r>
              <a:rPr lang="en-US" dirty="0"/>
              <a:t> every 1 second.</a:t>
            </a:r>
          </a:p>
          <a:p>
            <a:r>
              <a:rPr lang="en-US" dirty="0"/>
              <a:t>A timer is useful when we want a node to do something periodically, such as:</a:t>
            </a:r>
          </a:p>
          <a:p>
            <a:pPr rtl="0"/>
            <a:r>
              <a:rPr lang="en-US" sz="1200" b="0" i="0" u="none" strike="noStrike" cap="none" dirty="0">
                <a:solidFill>
                  <a:schemeClr val="dk1"/>
                </a:solidFill>
                <a:latin typeface="Calibri"/>
                <a:ea typeface="Calibri"/>
                <a:cs typeface="Calibri"/>
                <a:sym typeface="Calibri"/>
              </a:rPr>
              <a:t>publish velocity at 10 Hz</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check sensor state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update controller output</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print diagnostic information</a:t>
            </a:r>
          </a:p>
          <a:p>
            <a:r>
              <a:rPr lang="en-US" dirty="0"/>
              <a:t>For control, we usually use a timer because controllers run repeatedly.</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0938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improves the previous one.</a:t>
            </a:r>
          </a:p>
          <a:p>
            <a:r>
              <a:rPr lang="en-US" dirty="0"/>
              <a:t>Instead of using an external function, we define the callback as a method of the class:</a:t>
            </a:r>
          </a:p>
          <a:p>
            <a:pPr rtl="0"/>
            <a:r>
              <a:rPr lang="en-US" sz="1200" b="0" i="0" u="none" strike="noStrike" cap="none" dirty="0" err="1">
                <a:solidFill>
                  <a:schemeClr val="dk1"/>
                </a:solidFill>
                <a:latin typeface="Calibri"/>
                <a:ea typeface="Calibri"/>
                <a:cs typeface="Calibri"/>
                <a:sym typeface="Calibri"/>
              </a:rPr>
              <a:t>self.timer_callback</a:t>
            </a:r>
            <a:endParaRPr lang="en-US" sz="1200" b="0" i="0" u="none" strike="noStrike" cap="none" dirty="0">
              <a:solidFill>
                <a:schemeClr val="dk1"/>
              </a:solidFill>
              <a:latin typeface="Calibri"/>
              <a:ea typeface="Calibri"/>
              <a:cs typeface="Calibri"/>
              <a:sym typeface="Calibri"/>
            </a:endParaRPr>
          </a:p>
          <a:p>
            <a:r>
              <a:rPr lang="en-US" dirty="0"/>
              <a:t>This is useful because the callback can access internal variables such as:</a:t>
            </a:r>
          </a:p>
          <a:p>
            <a:pPr rtl="0"/>
            <a:r>
              <a:rPr lang="en-US" sz="1200" b="0" i="0" u="none" strike="noStrike" cap="none" dirty="0" err="1">
                <a:solidFill>
                  <a:schemeClr val="dk1"/>
                </a:solidFill>
                <a:latin typeface="Calibri"/>
                <a:ea typeface="Calibri"/>
                <a:cs typeface="Calibri"/>
                <a:sym typeface="Calibri"/>
              </a:rPr>
              <a:t>self.count</a:t>
            </a:r>
            <a:endParaRPr lang="en-US" sz="1200" b="0" i="0" u="none" strike="noStrike" cap="none" dirty="0">
              <a:solidFill>
                <a:schemeClr val="dk1"/>
              </a:solidFill>
              <a:latin typeface="Calibri"/>
              <a:ea typeface="Calibri"/>
              <a:cs typeface="Calibri"/>
              <a:sym typeface="Calibri"/>
            </a:endParaRPr>
          </a:p>
          <a:p>
            <a:r>
              <a:rPr lang="en-US" dirty="0"/>
              <a:t>Explain:</a:t>
            </a:r>
          </a:p>
          <a:p>
            <a:r>
              <a:rPr lang="en-US" dirty="0"/>
              <a:t>If we want a value to persist between callback calls, we store it as an attribute of the object using </a:t>
            </a:r>
            <a:r>
              <a:rPr lang="en-US" sz="1200" b="0" i="0" u="none" strike="noStrike" cap="none" dirty="0">
                <a:solidFill>
                  <a:schemeClr val="dk1"/>
                </a:solidFill>
                <a:latin typeface="Calibri"/>
                <a:ea typeface="Calibri"/>
                <a:cs typeface="Calibri"/>
                <a:sym typeface="Calibri"/>
              </a:rPr>
              <a:t>self</a:t>
            </a:r>
            <a:r>
              <a:rPr lang="en-US" dirty="0"/>
              <a:t>.</a:t>
            </a:r>
          </a:p>
          <a:p>
            <a:r>
              <a:rPr lang="en-US" dirty="0"/>
              <a:t>Example:</a:t>
            </a:r>
          </a:p>
          <a:p>
            <a:pPr rtl="0"/>
            <a:r>
              <a:rPr lang="en-US" sz="1200" b="0" i="0" u="none" strike="noStrike" cap="none" dirty="0" err="1">
                <a:solidFill>
                  <a:schemeClr val="dk1"/>
                </a:solidFill>
                <a:latin typeface="Calibri"/>
                <a:ea typeface="Calibri"/>
                <a:cs typeface="Calibri"/>
                <a:sym typeface="Calibri"/>
              </a:rPr>
              <a:t>self.count</a:t>
            </a:r>
            <a:r>
              <a:rPr lang="en-US" sz="1200" b="0" i="0" u="none" strike="noStrike" cap="none" dirty="0">
                <a:solidFill>
                  <a:schemeClr val="dk1"/>
                </a:solidFill>
                <a:latin typeface="Calibri"/>
                <a:ea typeface="Calibri"/>
                <a:cs typeface="Calibri"/>
                <a:sym typeface="Calibri"/>
              </a:rPr>
              <a:t> = </a:t>
            </a:r>
            <a:r>
              <a:rPr lang="en-US" sz="1200" b="0" i="0" u="none" strike="noStrike" cap="none" dirty="0" err="1">
                <a:solidFill>
                  <a:schemeClr val="dk1"/>
                </a:solidFill>
                <a:latin typeface="Calibri"/>
                <a:ea typeface="Calibri"/>
                <a:cs typeface="Calibri"/>
                <a:sym typeface="Calibri"/>
              </a:rPr>
              <a:t>self.count</a:t>
            </a:r>
            <a:r>
              <a:rPr lang="en-US" sz="1200" b="0" i="0" u="none" strike="noStrike" cap="none" dirty="0">
                <a:solidFill>
                  <a:schemeClr val="dk1"/>
                </a:solidFill>
                <a:latin typeface="Calibri"/>
                <a:ea typeface="Calibri"/>
                <a:cs typeface="Calibri"/>
                <a:sym typeface="Calibri"/>
              </a:rPr>
              <a:t> + 1</a:t>
            </a:r>
          </a:p>
          <a:p>
            <a:r>
              <a:rPr lang="en-US" dirty="0"/>
              <a:t>The value is remembered each time the timer runs.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156043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basic pattern for publishing messages.</a:t>
            </a:r>
          </a:p>
          <a:p>
            <a:r>
              <a:rPr lang="en-US" dirty="0"/>
              <a:t>Correct import should be:</a:t>
            </a:r>
          </a:p>
          <a:p>
            <a:pPr rtl="0"/>
            <a:r>
              <a:rPr lang="en-US" sz="1200" b="0" i="0" u="none" strike="noStrike" cap="none" dirty="0">
                <a:solidFill>
                  <a:schemeClr val="dk1"/>
                </a:solidFill>
                <a:latin typeface="Calibri"/>
                <a:ea typeface="Calibri"/>
                <a:cs typeface="Calibri"/>
                <a:sym typeface="Calibri"/>
              </a:rPr>
              <a:t>from std_msgs.msg import Int32</a:t>
            </a:r>
          </a:p>
          <a:p>
            <a:r>
              <a:rPr lang="en-US" dirty="0"/>
              <a:t>Steps:</a:t>
            </a:r>
          </a:p>
          <a:p>
            <a:pPr rtl="0"/>
            <a:r>
              <a:rPr lang="en-US" sz="1200" b="0" i="0" u="none" strike="noStrike" cap="none" dirty="0">
                <a:solidFill>
                  <a:schemeClr val="dk1"/>
                </a:solidFill>
                <a:latin typeface="Calibri"/>
                <a:ea typeface="Calibri"/>
                <a:cs typeface="Calibri"/>
                <a:sym typeface="Calibri"/>
              </a:rPr>
              <a:t>1. Create a publisher.</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2. Create a timer.</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3. In the timer callback, create a message.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4. Fill the message data.</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5. Publish the message.</a:t>
            </a:r>
          </a:p>
          <a:p>
            <a:r>
              <a:rPr lang="en-US" dirty="0"/>
              <a:t>Explain:</a:t>
            </a:r>
          </a:p>
          <a:p>
            <a:pPr rtl="0"/>
            <a:r>
              <a:rPr lang="en-US" sz="1200" b="0" i="0" u="none" strike="noStrike" cap="none" dirty="0" err="1">
                <a:solidFill>
                  <a:schemeClr val="dk1"/>
                </a:solidFill>
                <a:latin typeface="Calibri"/>
                <a:ea typeface="Calibri"/>
                <a:cs typeface="Calibri"/>
                <a:sym typeface="Calibri"/>
              </a:rPr>
              <a:t>self.create_publisher</a:t>
            </a:r>
            <a:r>
              <a:rPr lang="en-US" sz="1200" b="0" i="0" u="none" strike="noStrike" cap="none" dirty="0">
                <a:solidFill>
                  <a:schemeClr val="dk1"/>
                </a:solidFill>
                <a:latin typeface="Calibri"/>
                <a:ea typeface="Calibri"/>
                <a:cs typeface="Calibri"/>
                <a:sym typeface="Calibri"/>
              </a:rPr>
              <a:t>(Int32, 'output', 10)</a:t>
            </a:r>
          </a:p>
          <a:p>
            <a:r>
              <a:rPr lang="en-US" dirty="0"/>
              <a:t>means create a publisher that sends </a:t>
            </a:r>
            <a:r>
              <a:rPr lang="en-US" sz="1200" b="0" i="0" u="none" strike="noStrike" cap="none" dirty="0">
                <a:solidFill>
                  <a:schemeClr val="dk1"/>
                </a:solidFill>
                <a:latin typeface="Calibri"/>
                <a:ea typeface="Calibri"/>
                <a:cs typeface="Calibri"/>
                <a:sym typeface="Calibri"/>
              </a:rPr>
              <a:t>Int32</a:t>
            </a:r>
            <a:r>
              <a:rPr lang="en-US" dirty="0"/>
              <a:t> messages on the topic called </a:t>
            </a:r>
            <a:r>
              <a:rPr lang="en-US" sz="1200" b="0" i="0" u="none" strike="noStrike" cap="none" dirty="0">
                <a:solidFill>
                  <a:schemeClr val="dk1"/>
                </a:solidFill>
                <a:latin typeface="Calibri"/>
                <a:ea typeface="Calibri"/>
                <a:cs typeface="Calibri"/>
                <a:sym typeface="Calibri"/>
              </a:rPr>
              <a:t>output</a:t>
            </a:r>
            <a:r>
              <a:rPr lang="en-US" dirty="0"/>
              <a:t>.</a:t>
            </a:r>
          </a:p>
          <a:p>
            <a:r>
              <a:rPr lang="en-US" dirty="0"/>
              <a:t>The </a:t>
            </a:r>
            <a:r>
              <a:rPr lang="en-US" sz="1200" b="0" i="0" u="none" strike="noStrike" cap="none" dirty="0">
                <a:solidFill>
                  <a:schemeClr val="dk1"/>
                </a:solidFill>
                <a:latin typeface="Calibri"/>
                <a:ea typeface="Calibri"/>
                <a:cs typeface="Calibri"/>
                <a:sym typeface="Calibri"/>
              </a:rPr>
              <a:t>10</a:t>
            </a:r>
            <a:r>
              <a:rPr lang="en-US" dirty="0"/>
              <a:t> is the queue size. For beginners, say it controls how many messages can be buffered.</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53166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08740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sp>
        <p:nvSpPr>
          <p:cNvPr id="23" name="Google Shape;23;p2"/>
          <p:cNvSpPr txBox="1">
            <a:spLocks noGrp="1"/>
          </p:cNvSpPr>
          <p:nvPr>
            <p:ph type="ctrTitle"/>
          </p:nvPr>
        </p:nvSpPr>
        <p:spPr>
          <a:xfrm>
            <a:off x="452740" y="1028940"/>
            <a:ext cx="9719960" cy="1474115"/>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dk1"/>
              </a:buClr>
              <a:buSzPts val="5400"/>
              <a:buFont typeface="Barlow Condensed"/>
              <a:buNone/>
              <a:defRPr sz="5400" b="1">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
          <p:cNvSpPr txBox="1">
            <a:spLocks noGrp="1"/>
          </p:cNvSpPr>
          <p:nvPr>
            <p:ph type="subTitle" idx="1"/>
          </p:nvPr>
        </p:nvSpPr>
        <p:spPr>
          <a:xfrm>
            <a:off x="452740" y="4266821"/>
            <a:ext cx="5486243" cy="666549"/>
          </a:xfrm>
          <a:prstGeom prst="rect">
            <a:avLst/>
          </a:prstGeom>
          <a:noFill/>
          <a:ln>
            <a:noFill/>
          </a:ln>
        </p:spPr>
        <p:txBody>
          <a:bodyPr spcFirstLastPara="1" wrap="square" lIns="0" tIns="45700" rIns="91425" bIns="45700" anchor="t" anchorCtr="0">
            <a:normAutofit/>
          </a:bodyPr>
          <a:lstStyle>
            <a:lvl1pPr lvl="0" algn="l">
              <a:lnSpc>
                <a:spcPct val="100000"/>
              </a:lnSpc>
              <a:spcBef>
                <a:spcPts val="800"/>
              </a:spcBef>
              <a:spcAft>
                <a:spcPts val="0"/>
              </a:spcAft>
              <a:buSzPts val="1275"/>
              <a:buNone/>
              <a:defRPr sz="1500" b="0">
                <a:solidFill>
                  <a:srgbClr val="7F7F7F"/>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2"/>
          <p:cNvSpPr txBox="1">
            <a:spLocks noGrp="1"/>
          </p:cNvSpPr>
          <p:nvPr>
            <p:ph type="dt" idx="10"/>
          </p:nvPr>
        </p:nvSpPr>
        <p:spPr>
          <a:xfrm>
            <a:off x="452740" y="2642329"/>
            <a:ext cx="1182916" cy="377962"/>
          </a:xfrm>
          <a:prstGeom prst="rect">
            <a:avLst/>
          </a:prstGeom>
          <a:solidFill>
            <a:schemeClr val="accent1"/>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
          <p:cNvSpPr txBox="1">
            <a:spLocks noGrp="1"/>
          </p:cNvSpPr>
          <p:nvPr>
            <p:ph type="ftr" idx="11"/>
          </p:nvPr>
        </p:nvSpPr>
        <p:spPr>
          <a:xfrm>
            <a:off x="6623674" y="6377231"/>
            <a:ext cx="4293708"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
          <p:cNvSpPr txBox="1">
            <a:spLocks noGrp="1"/>
          </p:cNvSpPr>
          <p:nvPr>
            <p:ph type="sldNum" idx="12"/>
          </p:nvPr>
        </p:nvSpPr>
        <p:spPr>
          <a:xfrm>
            <a:off x="11148416" y="6377231"/>
            <a:ext cx="5539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b="0" i="0" u="none" strike="noStrike" cap="none">
                <a:solidFill>
                  <a:schemeClr val="dk1"/>
                </a:solidFill>
                <a:latin typeface="Verdana"/>
                <a:ea typeface="Verdana"/>
                <a:cs typeface="Verdana"/>
                <a:sym typeface="Verdana"/>
              </a:defRPr>
            </a:lvl1pPr>
            <a:lvl2pPr marL="0" lvl="1" indent="0" algn="ctr">
              <a:spcBef>
                <a:spcPts val="0"/>
              </a:spcBef>
              <a:buNone/>
              <a:defRPr sz="1000" b="0" i="0" u="none" strike="noStrike" cap="none">
                <a:solidFill>
                  <a:schemeClr val="dk1"/>
                </a:solidFill>
                <a:latin typeface="Verdana"/>
                <a:ea typeface="Verdana"/>
                <a:cs typeface="Verdana"/>
                <a:sym typeface="Verdana"/>
              </a:defRPr>
            </a:lvl2pPr>
            <a:lvl3pPr marL="0" lvl="2" indent="0" algn="ctr">
              <a:spcBef>
                <a:spcPts val="0"/>
              </a:spcBef>
              <a:buNone/>
              <a:defRPr sz="1000" b="0" i="0" u="none" strike="noStrike" cap="none">
                <a:solidFill>
                  <a:schemeClr val="dk1"/>
                </a:solidFill>
                <a:latin typeface="Verdana"/>
                <a:ea typeface="Verdana"/>
                <a:cs typeface="Verdana"/>
                <a:sym typeface="Verdana"/>
              </a:defRPr>
            </a:lvl3pPr>
            <a:lvl4pPr marL="0" lvl="3" indent="0" algn="ctr">
              <a:spcBef>
                <a:spcPts val="0"/>
              </a:spcBef>
              <a:buNone/>
              <a:defRPr sz="1000" b="0" i="0" u="none" strike="noStrike" cap="none">
                <a:solidFill>
                  <a:schemeClr val="dk1"/>
                </a:solidFill>
                <a:latin typeface="Verdana"/>
                <a:ea typeface="Verdana"/>
                <a:cs typeface="Verdana"/>
                <a:sym typeface="Verdana"/>
              </a:defRPr>
            </a:lvl4pPr>
            <a:lvl5pPr marL="0" lvl="4" indent="0" algn="ctr">
              <a:spcBef>
                <a:spcPts val="0"/>
              </a:spcBef>
              <a:buNone/>
              <a:defRPr sz="1000" b="0" i="0" u="none" strike="noStrike" cap="none">
                <a:solidFill>
                  <a:schemeClr val="dk1"/>
                </a:solidFill>
                <a:latin typeface="Verdana"/>
                <a:ea typeface="Verdana"/>
                <a:cs typeface="Verdana"/>
                <a:sym typeface="Verdana"/>
              </a:defRPr>
            </a:lvl5pPr>
            <a:lvl6pPr marL="0" lvl="5" indent="0" algn="ctr">
              <a:spcBef>
                <a:spcPts val="0"/>
              </a:spcBef>
              <a:buNone/>
              <a:defRPr sz="1000" b="0" i="0" u="none" strike="noStrike" cap="none">
                <a:solidFill>
                  <a:schemeClr val="dk1"/>
                </a:solidFill>
                <a:latin typeface="Verdana"/>
                <a:ea typeface="Verdana"/>
                <a:cs typeface="Verdana"/>
                <a:sym typeface="Verdana"/>
              </a:defRPr>
            </a:lvl6pPr>
            <a:lvl7pPr marL="0" lvl="6" indent="0" algn="ctr">
              <a:spcBef>
                <a:spcPts val="0"/>
              </a:spcBef>
              <a:buNone/>
              <a:defRPr sz="1000" b="0" i="0" u="none" strike="noStrike" cap="none">
                <a:solidFill>
                  <a:schemeClr val="dk1"/>
                </a:solidFill>
                <a:latin typeface="Verdana"/>
                <a:ea typeface="Verdana"/>
                <a:cs typeface="Verdana"/>
                <a:sym typeface="Verdana"/>
              </a:defRPr>
            </a:lvl7pPr>
            <a:lvl8pPr marL="0" lvl="7" indent="0" algn="ctr">
              <a:spcBef>
                <a:spcPts val="0"/>
              </a:spcBef>
              <a:buNone/>
              <a:defRPr sz="1000" b="0" i="0" u="none" strike="noStrike" cap="none">
                <a:solidFill>
                  <a:schemeClr val="dk1"/>
                </a:solidFill>
                <a:latin typeface="Verdana"/>
                <a:ea typeface="Verdana"/>
                <a:cs typeface="Verdana"/>
                <a:sym typeface="Verdana"/>
              </a:defRPr>
            </a:lvl8pPr>
            <a:lvl9pPr marL="0" lvl="8" indent="0" algn="ctr">
              <a:spcBef>
                <a:spcPts val="0"/>
              </a:spcBef>
              <a:buNone/>
              <a:defRPr sz="1000" b="0" i="0" u="none" strike="noStrike" cap="none">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n-US"/>
              <a:t>‹#›</a:t>
            </a:fld>
            <a:endParaRPr/>
          </a:p>
        </p:txBody>
      </p:sp>
      <p:grpSp>
        <p:nvGrpSpPr>
          <p:cNvPr id="28" name="Google Shape;28;p2"/>
          <p:cNvGrpSpPr/>
          <p:nvPr/>
        </p:nvGrpSpPr>
        <p:grpSpPr>
          <a:xfrm>
            <a:off x="0" y="0"/>
            <a:ext cx="12192000" cy="397164"/>
            <a:chOff x="421830" y="1342659"/>
            <a:chExt cx="10018760" cy="290558"/>
          </a:xfrm>
        </p:grpSpPr>
        <p:sp>
          <p:nvSpPr>
            <p:cNvPr id="29" name="Google Shape;29;p2"/>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30" name="Google Shape;30;p2"/>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31" name="Google Shape;31;p2"/>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32" name="Google Shape;32;p2"/>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33" name="Google Shape;33;p2"/>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grpSp>
      <p:pic>
        <p:nvPicPr>
          <p:cNvPr id="34" name="Google Shape;34;p2" descr="University of Waterloo logo"/>
          <p:cNvPicPr preferRelativeResize="0"/>
          <p:nvPr/>
        </p:nvPicPr>
        <p:blipFill rotWithShape="1">
          <a:blip r:embed="rId2">
            <a:alphaModFix/>
          </a:blip>
          <a:srcRect/>
          <a:stretch/>
        </p:blipFill>
        <p:spPr>
          <a:xfrm>
            <a:off x="-33161" y="5304722"/>
            <a:ext cx="3759035" cy="14842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3"/>
          <p:cNvSpPr txBox="1">
            <a:spLocks noGrp="1"/>
          </p:cNvSpPr>
          <p:nvPr>
            <p:ph type="title"/>
          </p:nvPr>
        </p:nvSpPr>
        <p:spPr>
          <a:xfrm>
            <a:off x="259883" y="434108"/>
            <a:ext cx="11569729" cy="895927"/>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1"/>
              </a:buClr>
              <a:buSzPts val="4000"/>
              <a:buFont typeface="Barlow Condense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
          <p:cNvSpPr txBox="1">
            <a:spLocks noGrp="1"/>
          </p:cNvSpPr>
          <p:nvPr>
            <p:ph type="body" idx="1"/>
          </p:nvPr>
        </p:nvSpPr>
        <p:spPr>
          <a:xfrm>
            <a:off x="259882" y="1413163"/>
            <a:ext cx="11569729" cy="4595117"/>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800"/>
              </a:spcBef>
              <a:spcAft>
                <a:spcPts val="0"/>
              </a:spcAft>
              <a:buSzPts val="1530"/>
              <a:buChar char="▪"/>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4"/>
          <p:cNvSpPr txBox="1">
            <a:spLocks noGrp="1"/>
          </p:cNvSpPr>
          <p:nvPr>
            <p:ph type="title"/>
          </p:nvPr>
        </p:nvSpPr>
        <p:spPr>
          <a:xfrm>
            <a:off x="259883" y="434108"/>
            <a:ext cx="11569729" cy="895927"/>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
          <p:cNvSpPr txBox="1">
            <a:spLocks noGrp="1"/>
          </p:cNvSpPr>
          <p:nvPr>
            <p:ph type="body" idx="1"/>
          </p:nvPr>
        </p:nvSpPr>
        <p:spPr>
          <a:xfrm>
            <a:off x="259882" y="1413164"/>
            <a:ext cx="5586855" cy="4590472"/>
          </a:xfrm>
          <a:prstGeom prst="rect">
            <a:avLst/>
          </a:prstGeom>
          <a:noFill/>
          <a:ln>
            <a:noFill/>
          </a:ln>
        </p:spPr>
        <p:txBody>
          <a:bodyPr spcFirstLastPara="1" wrap="square" lIns="91425" tIns="45700" rIns="91425" bIns="45700" anchor="t" anchorCtr="0">
            <a:normAutofit/>
          </a:bodyPr>
          <a:lstStyle>
            <a:lvl1pPr marL="457200" lvl="0" indent="-358140" algn="l">
              <a:lnSpc>
                <a:spcPct val="100000"/>
              </a:lnSpc>
              <a:spcBef>
                <a:spcPts val="800"/>
              </a:spcBef>
              <a:spcAft>
                <a:spcPts val="0"/>
              </a:spcAft>
              <a:buSzPts val="2040"/>
              <a:buFont typeface="Noto Sans Symbols"/>
              <a:buChar char="▪"/>
              <a:defRPr/>
            </a:lvl1pPr>
            <a:lvl2pPr marL="914400" lvl="1" indent="-336550" algn="l">
              <a:lnSpc>
                <a:spcPct val="100000"/>
              </a:lnSpc>
              <a:spcBef>
                <a:spcPts val="800"/>
              </a:spcBef>
              <a:spcAft>
                <a:spcPts val="0"/>
              </a:spcAft>
              <a:buSzPts val="1700"/>
              <a:buFont typeface="Noto Sans Symbols"/>
              <a:buChar char="▪"/>
              <a:defRPr/>
            </a:lvl2pPr>
            <a:lvl3pPr marL="1371600" lvl="2" indent="-325755" algn="l">
              <a:lnSpc>
                <a:spcPct val="100000"/>
              </a:lnSpc>
              <a:spcBef>
                <a:spcPts val="800"/>
              </a:spcBef>
              <a:spcAft>
                <a:spcPts val="0"/>
              </a:spcAft>
              <a:buSzPts val="1530"/>
              <a:buFont typeface="Noto Sans Symbols"/>
              <a:buChar char="▪"/>
              <a:defRPr/>
            </a:lvl3pPr>
            <a:lvl4pPr marL="1828800" lvl="3" indent="-314960" algn="l">
              <a:lnSpc>
                <a:spcPct val="100000"/>
              </a:lnSpc>
              <a:spcBef>
                <a:spcPts val="800"/>
              </a:spcBef>
              <a:spcAft>
                <a:spcPts val="0"/>
              </a:spcAft>
              <a:buSzPts val="1360"/>
              <a:buFont typeface="Noto Sans Symbols"/>
              <a:buChar char="▪"/>
              <a:defRPr/>
            </a:lvl4pPr>
            <a:lvl5pPr marL="2286000" lvl="4" indent="-314960" algn="l">
              <a:lnSpc>
                <a:spcPct val="100000"/>
              </a:lnSpc>
              <a:spcBef>
                <a:spcPts val="800"/>
              </a:spcBef>
              <a:spcAft>
                <a:spcPts val="0"/>
              </a:spcAft>
              <a:buSzPts val="1360"/>
              <a:buFont typeface="Noto Sans Symbols"/>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
          <p:cNvSpPr txBox="1">
            <a:spLocks noGrp="1"/>
          </p:cNvSpPr>
          <p:nvPr>
            <p:ph type="body" idx="2"/>
          </p:nvPr>
        </p:nvSpPr>
        <p:spPr>
          <a:xfrm>
            <a:off x="6170992" y="1413164"/>
            <a:ext cx="5658620" cy="4590472"/>
          </a:xfrm>
          <a:prstGeom prst="rect">
            <a:avLst/>
          </a:prstGeom>
          <a:noFill/>
          <a:ln>
            <a:noFill/>
          </a:ln>
        </p:spPr>
        <p:txBody>
          <a:bodyPr spcFirstLastPara="1" wrap="square" lIns="91425" tIns="45700" rIns="91425" bIns="45700" anchor="t" anchorCtr="0">
            <a:normAutofit/>
          </a:bodyPr>
          <a:lstStyle>
            <a:lvl1pPr marL="457200" lvl="0" indent="-358140" algn="l">
              <a:lnSpc>
                <a:spcPct val="100000"/>
              </a:lnSpc>
              <a:spcBef>
                <a:spcPts val="800"/>
              </a:spcBef>
              <a:spcAft>
                <a:spcPts val="0"/>
              </a:spcAft>
              <a:buSzPts val="2040"/>
              <a:buFont typeface="Noto Sans Symbols"/>
              <a:buChar char="▪"/>
              <a:defRPr/>
            </a:lvl1pPr>
            <a:lvl2pPr marL="914400" lvl="1" indent="-336550" algn="l">
              <a:lnSpc>
                <a:spcPct val="100000"/>
              </a:lnSpc>
              <a:spcBef>
                <a:spcPts val="800"/>
              </a:spcBef>
              <a:spcAft>
                <a:spcPts val="0"/>
              </a:spcAft>
              <a:buSzPts val="1700"/>
              <a:buFont typeface="Noto Sans Symbols"/>
              <a:buChar char="▪"/>
              <a:defRPr/>
            </a:lvl2pPr>
            <a:lvl3pPr marL="1371600" lvl="2" indent="-325755" algn="l">
              <a:lnSpc>
                <a:spcPct val="100000"/>
              </a:lnSpc>
              <a:spcBef>
                <a:spcPts val="800"/>
              </a:spcBef>
              <a:spcAft>
                <a:spcPts val="0"/>
              </a:spcAft>
              <a:buSzPts val="1530"/>
              <a:buFont typeface="Noto Sans Symbols"/>
              <a:buChar char="▪"/>
              <a:defRPr/>
            </a:lvl3pPr>
            <a:lvl4pPr marL="1828800" lvl="3" indent="-314960" algn="l">
              <a:lnSpc>
                <a:spcPct val="100000"/>
              </a:lnSpc>
              <a:spcBef>
                <a:spcPts val="800"/>
              </a:spcBef>
              <a:spcAft>
                <a:spcPts val="0"/>
              </a:spcAft>
              <a:buSzPts val="1360"/>
              <a:buFont typeface="Noto Sans Symbols"/>
              <a:buChar char="▪"/>
              <a:defRPr/>
            </a:lvl4pPr>
            <a:lvl5pPr marL="2286000" lvl="4" indent="-314960" algn="l">
              <a:lnSpc>
                <a:spcPct val="100000"/>
              </a:lnSpc>
              <a:spcBef>
                <a:spcPts val="800"/>
              </a:spcBef>
              <a:spcAft>
                <a:spcPts val="0"/>
              </a:spcAft>
              <a:buSzPts val="1360"/>
              <a:buFont typeface="Noto Sans Symbols"/>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with Image">
  <p:cSld name="Title Slide with Image">
    <p:spTree>
      <p:nvGrpSpPr>
        <p:cNvPr id="1" name="Shape 48"/>
        <p:cNvGrpSpPr/>
        <p:nvPr/>
      </p:nvGrpSpPr>
      <p:grpSpPr>
        <a:xfrm>
          <a:off x="0" y="0"/>
          <a:ext cx="0" cy="0"/>
          <a:chOff x="0" y="0"/>
          <a:chExt cx="0" cy="0"/>
        </a:xfrm>
      </p:grpSpPr>
      <p:sp>
        <p:nvSpPr>
          <p:cNvPr id="49" name="Google Shape;49;p5"/>
          <p:cNvSpPr>
            <a:spLocks noGrp="1"/>
          </p:cNvSpPr>
          <p:nvPr>
            <p:ph type="pic" idx="2"/>
          </p:nvPr>
        </p:nvSpPr>
        <p:spPr>
          <a:xfrm>
            <a:off x="6094124" y="397164"/>
            <a:ext cx="6097876" cy="6460836"/>
          </a:xfrm>
          <a:prstGeom prst="rect">
            <a:avLst/>
          </a:prstGeom>
          <a:noFill/>
          <a:ln>
            <a:noFill/>
          </a:ln>
        </p:spPr>
      </p:sp>
      <p:sp>
        <p:nvSpPr>
          <p:cNvPr id="50" name="Google Shape;50;p5"/>
          <p:cNvSpPr txBox="1">
            <a:spLocks noGrp="1"/>
          </p:cNvSpPr>
          <p:nvPr>
            <p:ph type="ctrTitle"/>
          </p:nvPr>
        </p:nvSpPr>
        <p:spPr>
          <a:xfrm>
            <a:off x="452740" y="1028940"/>
            <a:ext cx="5486243" cy="1474115"/>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dk1"/>
              </a:buClr>
              <a:buSzPts val="5400"/>
              <a:buFont typeface="Barlow Condensed"/>
              <a:buNone/>
              <a:defRPr sz="5400" b="1">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
          <p:cNvSpPr txBox="1">
            <a:spLocks noGrp="1"/>
          </p:cNvSpPr>
          <p:nvPr>
            <p:ph type="subTitle" idx="1"/>
          </p:nvPr>
        </p:nvSpPr>
        <p:spPr>
          <a:xfrm>
            <a:off x="452740" y="4266821"/>
            <a:ext cx="5486243" cy="666549"/>
          </a:xfrm>
          <a:prstGeom prst="rect">
            <a:avLst/>
          </a:prstGeom>
          <a:noFill/>
          <a:ln>
            <a:noFill/>
          </a:ln>
        </p:spPr>
        <p:txBody>
          <a:bodyPr spcFirstLastPara="1" wrap="square" lIns="0" tIns="45700" rIns="91425" bIns="45700" anchor="t" anchorCtr="0">
            <a:normAutofit/>
          </a:bodyPr>
          <a:lstStyle>
            <a:lvl1pPr lvl="0" algn="l">
              <a:lnSpc>
                <a:spcPct val="100000"/>
              </a:lnSpc>
              <a:spcBef>
                <a:spcPts val="800"/>
              </a:spcBef>
              <a:spcAft>
                <a:spcPts val="0"/>
              </a:spcAft>
              <a:buSzPts val="1275"/>
              <a:buNone/>
              <a:defRPr sz="1500" b="0">
                <a:solidFill>
                  <a:srgbClr val="7F7F7F"/>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2" name="Google Shape;52;p5"/>
          <p:cNvSpPr txBox="1">
            <a:spLocks noGrp="1"/>
          </p:cNvSpPr>
          <p:nvPr>
            <p:ph type="dt" idx="10"/>
          </p:nvPr>
        </p:nvSpPr>
        <p:spPr>
          <a:xfrm>
            <a:off x="452740" y="2642329"/>
            <a:ext cx="1182916" cy="377962"/>
          </a:xfrm>
          <a:prstGeom prst="rect">
            <a:avLst/>
          </a:prstGeom>
          <a:solidFill>
            <a:schemeClr val="accent1"/>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
          <p:cNvSpPr txBox="1">
            <a:spLocks noGrp="1"/>
          </p:cNvSpPr>
          <p:nvPr>
            <p:ph type="ftr" idx="11"/>
          </p:nvPr>
        </p:nvSpPr>
        <p:spPr>
          <a:xfrm>
            <a:off x="6623674" y="6377231"/>
            <a:ext cx="4293708"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
          <p:cNvSpPr txBox="1">
            <a:spLocks noGrp="1"/>
          </p:cNvSpPr>
          <p:nvPr>
            <p:ph type="sldNum" idx="12"/>
          </p:nvPr>
        </p:nvSpPr>
        <p:spPr>
          <a:xfrm>
            <a:off x="11148416" y="6377231"/>
            <a:ext cx="5539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Verdana"/>
                <a:ea typeface="Verdana"/>
                <a:cs typeface="Verdana"/>
                <a:sym typeface="Verdana"/>
              </a:defRPr>
            </a:lvl1pPr>
            <a:lvl2pPr marL="0" lvl="1" indent="0" algn="ctr">
              <a:spcBef>
                <a:spcPts val="0"/>
              </a:spcBef>
              <a:buNone/>
              <a:defRPr sz="1000">
                <a:solidFill>
                  <a:schemeClr val="dk1"/>
                </a:solidFill>
                <a:latin typeface="Verdana"/>
                <a:ea typeface="Verdana"/>
                <a:cs typeface="Verdana"/>
                <a:sym typeface="Verdana"/>
              </a:defRPr>
            </a:lvl2pPr>
            <a:lvl3pPr marL="0" lvl="2" indent="0" algn="ctr">
              <a:spcBef>
                <a:spcPts val="0"/>
              </a:spcBef>
              <a:buNone/>
              <a:defRPr sz="1000">
                <a:solidFill>
                  <a:schemeClr val="dk1"/>
                </a:solidFill>
                <a:latin typeface="Verdana"/>
                <a:ea typeface="Verdana"/>
                <a:cs typeface="Verdana"/>
                <a:sym typeface="Verdana"/>
              </a:defRPr>
            </a:lvl3pPr>
            <a:lvl4pPr marL="0" lvl="3" indent="0" algn="ctr">
              <a:spcBef>
                <a:spcPts val="0"/>
              </a:spcBef>
              <a:buNone/>
              <a:defRPr sz="1000">
                <a:solidFill>
                  <a:schemeClr val="dk1"/>
                </a:solidFill>
                <a:latin typeface="Verdana"/>
                <a:ea typeface="Verdana"/>
                <a:cs typeface="Verdana"/>
                <a:sym typeface="Verdana"/>
              </a:defRPr>
            </a:lvl4pPr>
            <a:lvl5pPr marL="0" lvl="4" indent="0" algn="ctr">
              <a:spcBef>
                <a:spcPts val="0"/>
              </a:spcBef>
              <a:buNone/>
              <a:defRPr sz="1000">
                <a:solidFill>
                  <a:schemeClr val="dk1"/>
                </a:solidFill>
                <a:latin typeface="Verdana"/>
                <a:ea typeface="Verdana"/>
                <a:cs typeface="Verdana"/>
                <a:sym typeface="Verdana"/>
              </a:defRPr>
            </a:lvl5pPr>
            <a:lvl6pPr marL="0" lvl="5" indent="0" algn="ctr">
              <a:spcBef>
                <a:spcPts val="0"/>
              </a:spcBef>
              <a:buNone/>
              <a:defRPr sz="1000">
                <a:solidFill>
                  <a:schemeClr val="dk1"/>
                </a:solidFill>
                <a:latin typeface="Verdana"/>
                <a:ea typeface="Verdana"/>
                <a:cs typeface="Verdana"/>
                <a:sym typeface="Verdana"/>
              </a:defRPr>
            </a:lvl6pPr>
            <a:lvl7pPr marL="0" lvl="6" indent="0" algn="ctr">
              <a:spcBef>
                <a:spcPts val="0"/>
              </a:spcBef>
              <a:buNone/>
              <a:defRPr sz="1000">
                <a:solidFill>
                  <a:schemeClr val="dk1"/>
                </a:solidFill>
                <a:latin typeface="Verdana"/>
                <a:ea typeface="Verdana"/>
                <a:cs typeface="Verdana"/>
                <a:sym typeface="Verdana"/>
              </a:defRPr>
            </a:lvl7pPr>
            <a:lvl8pPr marL="0" lvl="7" indent="0" algn="ctr">
              <a:spcBef>
                <a:spcPts val="0"/>
              </a:spcBef>
              <a:buNone/>
              <a:defRPr sz="1000">
                <a:solidFill>
                  <a:schemeClr val="dk1"/>
                </a:solidFill>
                <a:latin typeface="Verdana"/>
                <a:ea typeface="Verdana"/>
                <a:cs typeface="Verdana"/>
                <a:sym typeface="Verdana"/>
              </a:defRPr>
            </a:lvl8pPr>
            <a:lvl9pPr marL="0" lvl="8" indent="0" algn="ctr">
              <a:spcBef>
                <a:spcPts val="0"/>
              </a:spcBef>
              <a:buNone/>
              <a:defRPr sz="1000">
                <a:solidFill>
                  <a:schemeClr val="dk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n-US"/>
              <a:t>‹#›</a:t>
            </a:fld>
            <a:endParaRPr/>
          </a:p>
        </p:txBody>
      </p:sp>
      <p:grpSp>
        <p:nvGrpSpPr>
          <p:cNvPr id="55" name="Google Shape;55;p5"/>
          <p:cNvGrpSpPr/>
          <p:nvPr/>
        </p:nvGrpSpPr>
        <p:grpSpPr>
          <a:xfrm>
            <a:off x="0" y="0"/>
            <a:ext cx="12192000" cy="397164"/>
            <a:chOff x="421830" y="1342659"/>
            <a:chExt cx="10018760" cy="290558"/>
          </a:xfrm>
        </p:grpSpPr>
        <p:sp>
          <p:nvSpPr>
            <p:cNvPr id="56" name="Google Shape;56;p5"/>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57" name="Google Shape;57;p5"/>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58" name="Google Shape;58;p5"/>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59" name="Google Shape;59;p5"/>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60" name="Google Shape;60;p5"/>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61" name="Google Shape;61;p5" descr="University of Waterloo logo"/>
          <p:cNvPicPr preferRelativeResize="0"/>
          <p:nvPr/>
        </p:nvPicPr>
        <p:blipFill rotWithShape="1">
          <a:blip r:embed="rId2">
            <a:alphaModFix/>
          </a:blip>
          <a:srcRect/>
          <a:stretch/>
        </p:blipFill>
        <p:spPr>
          <a:xfrm>
            <a:off x="-33161" y="5304722"/>
            <a:ext cx="3759035" cy="14842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Black">
  <p:cSld name="Title Slide Black">
    <p:bg>
      <p:bgPr>
        <a:solidFill>
          <a:schemeClr val="dk1"/>
        </a:solidFill>
        <a:effectLst/>
      </p:bgPr>
    </p:bg>
    <p:spTree>
      <p:nvGrpSpPr>
        <p:cNvPr id="1" name="Shape 62"/>
        <p:cNvGrpSpPr/>
        <p:nvPr/>
      </p:nvGrpSpPr>
      <p:grpSpPr>
        <a:xfrm>
          <a:off x="0" y="0"/>
          <a:ext cx="0" cy="0"/>
          <a:chOff x="0" y="0"/>
          <a:chExt cx="0" cy="0"/>
        </a:xfrm>
      </p:grpSpPr>
      <p:sp>
        <p:nvSpPr>
          <p:cNvPr id="63" name="Google Shape;63;p6"/>
          <p:cNvSpPr txBox="1">
            <a:spLocks noGrp="1"/>
          </p:cNvSpPr>
          <p:nvPr>
            <p:ph type="ctrTitle"/>
          </p:nvPr>
        </p:nvSpPr>
        <p:spPr>
          <a:xfrm>
            <a:off x="452740" y="1028940"/>
            <a:ext cx="9516760" cy="1474115"/>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5400"/>
              <a:buFont typeface="Barlow Condensed"/>
              <a:buNone/>
              <a:defRPr sz="5400" b="1" cap="none">
                <a:solidFill>
                  <a:schemeClr val="lt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6"/>
          <p:cNvSpPr txBox="1">
            <a:spLocks noGrp="1"/>
          </p:cNvSpPr>
          <p:nvPr>
            <p:ph type="subTitle" idx="1"/>
          </p:nvPr>
        </p:nvSpPr>
        <p:spPr>
          <a:xfrm>
            <a:off x="452740" y="4266821"/>
            <a:ext cx="5486243" cy="666549"/>
          </a:xfrm>
          <a:prstGeom prst="rect">
            <a:avLst/>
          </a:prstGeom>
          <a:noFill/>
          <a:ln>
            <a:noFill/>
          </a:ln>
        </p:spPr>
        <p:txBody>
          <a:bodyPr spcFirstLastPara="1" wrap="square" lIns="0" tIns="45700" rIns="91425" bIns="45700" anchor="t" anchorCtr="0">
            <a:normAutofit/>
          </a:bodyPr>
          <a:lstStyle>
            <a:lvl1pPr lvl="0" algn="l">
              <a:lnSpc>
                <a:spcPct val="100000"/>
              </a:lnSpc>
              <a:spcBef>
                <a:spcPts val="800"/>
              </a:spcBef>
              <a:spcAft>
                <a:spcPts val="0"/>
              </a:spcAft>
              <a:buSzPts val="1275"/>
              <a:buNone/>
              <a:defRPr sz="1500" b="0">
                <a:solidFill>
                  <a:srgbClr val="D8D8D8"/>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5" name="Google Shape;65;p6"/>
          <p:cNvSpPr txBox="1">
            <a:spLocks noGrp="1"/>
          </p:cNvSpPr>
          <p:nvPr>
            <p:ph type="dt" idx="10"/>
          </p:nvPr>
        </p:nvSpPr>
        <p:spPr>
          <a:xfrm>
            <a:off x="452740" y="2642329"/>
            <a:ext cx="1182916" cy="377962"/>
          </a:xfrm>
          <a:prstGeom prst="rect">
            <a:avLst/>
          </a:prstGeom>
          <a:solidFill>
            <a:schemeClr val="accent1"/>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
          <p:cNvSpPr txBox="1">
            <a:spLocks noGrp="1"/>
          </p:cNvSpPr>
          <p:nvPr>
            <p:ph type="ftr" idx="11"/>
          </p:nvPr>
        </p:nvSpPr>
        <p:spPr>
          <a:xfrm>
            <a:off x="6623674" y="6377231"/>
            <a:ext cx="4293708"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
          <p:cNvSpPr txBox="1">
            <a:spLocks noGrp="1"/>
          </p:cNvSpPr>
          <p:nvPr>
            <p:ph type="sldNum" idx="12"/>
          </p:nvPr>
        </p:nvSpPr>
        <p:spPr>
          <a:xfrm>
            <a:off x="11148416" y="6377231"/>
            <a:ext cx="5539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rgbClr val="D8D8D8"/>
                </a:solidFill>
                <a:latin typeface="Verdana"/>
                <a:ea typeface="Verdana"/>
                <a:cs typeface="Verdana"/>
                <a:sym typeface="Verdana"/>
              </a:defRPr>
            </a:lvl1pPr>
            <a:lvl2pPr marL="0" lvl="1" indent="0" algn="ctr">
              <a:spcBef>
                <a:spcPts val="0"/>
              </a:spcBef>
              <a:buNone/>
              <a:defRPr sz="1000">
                <a:solidFill>
                  <a:srgbClr val="D8D8D8"/>
                </a:solidFill>
                <a:latin typeface="Verdana"/>
                <a:ea typeface="Verdana"/>
                <a:cs typeface="Verdana"/>
                <a:sym typeface="Verdana"/>
              </a:defRPr>
            </a:lvl2pPr>
            <a:lvl3pPr marL="0" lvl="2" indent="0" algn="ctr">
              <a:spcBef>
                <a:spcPts val="0"/>
              </a:spcBef>
              <a:buNone/>
              <a:defRPr sz="1000">
                <a:solidFill>
                  <a:srgbClr val="D8D8D8"/>
                </a:solidFill>
                <a:latin typeface="Verdana"/>
                <a:ea typeface="Verdana"/>
                <a:cs typeface="Verdana"/>
                <a:sym typeface="Verdana"/>
              </a:defRPr>
            </a:lvl3pPr>
            <a:lvl4pPr marL="0" lvl="3" indent="0" algn="ctr">
              <a:spcBef>
                <a:spcPts val="0"/>
              </a:spcBef>
              <a:buNone/>
              <a:defRPr sz="1000">
                <a:solidFill>
                  <a:srgbClr val="D8D8D8"/>
                </a:solidFill>
                <a:latin typeface="Verdana"/>
                <a:ea typeface="Verdana"/>
                <a:cs typeface="Verdana"/>
                <a:sym typeface="Verdana"/>
              </a:defRPr>
            </a:lvl4pPr>
            <a:lvl5pPr marL="0" lvl="4" indent="0" algn="ctr">
              <a:spcBef>
                <a:spcPts val="0"/>
              </a:spcBef>
              <a:buNone/>
              <a:defRPr sz="1000">
                <a:solidFill>
                  <a:srgbClr val="D8D8D8"/>
                </a:solidFill>
                <a:latin typeface="Verdana"/>
                <a:ea typeface="Verdana"/>
                <a:cs typeface="Verdana"/>
                <a:sym typeface="Verdana"/>
              </a:defRPr>
            </a:lvl5pPr>
            <a:lvl6pPr marL="0" lvl="5" indent="0" algn="ctr">
              <a:spcBef>
                <a:spcPts val="0"/>
              </a:spcBef>
              <a:buNone/>
              <a:defRPr sz="1000">
                <a:solidFill>
                  <a:srgbClr val="D8D8D8"/>
                </a:solidFill>
                <a:latin typeface="Verdana"/>
                <a:ea typeface="Verdana"/>
                <a:cs typeface="Verdana"/>
                <a:sym typeface="Verdana"/>
              </a:defRPr>
            </a:lvl6pPr>
            <a:lvl7pPr marL="0" lvl="6" indent="0" algn="ctr">
              <a:spcBef>
                <a:spcPts val="0"/>
              </a:spcBef>
              <a:buNone/>
              <a:defRPr sz="1000">
                <a:solidFill>
                  <a:srgbClr val="D8D8D8"/>
                </a:solidFill>
                <a:latin typeface="Verdana"/>
                <a:ea typeface="Verdana"/>
                <a:cs typeface="Verdana"/>
                <a:sym typeface="Verdana"/>
              </a:defRPr>
            </a:lvl7pPr>
            <a:lvl8pPr marL="0" lvl="7" indent="0" algn="ctr">
              <a:spcBef>
                <a:spcPts val="0"/>
              </a:spcBef>
              <a:buNone/>
              <a:defRPr sz="1000">
                <a:solidFill>
                  <a:srgbClr val="D8D8D8"/>
                </a:solidFill>
                <a:latin typeface="Verdana"/>
                <a:ea typeface="Verdana"/>
                <a:cs typeface="Verdana"/>
                <a:sym typeface="Verdana"/>
              </a:defRPr>
            </a:lvl8pPr>
            <a:lvl9pPr marL="0" lvl="8" indent="0" algn="ctr">
              <a:spcBef>
                <a:spcPts val="0"/>
              </a:spcBef>
              <a:buNone/>
              <a:defRPr sz="1000">
                <a:solidFill>
                  <a:srgbClr val="D8D8D8"/>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n-US"/>
              <a:t>‹#›</a:t>
            </a:fld>
            <a:endParaRPr/>
          </a:p>
        </p:txBody>
      </p:sp>
      <p:grpSp>
        <p:nvGrpSpPr>
          <p:cNvPr id="68" name="Google Shape;68;p6"/>
          <p:cNvGrpSpPr/>
          <p:nvPr/>
        </p:nvGrpSpPr>
        <p:grpSpPr>
          <a:xfrm>
            <a:off x="0" y="0"/>
            <a:ext cx="12192000" cy="397164"/>
            <a:chOff x="421830" y="1342659"/>
            <a:chExt cx="10018760" cy="290558"/>
          </a:xfrm>
        </p:grpSpPr>
        <p:sp>
          <p:nvSpPr>
            <p:cNvPr id="69" name="Google Shape;69;p6"/>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70" name="Google Shape;70;p6"/>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71" name="Google Shape;71;p6"/>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72" name="Google Shape;72;p6"/>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73" name="Google Shape;73;p6"/>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74" name="Google Shape;74;p6" descr="University of Waterloo logo"/>
          <p:cNvPicPr preferRelativeResize="0"/>
          <p:nvPr/>
        </p:nvPicPr>
        <p:blipFill rotWithShape="1">
          <a:blip r:embed="rId2">
            <a:alphaModFix/>
          </a:blip>
          <a:srcRect/>
          <a:stretch/>
        </p:blipFill>
        <p:spPr>
          <a:xfrm>
            <a:off x="-64157" y="5304723"/>
            <a:ext cx="3759035" cy="148422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Black with Image">
  <p:cSld name="Title Slide Black with Image">
    <p:bg>
      <p:bgPr>
        <a:solidFill>
          <a:schemeClr val="dk1"/>
        </a:solidFill>
        <a:effectLst/>
      </p:bgPr>
    </p:bg>
    <p:spTree>
      <p:nvGrpSpPr>
        <p:cNvPr id="1" name="Shape 75"/>
        <p:cNvGrpSpPr/>
        <p:nvPr/>
      </p:nvGrpSpPr>
      <p:grpSpPr>
        <a:xfrm>
          <a:off x="0" y="0"/>
          <a:ext cx="0" cy="0"/>
          <a:chOff x="0" y="0"/>
          <a:chExt cx="0" cy="0"/>
        </a:xfrm>
      </p:grpSpPr>
      <p:sp>
        <p:nvSpPr>
          <p:cNvPr id="76" name="Google Shape;76;p7"/>
          <p:cNvSpPr>
            <a:spLocks noGrp="1"/>
          </p:cNvSpPr>
          <p:nvPr>
            <p:ph type="pic" idx="2"/>
          </p:nvPr>
        </p:nvSpPr>
        <p:spPr>
          <a:xfrm>
            <a:off x="6094124" y="397164"/>
            <a:ext cx="6097876" cy="6460836"/>
          </a:xfrm>
          <a:prstGeom prst="rect">
            <a:avLst/>
          </a:prstGeom>
          <a:noFill/>
          <a:ln>
            <a:noFill/>
          </a:ln>
        </p:spPr>
      </p:sp>
      <p:sp>
        <p:nvSpPr>
          <p:cNvPr id="77" name="Google Shape;77;p7"/>
          <p:cNvSpPr txBox="1">
            <a:spLocks noGrp="1"/>
          </p:cNvSpPr>
          <p:nvPr>
            <p:ph type="ctrTitle"/>
          </p:nvPr>
        </p:nvSpPr>
        <p:spPr>
          <a:xfrm>
            <a:off x="452740" y="1028940"/>
            <a:ext cx="5486243" cy="1474115"/>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5400"/>
              <a:buFont typeface="Barlow Condensed"/>
              <a:buNone/>
              <a:defRPr sz="5400" b="1" cap="none">
                <a:solidFill>
                  <a:schemeClr val="lt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7"/>
          <p:cNvSpPr txBox="1">
            <a:spLocks noGrp="1"/>
          </p:cNvSpPr>
          <p:nvPr>
            <p:ph type="subTitle" idx="1"/>
          </p:nvPr>
        </p:nvSpPr>
        <p:spPr>
          <a:xfrm>
            <a:off x="452740" y="4266821"/>
            <a:ext cx="5486243" cy="666549"/>
          </a:xfrm>
          <a:prstGeom prst="rect">
            <a:avLst/>
          </a:prstGeom>
          <a:noFill/>
          <a:ln>
            <a:noFill/>
          </a:ln>
        </p:spPr>
        <p:txBody>
          <a:bodyPr spcFirstLastPara="1" wrap="square" lIns="0" tIns="45700" rIns="91425" bIns="45700" anchor="t" anchorCtr="0">
            <a:normAutofit/>
          </a:bodyPr>
          <a:lstStyle>
            <a:lvl1pPr lvl="0" algn="l">
              <a:lnSpc>
                <a:spcPct val="100000"/>
              </a:lnSpc>
              <a:spcBef>
                <a:spcPts val="800"/>
              </a:spcBef>
              <a:spcAft>
                <a:spcPts val="0"/>
              </a:spcAft>
              <a:buSzPts val="1275"/>
              <a:buNone/>
              <a:defRPr sz="1500" b="0">
                <a:solidFill>
                  <a:srgbClr val="D8D8D8"/>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9" name="Google Shape;79;p7"/>
          <p:cNvSpPr txBox="1">
            <a:spLocks noGrp="1"/>
          </p:cNvSpPr>
          <p:nvPr>
            <p:ph type="dt" idx="10"/>
          </p:nvPr>
        </p:nvSpPr>
        <p:spPr>
          <a:xfrm>
            <a:off x="452740" y="2642329"/>
            <a:ext cx="1182916" cy="377962"/>
          </a:xfrm>
          <a:prstGeom prst="rect">
            <a:avLst/>
          </a:prstGeom>
          <a:solidFill>
            <a:schemeClr val="accent1"/>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7"/>
          <p:cNvSpPr txBox="1">
            <a:spLocks noGrp="1"/>
          </p:cNvSpPr>
          <p:nvPr>
            <p:ph type="ftr" idx="11"/>
          </p:nvPr>
        </p:nvSpPr>
        <p:spPr>
          <a:xfrm>
            <a:off x="6623674" y="6377231"/>
            <a:ext cx="4293708"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
          <p:cNvSpPr txBox="1">
            <a:spLocks noGrp="1"/>
          </p:cNvSpPr>
          <p:nvPr>
            <p:ph type="sldNum" idx="12"/>
          </p:nvPr>
        </p:nvSpPr>
        <p:spPr>
          <a:xfrm>
            <a:off x="11148416" y="6377231"/>
            <a:ext cx="5539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rgbClr val="D8D8D8"/>
                </a:solidFill>
                <a:latin typeface="Verdana"/>
                <a:ea typeface="Verdana"/>
                <a:cs typeface="Verdana"/>
                <a:sym typeface="Verdana"/>
              </a:defRPr>
            </a:lvl1pPr>
            <a:lvl2pPr marL="0" lvl="1" indent="0" algn="ctr">
              <a:spcBef>
                <a:spcPts val="0"/>
              </a:spcBef>
              <a:buNone/>
              <a:defRPr sz="1000">
                <a:solidFill>
                  <a:srgbClr val="D8D8D8"/>
                </a:solidFill>
                <a:latin typeface="Verdana"/>
                <a:ea typeface="Verdana"/>
                <a:cs typeface="Verdana"/>
                <a:sym typeface="Verdana"/>
              </a:defRPr>
            </a:lvl2pPr>
            <a:lvl3pPr marL="0" lvl="2" indent="0" algn="ctr">
              <a:spcBef>
                <a:spcPts val="0"/>
              </a:spcBef>
              <a:buNone/>
              <a:defRPr sz="1000">
                <a:solidFill>
                  <a:srgbClr val="D8D8D8"/>
                </a:solidFill>
                <a:latin typeface="Verdana"/>
                <a:ea typeface="Verdana"/>
                <a:cs typeface="Verdana"/>
                <a:sym typeface="Verdana"/>
              </a:defRPr>
            </a:lvl3pPr>
            <a:lvl4pPr marL="0" lvl="3" indent="0" algn="ctr">
              <a:spcBef>
                <a:spcPts val="0"/>
              </a:spcBef>
              <a:buNone/>
              <a:defRPr sz="1000">
                <a:solidFill>
                  <a:srgbClr val="D8D8D8"/>
                </a:solidFill>
                <a:latin typeface="Verdana"/>
                <a:ea typeface="Verdana"/>
                <a:cs typeface="Verdana"/>
                <a:sym typeface="Verdana"/>
              </a:defRPr>
            </a:lvl4pPr>
            <a:lvl5pPr marL="0" lvl="4" indent="0" algn="ctr">
              <a:spcBef>
                <a:spcPts val="0"/>
              </a:spcBef>
              <a:buNone/>
              <a:defRPr sz="1000">
                <a:solidFill>
                  <a:srgbClr val="D8D8D8"/>
                </a:solidFill>
                <a:latin typeface="Verdana"/>
                <a:ea typeface="Verdana"/>
                <a:cs typeface="Verdana"/>
                <a:sym typeface="Verdana"/>
              </a:defRPr>
            </a:lvl5pPr>
            <a:lvl6pPr marL="0" lvl="5" indent="0" algn="ctr">
              <a:spcBef>
                <a:spcPts val="0"/>
              </a:spcBef>
              <a:buNone/>
              <a:defRPr sz="1000">
                <a:solidFill>
                  <a:srgbClr val="D8D8D8"/>
                </a:solidFill>
                <a:latin typeface="Verdana"/>
                <a:ea typeface="Verdana"/>
                <a:cs typeface="Verdana"/>
                <a:sym typeface="Verdana"/>
              </a:defRPr>
            </a:lvl6pPr>
            <a:lvl7pPr marL="0" lvl="6" indent="0" algn="ctr">
              <a:spcBef>
                <a:spcPts val="0"/>
              </a:spcBef>
              <a:buNone/>
              <a:defRPr sz="1000">
                <a:solidFill>
                  <a:srgbClr val="D8D8D8"/>
                </a:solidFill>
                <a:latin typeface="Verdana"/>
                <a:ea typeface="Verdana"/>
                <a:cs typeface="Verdana"/>
                <a:sym typeface="Verdana"/>
              </a:defRPr>
            </a:lvl7pPr>
            <a:lvl8pPr marL="0" lvl="7" indent="0" algn="ctr">
              <a:spcBef>
                <a:spcPts val="0"/>
              </a:spcBef>
              <a:buNone/>
              <a:defRPr sz="1000">
                <a:solidFill>
                  <a:srgbClr val="D8D8D8"/>
                </a:solidFill>
                <a:latin typeface="Verdana"/>
                <a:ea typeface="Verdana"/>
                <a:cs typeface="Verdana"/>
                <a:sym typeface="Verdana"/>
              </a:defRPr>
            </a:lvl8pPr>
            <a:lvl9pPr marL="0" lvl="8" indent="0" algn="ctr">
              <a:spcBef>
                <a:spcPts val="0"/>
              </a:spcBef>
              <a:buNone/>
              <a:defRPr sz="1000">
                <a:solidFill>
                  <a:srgbClr val="D8D8D8"/>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n-US"/>
              <a:t>‹#›</a:t>
            </a:fld>
            <a:endParaRPr/>
          </a:p>
        </p:txBody>
      </p:sp>
      <p:grpSp>
        <p:nvGrpSpPr>
          <p:cNvPr id="82" name="Google Shape;82;p7"/>
          <p:cNvGrpSpPr/>
          <p:nvPr/>
        </p:nvGrpSpPr>
        <p:grpSpPr>
          <a:xfrm>
            <a:off x="0" y="0"/>
            <a:ext cx="12192000" cy="397164"/>
            <a:chOff x="421830" y="1342659"/>
            <a:chExt cx="10018760" cy="290558"/>
          </a:xfrm>
        </p:grpSpPr>
        <p:sp>
          <p:nvSpPr>
            <p:cNvPr id="83" name="Google Shape;83;p7"/>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84" name="Google Shape;84;p7"/>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85" name="Google Shape;85;p7"/>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86" name="Google Shape;86;p7"/>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87" name="Google Shape;87;p7"/>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88" name="Google Shape;88;p7" descr="University of Waterloo logo"/>
          <p:cNvPicPr preferRelativeResize="0"/>
          <p:nvPr/>
        </p:nvPicPr>
        <p:blipFill rotWithShape="1">
          <a:blip r:embed="rId2">
            <a:alphaModFix/>
          </a:blip>
          <a:srcRect/>
          <a:stretch/>
        </p:blipFill>
        <p:spPr>
          <a:xfrm>
            <a:off x="-64157" y="5304723"/>
            <a:ext cx="3759035" cy="148422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_Menu">
  <p:cSld name="Title and Content_Menu">
    <p:spTree>
      <p:nvGrpSpPr>
        <p:cNvPr id="1" name="Shape 89"/>
        <p:cNvGrpSpPr/>
        <p:nvPr/>
      </p:nvGrpSpPr>
      <p:grpSpPr>
        <a:xfrm>
          <a:off x="0" y="0"/>
          <a:ext cx="0" cy="0"/>
          <a:chOff x="0" y="0"/>
          <a:chExt cx="0" cy="0"/>
        </a:xfrm>
      </p:grpSpPr>
      <p:sp>
        <p:nvSpPr>
          <p:cNvPr id="90" name="Google Shape;90;p8"/>
          <p:cNvSpPr txBox="1">
            <a:spLocks noGrp="1"/>
          </p:cNvSpPr>
          <p:nvPr>
            <p:ph type="body" idx="1"/>
          </p:nvPr>
        </p:nvSpPr>
        <p:spPr>
          <a:xfrm>
            <a:off x="259882" y="1413163"/>
            <a:ext cx="11569729" cy="4595117"/>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800"/>
              </a:spcBef>
              <a:spcAft>
                <a:spcPts val="0"/>
              </a:spcAft>
              <a:buSzPts val="1530"/>
              <a:buChar char="▪"/>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8"/>
          <p:cNvSpPr txBox="1">
            <a:spLocks noGrp="1"/>
          </p:cNvSpPr>
          <p:nvPr>
            <p:ph type="body" idx="2"/>
          </p:nvPr>
        </p:nvSpPr>
        <p:spPr>
          <a:xfrm>
            <a:off x="7407696" y="685060"/>
            <a:ext cx="1420859" cy="286052"/>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800"/>
              </a:spcBef>
              <a:spcAft>
                <a:spcPts val="0"/>
              </a:spcAft>
              <a:buSzPts val="935"/>
              <a:buNone/>
              <a:defRPr sz="1100" b="0">
                <a:solidFill>
                  <a:srgbClr val="7F7F7F"/>
                </a:solidFill>
                <a:latin typeface="Verdana"/>
                <a:ea typeface="Verdana"/>
                <a:cs typeface="Verdana"/>
                <a:sym typeface="Verdana"/>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8"/>
          <p:cNvSpPr txBox="1">
            <a:spLocks noGrp="1"/>
          </p:cNvSpPr>
          <p:nvPr>
            <p:ph type="body" idx="3"/>
          </p:nvPr>
        </p:nvSpPr>
        <p:spPr>
          <a:xfrm>
            <a:off x="8908224" y="685060"/>
            <a:ext cx="1420859" cy="286052"/>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800"/>
              </a:spcBef>
              <a:spcAft>
                <a:spcPts val="0"/>
              </a:spcAft>
              <a:buSzPts val="935"/>
              <a:buNone/>
              <a:defRPr sz="1100" b="0">
                <a:solidFill>
                  <a:srgbClr val="7F7F7F"/>
                </a:solidFill>
                <a:latin typeface="Verdana"/>
                <a:ea typeface="Verdana"/>
                <a:cs typeface="Verdana"/>
                <a:sym typeface="Verdana"/>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8"/>
          <p:cNvSpPr txBox="1">
            <a:spLocks noGrp="1"/>
          </p:cNvSpPr>
          <p:nvPr>
            <p:ph type="body" idx="4"/>
          </p:nvPr>
        </p:nvSpPr>
        <p:spPr>
          <a:xfrm>
            <a:off x="10408752" y="685060"/>
            <a:ext cx="1420859" cy="286052"/>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800"/>
              </a:spcBef>
              <a:spcAft>
                <a:spcPts val="0"/>
              </a:spcAft>
              <a:buSzPts val="935"/>
              <a:buNone/>
              <a:defRPr sz="1100" b="0">
                <a:solidFill>
                  <a:srgbClr val="7F7F7F"/>
                </a:solidFill>
                <a:latin typeface="Verdana"/>
                <a:ea typeface="Verdana"/>
                <a:cs typeface="Verdana"/>
                <a:sym typeface="Verdana"/>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8"/>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8"/>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8"/>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
        <p:nvSpPr>
          <p:cNvPr id="97" name="Google Shape;97;p8"/>
          <p:cNvSpPr txBox="1">
            <a:spLocks noGrp="1"/>
          </p:cNvSpPr>
          <p:nvPr>
            <p:ph type="title"/>
          </p:nvPr>
        </p:nvSpPr>
        <p:spPr>
          <a:xfrm>
            <a:off x="259883" y="434108"/>
            <a:ext cx="7046081" cy="895927"/>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1"/>
              </a:buClr>
              <a:buSzPts val="4000"/>
              <a:buFont typeface="Barlow Condensed"/>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8"/>
        <p:cNvGrpSpPr/>
        <p:nvPr/>
      </p:nvGrpSpPr>
      <p:grpSpPr>
        <a:xfrm>
          <a:off x="0" y="0"/>
          <a:ext cx="0" cy="0"/>
          <a:chOff x="0" y="0"/>
          <a:chExt cx="0" cy="0"/>
        </a:xfrm>
      </p:grpSpPr>
      <p:sp>
        <p:nvSpPr>
          <p:cNvPr id="99" name="Google Shape;99;p9"/>
          <p:cNvSpPr txBox="1">
            <a:spLocks noGrp="1"/>
          </p:cNvSpPr>
          <p:nvPr>
            <p:ph type="title"/>
          </p:nvPr>
        </p:nvSpPr>
        <p:spPr>
          <a:xfrm>
            <a:off x="259882" y="1709738"/>
            <a:ext cx="9399507" cy="285273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chemeClr val="dk1"/>
              </a:buClr>
              <a:buSzPts val="4000"/>
              <a:buFont typeface="Barlow Condensed"/>
              <a:buNone/>
              <a:defRPr sz="4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9"/>
          <p:cNvSpPr txBox="1">
            <a:spLocks noGrp="1"/>
          </p:cNvSpPr>
          <p:nvPr>
            <p:ph type="body" idx="1"/>
          </p:nvPr>
        </p:nvSpPr>
        <p:spPr>
          <a:xfrm>
            <a:off x="259882" y="4589463"/>
            <a:ext cx="9399507"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800"/>
              </a:spcBef>
              <a:spcAft>
                <a:spcPts val="0"/>
              </a:spcAft>
              <a:buSzPts val="2040"/>
              <a:buNone/>
              <a:defRPr sz="2400">
                <a:solidFill>
                  <a:srgbClr val="888888"/>
                </a:solidFill>
              </a:defRPr>
            </a:lvl1pPr>
            <a:lvl2pPr marL="914400" lvl="1" indent="-228600" algn="l">
              <a:lnSpc>
                <a:spcPct val="100000"/>
              </a:lnSpc>
              <a:spcBef>
                <a:spcPts val="800"/>
              </a:spcBef>
              <a:spcAft>
                <a:spcPts val="0"/>
              </a:spcAft>
              <a:buSzPts val="1700"/>
              <a:buNone/>
              <a:defRPr sz="2000">
                <a:solidFill>
                  <a:srgbClr val="888888"/>
                </a:solidFill>
              </a:defRPr>
            </a:lvl2pPr>
            <a:lvl3pPr marL="1371600" lvl="2" indent="-228600" algn="l">
              <a:lnSpc>
                <a:spcPct val="100000"/>
              </a:lnSpc>
              <a:spcBef>
                <a:spcPts val="800"/>
              </a:spcBef>
              <a:spcAft>
                <a:spcPts val="0"/>
              </a:spcAft>
              <a:buSzPts val="1530"/>
              <a:buNone/>
              <a:defRPr sz="1800">
                <a:solidFill>
                  <a:srgbClr val="888888"/>
                </a:solidFill>
              </a:defRPr>
            </a:lvl3pPr>
            <a:lvl4pPr marL="1828800" lvl="3" indent="-228600" algn="l">
              <a:lnSpc>
                <a:spcPct val="100000"/>
              </a:lnSpc>
              <a:spcBef>
                <a:spcPts val="800"/>
              </a:spcBef>
              <a:spcAft>
                <a:spcPts val="0"/>
              </a:spcAft>
              <a:buSzPts val="1360"/>
              <a:buNone/>
              <a:defRPr sz="1600">
                <a:solidFill>
                  <a:srgbClr val="888888"/>
                </a:solidFill>
              </a:defRPr>
            </a:lvl4pPr>
            <a:lvl5pPr marL="2286000" lvl="4" indent="-228600" algn="l">
              <a:lnSpc>
                <a:spcPct val="100000"/>
              </a:lnSpc>
              <a:spcBef>
                <a:spcPts val="800"/>
              </a:spcBef>
              <a:spcAft>
                <a:spcPts val="0"/>
              </a:spcAft>
              <a:buSzPts val="1360"/>
              <a:buNone/>
              <a:defRPr sz="1600">
                <a:solidFill>
                  <a:srgbClr val="888888"/>
                </a:solidFill>
              </a:defRPr>
            </a:lvl5pPr>
            <a:lvl6pPr marL="2743200" lvl="5" indent="-228600" algn="l">
              <a:lnSpc>
                <a:spcPct val="90000"/>
              </a:lnSpc>
              <a:spcBef>
                <a:spcPts val="8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1" name="Google Shape;101;p9"/>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9"/>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9"/>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_ALT">
  <p:cSld name="Section Header_ALT">
    <p:spTree>
      <p:nvGrpSpPr>
        <p:cNvPr id="1" name="Shape 104"/>
        <p:cNvGrpSpPr/>
        <p:nvPr/>
      </p:nvGrpSpPr>
      <p:grpSpPr>
        <a:xfrm>
          <a:off x="0" y="0"/>
          <a:ext cx="0" cy="0"/>
          <a:chOff x="0" y="0"/>
          <a:chExt cx="0" cy="0"/>
        </a:xfrm>
      </p:grpSpPr>
      <p:sp>
        <p:nvSpPr>
          <p:cNvPr id="105" name="Google Shape;105;p10"/>
          <p:cNvSpPr txBox="1">
            <a:spLocks noGrp="1"/>
          </p:cNvSpPr>
          <p:nvPr>
            <p:ph type="ctrTitle"/>
          </p:nvPr>
        </p:nvSpPr>
        <p:spPr>
          <a:xfrm>
            <a:off x="960521" y="3227413"/>
            <a:ext cx="8770620" cy="1212056"/>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chemeClr val="dk1"/>
              </a:buClr>
              <a:buSzPts val="4000"/>
              <a:buFont typeface="Barlow Condensed"/>
              <a:buNone/>
              <a:defRPr sz="4000" cap="none">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10"/>
          <p:cNvSpPr txBox="1">
            <a:spLocks noGrp="1"/>
          </p:cNvSpPr>
          <p:nvPr>
            <p:ph type="subTitle" idx="1"/>
          </p:nvPr>
        </p:nvSpPr>
        <p:spPr>
          <a:xfrm>
            <a:off x="960521" y="4447299"/>
            <a:ext cx="8770620" cy="666549"/>
          </a:xfrm>
          <a:prstGeom prst="rect">
            <a:avLst/>
          </a:prstGeom>
          <a:noFill/>
          <a:ln>
            <a:noFill/>
          </a:ln>
        </p:spPr>
        <p:txBody>
          <a:bodyPr spcFirstLastPara="1" wrap="square" lIns="91425" tIns="45700" rIns="91425" bIns="45700" anchor="t" anchorCtr="0">
            <a:normAutofit/>
          </a:bodyPr>
          <a:lstStyle>
            <a:lvl1pPr lvl="0" algn="l">
              <a:lnSpc>
                <a:spcPct val="100000"/>
              </a:lnSpc>
              <a:spcBef>
                <a:spcPts val="800"/>
              </a:spcBef>
              <a:spcAft>
                <a:spcPts val="0"/>
              </a:spcAft>
              <a:buSzPts val="2040"/>
              <a:buNone/>
              <a:defRPr sz="2400">
                <a:solidFill>
                  <a:srgbClr val="7F7F7F"/>
                </a:solidFill>
              </a:defRPr>
            </a:lvl1pPr>
            <a:lvl2pPr lvl="1" algn="ctr">
              <a:lnSpc>
                <a:spcPct val="100000"/>
              </a:lnSpc>
              <a:spcBef>
                <a:spcPts val="800"/>
              </a:spcBef>
              <a:spcAft>
                <a:spcPts val="0"/>
              </a:spcAft>
              <a:buSzPts val="1700"/>
              <a:buNone/>
              <a:defRPr sz="2000"/>
            </a:lvl2pPr>
            <a:lvl3pPr lvl="2" algn="ctr">
              <a:lnSpc>
                <a:spcPct val="100000"/>
              </a:lnSpc>
              <a:spcBef>
                <a:spcPts val="800"/>
              </a:spcBef>
              <a:spcAft>
                <a:spcPts val="0"/>
              </a:spcAft>
              <a:buSzPts val="1530"/>
              <a:buNone/>
              <a:defRPr sz="1800"/>
            </a:lvl3pPr>
            <a:lvl4pPr lvl="3" algn="ctr">
              <a:lnSpc>
                <a:spcPct val="100000"/>
              </a:lnSpc>
              <a:spcBef>
                <a:spcPts val="800"/>
              </a:spcBef>
              <a:spcAft>
                <a:spcPts val="0"/>
              </a:spcAft>
              <a:buSzPts val="1360"/>
              <a:buNone/>
              <a:defRPr sz="1600"/>
            </a:lvl4pPr>
            <a:lvl5pPr lvl="4" algn="ctr">
              <a:lnSpc>
                <a:spcPct val="100000"/>
              </a:lnSpc>
              <a:spcBef>
                <a:spcPts val="800"/>
              </a:spcBef>
              <a:spcAft>
                <a:spcPts val="0"/>
              </a:spcAft>
              <a:buSzPts val="1360"/>
              <a:buNone/>
              <a:defRPr sz="1600"/>
            </a:lvl5pPr>
            <a:lvl6pPr lvl="5" algn="ctr">
              <a:lnSpc>
                <a:spcPct val="90000"/>
              </a:lnSpc>
              <a:spcBef>
                <a:spcPts val="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7" name="Google Shape;107;p10"/>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0"/>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0"/>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110" name="Google Shape;110;p10"/>
          <p:cNvGrpSpPr/>
          <p:nvPr/>
        </p:nvGrpSpPr>
        <p:grpSpPr>
          <a:xfrm>
            <a:off x="0" y="0"/>
            <a:ext cx="12192000" cy="397164"/>
            <a:chOff x="421830" y="1342659"/>
            <a:chExt cx="10018760" cy="290558"/>
          </a:xfrm>
        </p:grpSpPr>
        <p:sp>
          <p:nvSpPr>
            <p:cNvPr id="111" name="Google Shape;111;p10"/>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12" name="Google Shape;112;p10"/>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13" name="Google Shape;113;p10"/>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14" name="Google Shape;114;p10"/>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15" name="Google Shape;115;p10"/>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16"/>
        <p:cNvGrpSpPr/>
        <p:nvPr/>
      </p:nvGrpSpPr>
      <p:grpSpPr>
        <a:xfrm>
          <a:off x="0" y="0"/>
          <a:ext cx="0" cy="0"/>
          <a:chOff x="0" y="0"/>
          <a:chExt cx="0" cy="0"/>
        </a:xfrm>
      </p:grpSpPr>
      <p:sp>
        <p:nvSpPr>
          <p:cNvPr id="117" name="Google Shape;117;p11"/>
          <p:cNvSpPr txBox="1">
            <a:spLocks noGrp="1"/>
          </p:cNvSpPr>
          <p:nvPr>
            <p:ph type="body" idx="1"/>
          </p:nvPr>
        </p:nvSpPr>
        <p:spPr>
          <a:xfrm>
            <a:off x="259881" y="1396192"/>
            <a:ext cx="5542713" cy="67027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800"/>
              </a:spcBef>
              <a:spcAft>
                <a:spcPts val="0"/>
              </a:spcAft>
              <a:buSzPts val="2380"/>
              <a:buNone/>
              <a:defRPr sz="2800" b="1">
                <a:latin typeface="Georgia"/>
                <a:ea typeface="Georgia"/>
                <a:cs typeface="Georgia"/>
                <a:sym typeface="Georgia"/>
              </a:defRPr>
            </a:lvl1pPr>
            <a:lvl2pPr marL="914400" lvl="1" indent="-228600" algn="l">
              <a:lnSpc>
                <a:spcPct val="100000"/>
              </a:lnSpc>
              <a:spcBef>
                <a:spcPts val="800"/>
              </a:spcBef>
              <a:spcAft>
                <a:spcPts val="0"/>
              </a:spcAft>
              <a:buSzPts val="1700"/>
              <a:buNone/>
              <a:defRPr sz="2000" b="1"/>
            </a:lvl2pPr>
            <a:lvl3pPr marL="1371600" lvl="2" indent="-228600" algn="l">
              <a:lnSpc>
                <a:spcPct val="100000"/>
              </a:lnSpc>
              <a:spcBef>
                <a:spcPts val="800"/>
              </a:spcBef>
              <a:spcAft>
                <a:spcPts val="0"/>
              </a:spcAft>
              <a:buSzPts val="1530"/>
              <a:buNone/>
              <a:defRPr sz="1800" b="1"/>
            </a:lvl3pPr>
            <a:lvl4pPr marL="1828800" lvl="3" indent="-228600" algn="l">
              <a:lnSpc>
                <a:spcPct val="100000"/>
              </a:lnSpc>
              <a:spcBef>
                <a:spcPts val="800"/>
              </a:spcBef>
              <a:spcAft>
                <a:spcPts val="0"/>
              </a:spcAft>
              <a:buSzPts val="1360"/>
              <a:buNone/>
              <a:defRPr sz="1600" b="1"/>
            </a:lvl4pPr>
            <a:lvl5pPr marL="2286000" lvl="4" indent="-228600" algn="l">
              <a:lnSpc>
                <a:spcPct val="100000"/>
              </a:lnSpc>
              <a:spcBef>
                <a:spcPts val="800"/>
              </a:spcBef>
              <a:spcAft>
                <a:spcPts val="0"/>
              </a:spcAft>
              <a:buSzPts val="1360"/>
              <a:buNone/>
              <a:defRPr sz="1600" b="1"/>
            </a:lvl5pPr>
            <a:lvl6pPr marL="2743200" lvl="5" indent="-228600" algn="l">
              <a:lnSpc>
                <a:spcPct val="90000"/>
              </a:lnSpc>
              <a:spcBef>
                <a:spcPts val="8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11"/>
          <p:cNvSpPr txBox="1">
            <a:spLocks noGrp="1"/>
          </p:cNvSpPr>
          <p:nvPr>
            <p:ph type="body" idx="2"/>
          </p:nvPr>
        </p:nvSpPr>
        <p:spPr>
          <a:xfrm>
            <a:off x="259881" y="2184400"/>
            <a:ext cx="5542713" cy="3846945"/>
          </a:xfrm>
          <a:prstGeom prst="rect">
            <a:avLst/>
          </a:prstGeom>
          <a:noFill/>
          <a:ln>
            <a:noFill/>
          </a:ln>
        </p:spPr>
        <p:txBody>
          <a:bodyPr spcFirstLastPara="1" wrap="square" lIns="91425" tIns="45700" rIns="91425" bIns="45700" anchor="t" anchorCtr="0">
            <a:normAutofit/>
          </a:bodyPr>
          <a:lstStyle>
            <a:lvl1pPr marL="457200" lvl="0" indent="-336550" algn="l">
              <a:lnSpc>
                <a:spcPct val="100000"/>
              </a:lnSpc>
              <a:spcBef>
                <a:spcPts val="800"/>
              </a:spcBef>
              <a:spcAft>
                <a:spcPts val="0"/>
              </a:spcAft>
              <a:buSzPts val="1700"/>
              <a:buFont typeface="Noto Sans Symbols"/>
              <a:buChar char="▪"/>
              <a:defRPr sz="2000"/>
            </a:lvl1pPr>
            <a:lvl2pPr marL="914400" lvl="1" indent="-325755" algn="l">
              <a:lnSpc>
                <a:spcPct val="100000"/>
              </a:lnSpc>
              <a:spcBef>
                <a:spcPts val="800"/>
              </a:spcBef>
              <a:spcAft>
                <a:spcPts val="0"/>
              </a:spcAft>
              <a:buSzPts val="1530"/>
              <a:buFont typeface="Noto Sans Symbols"/>
              <a:buChar char="▪"/>
              <a:defRPr sz="1800"/>
            </a:lvl2pPr>
            <a:lvl3pPr marL="1371600" lvl="2" indent="-314960" algn="l">
              <a:lnSpc>
                <a:spcPct val="100000"/>
              </a:lnSpc>
              <a:spcBef>
                <a:spcPts val="800"/>
              </a:spcBef>
              <a:spcAft>
                <a:spcPts val="0"/>
              </a:spcAft>
              <a:buSzPts val="1360"/>
              <a:buFont typeface="Noto Sans Symbols"/>
              <a:buChar char="▪"/>
              <a:defRPr sz="1600"/>
            </a:lvl3pPr>
            <a:lvl4pPr marL="1828800" lvl="3" indent="-304165" algn="l">
              <a:lnSpc>
                <a:spcPct val="100000"/>
              </a:lnSpc>
              <a:spcBef>
                <a:spcPts val="800"/>
              </a:spcBef>
              <a:spcAft>
                <a:spcPts val="0"/>
              </a:spcAft>
              <a:buSzPts val="1190"/>
              <a:buFont typeface="Noto Sans Symbols"/>
              <a:buChar char="▪"/>
              <a:defRPr sz="1400"/>
            </a:lvl4pPr>
            <a:lvl5pPr marL="2286000" lvl="4" indent="-304165" algn="l">
              <a:lnSpc>
                <a:spcPct val="100000"/>
              </a:lnSpc>
              <a:spcBef>
                <a:spcPts val="800"/>
              </a:spcBef>
              <a:spcAft>
                <a:spcPts val="0"/>
              </a:spcAft>
              <a:buSzPts val="1190"/>
              <a:buFont typeface="Noto Sans Symbols"/>
              <a:buChar char="▪"/>
              <a:defRPr sz="1400"/>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11"/>
          <p:cNvSpPr txBox="1">
            <a:spLocks noGrp="1"/>
          </p:cNvSpPr>
          <p:nvPr>
            <p:ph type="body" idx="3"/>
          </p:nvPr>
        </p:nvSpPr>
        <p:spPr>
          <a:xfrm>
            <a:off x="6236154" y="1396192"/>
            <a:ext cx="5593458" cy="67027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800"/>
              </a:spcBef>
              <a:spcAft>
                <a:spcPts val="0"/>
              </a:spcAft>
              <a:buSzPts val="2380"/>
              <a:buNone/>
              <a:defRPr sz="2800" b="1">
                <a:latin typeface="Georgia"/>
                <a:ea typeface="Georgia"/>
                <a:cs typeface="Georgia"/>
                <a:sym typeface="Georgia"/>
              </a:defRPr>
            </a:lvl1pPr>
            <a:lvl2pPr marL="914400" lvl="1" indent="-228600" algn="l">
              <a:lnSpc>
                <a:spcPct val="100000"/>
              </a:lnSpc>
              <a:spcBef>
                <a:spcPts val="800"/>
              </a:spcBef>
              <a:spcAft>
                <a:spcPts val="0"/>
              </a:spcAft>
              <a:buSzPts val="1700"/>
              <a:buNone/>
              <a:defRPr sz="2000" b="1"/>
            </a:lvl2pPr>
            <a:lvl3pPr marL="1371600" lvl="2" indent="-228600" algn="l">
              <a:lnSpc>
                <a:spcPct val="100000"/>
              </a:lnSpc>
              <a:spcBef>
                <a:spcPts val="800"/>
              </a:spcBef>
              <a:spcAft>
                <a:spcPts val="0"/>
              </a:spcAft>
              <a:buSzPts val="1530"/>
              <a:buNone/>
              <a:defRPr sz="1800" b="1"/>
            </a:lvl3pPr>
            <a:lvl4pPr marL="1828800" lvl="3" indent="-228600" algn="l">
              <a:lnSpc>
                <a:spcPct val="100000"/>
              </a:lnSpc>
              <a:spcBef>
                <a:spcPts val="800"/>
              </a:spcBef>
              <a:spcAft>
                <a:spcPts val="0"/>
              </a:spcAft>
              <a:buSzPts val="1360"/>
              <a:buNone/>
              <a:defRPr sz="1600" b="1"/>
            </a:lvl4pPr>
            <a:lvl5pPr marL="2286000" lvl="4" indent="-228600" algn="l">
              <a:lnSpc>
                <a:spcPct val="100000"/>
              </a:lnSpc>
              <a:spcBef>
                <a:spcPts val="800"/>
              </a:spcBef>
              <a:spcAft>
                <a:spcPts val="0"/>
              </a:spcAft>
              <a:buSzPts val="1360"/>
              <a:buNone/>
              <a:defRPr sz="1600" b="1"/>
            </a:lvl5pPr>
            <a:lvl6pPr marL="2743200" lvl="5" indent="-228600" algn="l">
              <a:lnSpc>
                <a:spcPct val="90000"/>
              </a:lnSpc>
              <a:spcBef>
                <a:spcPts val="8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11"/>
          <p:cNvSpPr txBox="1">
            <a:spLocks noGrp="1"/>
          </p:cNvSpPr>
          <p:nvPr>
            <p:ph type="body" idx="4"/>
          </p:nvPr>
        </p:nvSpPr>
        <p:spPr>
          <a:xfrm>
            <a:off x="6236154" y="2184400"/>
            <a:ext cx="5593458" cy="3846945"/>
          </a:xfrm>
          <a:prstGeom prst="rect">
            <a:avLst/>
          </a:prstGeom>
          <a:noFill/>
          <a:ln>
            <a:noFill/>
          </a:ln>
        </p:spPr>
        <p:txBody>
          <a:bodyPr spcFirstLastPara="1" wrap="square" lIns="91425" tIns="45700" rIns="91425" bIns="45700" anchor="t" anchorCtr="0">
            <a:normAutofit/>
          </a:bodyPr>
          <a:lstStyle>
            <a:lvl1pPr marL="457200" lvl="0" indent="-336550" algn="l">
              <a:lnSpc>
                <a:spcPct val="100000"/>
              </a:lnSpc>
              <a:spcBef>
                <a:spcPts val="800"/>
              </a:spcBef>
              <a:spcAft>
                <a:spcPts val="0"/>
              </a:spcAft>
              <a:buSzPts val="1700"/>
              <a:buFont typeface="Noto Sans Symbols"/>
              <a:buChar char="▪"/>
              <a:defRPr sz="2000"/>
            </a:lvl1pPr>
            <a:lvl2pPr marL="914400" lvl="1" indent="-325755" algn="l">
              <a:lnSpc>
                <a:spcPct val="100000"/>
              </a:lnSpc>
              <a:spcBef>
                <a:spcPts val="800"/>
              </a:spcBef>
              <a:spcAft>
                <a:spcPts val="0"/>
              </a:spcAft>
              <a:buSzPts val="1530"/>
              <a:buFont typeface="Noto Sans Symbols"/>
              <a:buChar char="▪"/>
              <a:defRPr sz="1800"/>
            </a:lvl2pPr>
            <a:lvl3pPr marL="1371600" lvl="2" indent="-314960" algn="l">
              <a:lnSpc>
                <a:spcPct val="100000"/>
              </a:lnSpc>
              <a:spcBef>
                <a:spcPts val="800"/>
              </a:spcBef>
              <a:spcAft>
                <a:spcPts val="0"/>
              </a:spcAft>
              <a:buSzPts val="1360"/>
              <a:buFont typeface="Noto Sans Symbols"/>
              <a:buChar char="▪"/>
              <a:defRPr sz="1600"/>
            </a:lvl3pPr>
            <a:lvl4pPr marL="1828800" lvl="3" indent="-304165" algn="l">
              <a:lnSpc>
                <a:spcPct val="100000"/>
              </a:lnSpc>
              <a:spcBef>
                <a:spcPts val="800"/>
              </a:spcBef>
              <a:spcAft>
                <a:spcPts val="0"/>
              </a:spcAft>
              <a:buSzPts val="1190"/>
              <a:buFont typeface="Noto Sans Symbols"/>
              <a:buChar char="▪"/>
              <a:defRPr sz="1400"/>
            </a:lvl4pPr>
            <a:lvl5pPr marL="2286000" lvl="4" indent="-304165" algn="l">
              <a:lnSpc>
                <a:spcPct val="100000"/>
              </a:lnSpc>
              <a:spcBef>
                <a:spcPts val="800"/>
              </a:spcBef>
              <a:spcAft>
                <a:spcPts val="0"/>
              </a:spcAft>
              <a:buSzPts val="1190"/>
              <a:buFont typeface="Noto Sans Symbols"/>
              <a:buChar char="▪"/>
              <a:defRPr sz="1400"/>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11"/>
          <p:cNvSpPr txBox="1">
            <a:spLocks noGrp="1"/>
          </p:cNvSpPr>
          <p:nvPr>
            <p:ph type="title"/>
          </p:nvPr>
        </p:nvSpPr>
        <p:spPr>
          <a:xfrm>
            <a:off x="259883" y="434108"/>
            <a:ext cx="11569729" cy="895927"/>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11"/>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1"/>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1"/>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5"/>
        <p:cNvGrpSpPr/>
        <p:nvPr/>
      </p:nvGrpSpPr>
      <p:grpSpPr>
        <a:xfrm>
          <a:off x="0" y="0"/>
          <a:ext cx="0" cy="0"/>
          <a:chOff x="0" y="0"/>
          <a:chExt cx="0" cy="0"/>
        </a:xfrm>
      </p:grpSpPr>
      <p:sp>
        <p:nvSpPr>
          <p:cNvPr id="126" name="Google Shape;126;p12"/>
          <p:cNvSpPr txBox="1">
            <a:spLocks noGrp="1"/>
          </p:cNvSpPr>
          <p:nvPr>
            <p:ph type="title"/>
          </p:nvPr>
        </p:nvSpPr>
        <p:spPr>
          <a:xfrm>
            <a:off x="259883" y="434108"/>
            <a:ext cx="11569729" cy="895927"/>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12"/>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2"/>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2"/>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0"/>
        <p:cNvGrpSpPr/>
        <p:nvPr/>
      </p:nvGrpSpPr>
      <p:grpSpPr>
        <a:xfrm>
          <a:off x="0" y="0"/>
          <a:ext cx="0" cy="0"/>
          <a:chOff x="0" y="0"/>
          <a:chExt cx="0" cy="0"/>
        </a:xfrm>
      </p:grpSpPr>
      <p:sp>
        <p:nvSpPr>
          <p:cNvPr id="131" name="Google Shape;131;p13"/>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3"/>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3"/>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Blank_NoBkgrd">
  <p:cSld name="Blank_NoBkgrd">
    <p:spTree>
      <p:nvGrpSpPr>
        <p:cNvPr id="1" name="Shape 134"/>
        <p:cNvGrpSpPr/>
        <p:nvPr/>
      </p:nvGrpSpPr>
      <p:grpSpPr>
        <a:xfrm>
          <a:off x="0" y="0"/>
          <a:ext cx="0" cy="0"/>
          <a:chOff x="0" y="0"/>
          <a:chExt cx="0" cy="0"/>
        </a:xfrm>
      </p:grpSpPr>
      <p:sp>
        <p:nvSpPr>
          <p:cNvPr id="135" name="Google Shape;135;p14"/>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4"/>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4"/>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138" name="Google Shape;138;p14"/>
          <p:cNvGrpSpPr/>
          <p:nvPr/>
        </p:nvGrpSpPr>
        <p:grpSpPr>
          <a:xfrm>
            <a:off x="0" y="0"/>
            <a:ext cx="12192000" cy="397164"/>
            <a:chOff x="421830" y="1342659"/>
            <a:chExt cx="10018760" cy="290558"/>
          </a:xfrm>
        </p:grpSpPr>
        <p:sp>
          <p:nvSpPr>
            <p:cNvPr id="139" name="Google Shape;139;p14"/>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40" name="Google Shape;140;p14"/>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41" name="Google Shape;141;p14"/>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42" name="Google Shape;142;p14"/>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43" name="Google Shape;143;p14"/>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ntext or Quote">
  <p:cSld name="Context or Quote">
    <p:bg>
      <p:bgPr>
        <a:solidFill>
          <a:schemeClr val="lt2"/>
        </a:solidFill>
        <a:effectLst/>
      </p:bgPr>
    </p:bg>
    <p:spTree>
      <p:nvGrpSpPr>
        <p:cNvPr id="1" name="Shape 144"/>
        <p:cNvGrpSpPr/>
        <p:nvPr/>
      </p:nvGrpSpPr>
      <p:grpSpPr>
        <a:xfrm>
          <a:off x="0" y="0"/>
          <a:ext cx="0" cy="0"/>
          <a:chOff x="0" y="0"/>
          <a:chExt cx="0" cy="0"/>
        </a:xfrm>
      </p:grpSpPr>
      <p:sp>
        <p:nvSpPr>
          <p:cNvPr id="145" name="Google Shape;145;p15"/>
          <p:cNvSpPr txBox="1">
            <a:spLocks noGrp="1"/>
          </p:cNvSpPr>
          <p:nvPr>
            <p:ph type="title"/>
          </p:nvPr>
        </p:nvSpPr>
        <p:spPr>
          <a:xfrm>
            <a:off x="3930071" y="1237675"/>
            <a:ext cx="4331855" cy="910202"/>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chemeClr val="dk1"/>
              </a:buClr>
              <a:buSzPts val="2800"/>
              <a:buFont typeface="Barlow Condensed"/>
              <a:buNone/>
              <a:defRPr sz="2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15"/>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5"/>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5"/>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cxnSp>
        <p:nvCxnSpPr>
          <p:cNvPr id="149" name="Google Shape;149;p15"/>
          <p:cNvCxnSpPr/>
          <p:nvPr/>
        </p:nvCxnSpPr>
        <p:spPr>
          <a:xfrm>
            <a:off x="3930073" y="2244437"/>
            <a:ext cx="4331855" cy="0"/>
          </a:xfrm>
          <a:prstGeom prst="straightConnector1">
            <a:avLst/>
          </a:prstGeom>
          <a:noFill/>
          <a:ln w="15875" cap="rnd" cmpd="sng">
            <a:solidFill>
              <a:schemeClr val="dk1"/>
            </a:solidFill>
            <a:prstDash val="solid"/>
            <a:miter lim="800000"/>
            <a:headEnd type="none" w="sm" len="sm"/>
            <a:tailEnd type="none" w="sm" len="sm"/>
          </a:ln>
        </p:spPr>
      </p:cxnSp>
      <p:cxnSp>
        <p:nvCxnSpPr>
          <p:cNvPr id="150" name="Google Shape;150;p15"/>
          <p:cNvCxnSpPr/>
          <p:nvPr/>
        </p:nvCxnSpPr>
        <p:spPr>
          <a:xfrm>
            <a:off x="3930073" y="4668983"/>
            <a:ext cx="4331855" cy="0"/>
          </a:xfrm>
          <a:prstGeom prst="straightConnector1">
            <a:avLst/>
          </a:prstGeom>
          <a:noFill/>
          <a:ln w="15875" cap="rnd" cmpd="sng">
            <a:solidFill>
              <a:schemeClr val="dk1"/>
            </a:solidFill>
            <a:prstDash val="solid"/>
            <a:miter lim="800000"/>
            <a:headEnd type="none" w="sm" len="sm"/>
            <a:tailEnd type="none" w="sm" len="sm"/>
          </a:ln>
        </p:spPr>
      </p:cxnSp>
      <p:sp>
        <p:nvSpPr>
          <p:cNvPr id="151" name="Google Shape;151;p15"/>
          <p:cNvSpPr txBox="1">
            <a:spLocks noGrp="1"/>
          </p:cNvSpPr>
          <p:nvPr>
            <p:ph type="body" idx="1"/>
          </p:nvPr>
        </p:nvSpPr>
        <p:spPr>
          <a:xfrm>
            <a:off x="660400" y="2420360"/>
            <a:ext cx="10871200" cy="21145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800"/>
              </a:spcBef>
              <a:spcAft>
                <a:spcPts val="0"/>
              </a:spcAft>
              <a:buSzPts val="2380"/>
              <a:buNone/>
              <a:defRPr sz="2800"/>
            </a:lvl1pPr>
            <a:lvl2pPr marL="914400" lvl="1" indent="-336550" algn="ctr">
              <a:lnSpc>
                <a:spcPct val="100000"/>
              </a:lnSpc>
              <a:spcBef>
                <a:spcPts val="800"/>
              </a:spcBef>
              <a:spcAft>
                <a:spcPts val="0"/>
              </a:spcAft>
              <a:buSzPts val="1700"/>
              <a:buChar char="▪"/>
              <a:defRPr/>
            </a:lvl2pPr>
            <a:lvl3pPr marL="1371600" lvl="2" indent="-325755" algn="ctr">
              <a:lnSpc>
                <a:spcPct val="100000"/>
              </a:lnSpc>
              <a:spcBef>
                <a:spcPts val="800"/>
              </a:spcBef>
              <a:spcAft>
                <a:spcPts val="0"/>
              </a:spcAft>
              <a:buSzPts val="1530"/>
              <a:buChar char="▪"/>
              <a:defRPr/>
            </a:lvl3pPr>
            <a:lvl4pPr marL="1828800" lvl="3" indent="-314960" algn="ctr">
              <a:lnSpc>
                <a:spcPct val="100000"/>
              </a:lnSpc>
              <a:spcBef>
                <a:spcPts val="800"/>
              </a:spcBef>
              <a:spcAft>
                <a:spcPts val="0"/>
              </a:spcAft>
              <a:buSzPts val="1360"/>
              <a:buChar char="▪"/>
              <a:defRPr/>
            </a:lvl4pPr>
            <a:lvl5pPr marL="2286000" lvl="4" indent="-314960" algn="ctr">
              <a:lnSpc>
                <a:spcPct val="100000"/>
              </a:lnSpc>
              <a:spcBef>
                <a:spcPts val="800"/>
              </a:spcBef>
              <a:spcAft>
                <a:spcPts val="0"/>
              </a:spcAft>
              <a:buSzPts val="136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15"/>
          <p:cNvSpPr txBox="1">
            <a:spLocks noGrp="1"/>
          </p:cNvSpPr>
          <p:nvPr>
            <p:ph type="body" idx="2"/>
          </p:nvPr>
        </p:nvSpPr>
        <p:spPr>
          <a:xfrm>
            <a:off x="3930072" y="4784725"/>
            <a:ext cx="4331855" cy="276225"/>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800"/>
              </a:spcBef>
              <a:spcAft>
                <a:spcPts val="0"/>
              </a:spcAft>
              <a:buSzPts val="1020"/>
              <a:buNone/>
              <a:defRPr sz="1200" b="1" cap="none">
                <a:solidFill>
                  <a:srgbClr val="595959"/>
                </a:solidFill>
                <a:latin typeface="Verdana"/>
                <a:ea typeface="Verdana"/>
                <a:cs typeface="Verdana"/>
                <a:sym typeface="Verdana"/>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53" name="Google Shape;153;p15"/>
          <p:cNvGrpSpPr/>
          <p:nvPr/>
        </p:nvGrpSpPr>
        <p:grpSpPr>
          <a:xfrm>
            <a:off x="0" y="0"/>
            <a:ext cx="12192000" cy="397164"/>
            <a:chOff x="421830" y="1342659"/>
            <a:chExt cx="10018760" cy="290558"/>
          </a:xfrm>
        </p:grpSpPr>
        <p:sp>
          <p:nvSpPr>
            <p:cNvPr id="154" name="Google Shape;154;p15"/>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55" name="Google Shape;155;p15"/>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56" name="Google Shape;156;p15"/>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57" name="Google Shape;157;p15"/>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58" name="Google Shape;158;p15"/>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ontext or Quote with Photo">
  <p:cSld name="Context or Quote with Photo">
    <p:bg>
      <p:bgPr>
        <a:solidFill>
          <a:schemeClr val="lt2"/>
        </a:solidFill>
        <a:effectLst/>
      </p:bgPr>
    </p:bg>
    <p:spTree>
      <p:nvGrpSpPr>
        <p:cNvPr id="1" name="Shape 159"/>
        <p:cNvGrpSpPr/>
        <p:nvPr/>
      </p:nvGrpSpPr>
      <p:grpSpPr>
        <a:xfrm>
          <a:off x="0" y="0"/>
          <a:ext cx="0" cy="0"/>
          <a:chOff x="0" y="0"/>
          <a:chExt cx="0" cy="0"/>
        </a:xfrm>
      </p:grpSpPr>
      <p:sp>
        <p:nvSpPr>
          <p:cNvPr id="160" name="Google Shape;160;p16"/>
          <p:cNvSpPr>
            <a:spLocks noGrp="1"/>
          </p:cNvSpPr>
          <p:nvPr>
            <p:ph type="pic" idx="2"/>
          </p:nvPr>
        </p:nvSpPr>
        <p:spPr>
          <a:xfrm>
            <a:off x="6350285" y="845819"/>
            <a:ext cx="5440648" cy="5407201"/>
          </a:xfrm>
          <a:prstGeom prst="rect">
            <a:avLst/>
          </a:prstGeom>
          <a:noFill/>
          <a:ln>
            <a:noFill/>
          </a:ln>
        </p:spPr>
      </p:sp>
      <p:sp>
        <p:nvSpPr>
          <p:cNvPr id="161" name="Google Shape;161;p16"/>
          <p:cNvSpPr txBox="1">
            <a:spLocks noGrp="1"/>
          </p:cNvSpPr>
          <p:nvPr>
            <p:ph type="title"/>
          </p:nvPr>
        </p:nvSpPr>
        <p:spPr>
          <a:xfrm>
            <a:off x="854362" y="1237675"/>
            <a:ext cx="4331855" cy="910202"/>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chemeClr val="dk1"/>
              </a:buClr>
              <a:buSzPts val="2800"/>
              <a:buFont typeface="Barlow Condensed"/>
              <a:buNone/>
              <a:defRPr sz="2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16"/>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16"/>
          <p:cNvSpPr txBox="1">
            <a:spLocks noGrp="1"/>
          </p:cNvSpPr>
          <p:nvPr>
            <p:ph type="ftr" idx="11"/>
          </p:nvPr>
        </p:nvSpPr>
        <p:spPr>
          <a:xfrm>
            <a:off x="259882" y="6335309"/>
            <a:ext cx="3887245"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16"/>
          <p:cNvSpPr txBox="1">
            <a:spLocks noGrp="1"/>
          </p:cNvSpPr>
          <p:nvPr>
            <p:ph type="sldNum" idx="12"/>
          </p:nvPr>
        </p:nvSpPr>
        <p:spPr>
          <a:xfrm>
            <a:off x="5587999"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sp>
        <p:nvSpPr>
          <p:cNvPr id="165" name="Google Shape;165;p16"/>
          <p:cNvSpPr txBox="1">
            <a:spLocks noGrp="1"/>
          </p:cNvSpPr>
          <p:nvPr>
            <p:ph type="body" idx="1"/>
          </p:nvPr>
        </p:nvSpPr>
        <p:spPr>
          <a:xfrm>
            <a:off x="544943" y="2409026"/>
            <a:ext cx="4950694" cy="21145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800"/>
              </a:spcBef>
              <a:spcAft>
                <a:spcPts val="0"/>
              </a:spcAft>
              <a:buSzPts val="1870"/>
              <a:buNone/>
              <a:defRPr sz="2200"/>
            </a:lvl1pPr>
            <a:lvl2pPr marL="914400" lvl="1" indent="-336550" algn="ctr">
              <a:lnSpc>
                <a:spcPct val="100000"/>
              </a:lnSpc>
              <a:spcBef>
                <a:spcPts val="800"/>
              </a:spcBef>
              <a:spcAft>
                <a:spcPts val="0"/>
              </a:spcAft>
              <a:buSzPts val="1700"/>
              <a:buChar char="▪"/>
              <a:defRPr/>
            </a:lvl2pPr>
            <a:lvl3pPr marL="1371600" lvl="2" indent="-325755" algn="ctr">
              <a:lnSpc>
                <a:spcPct val="100000"/>
              </a:lnSpc>
              <a:spcBef>
                <a:spcPts val="800"/>
              </a:spcBef>
              <a:spcAft>
                <a:spcPts val="0"/>
              </a:spcAft>
              <a:buSzPts val="1530"/>
              <a:buChar char="▪"/>
              <a:defRPr/>
            </a:lvl3pPr>
            <a:lvl4pPr marL="1828800" lvl="3" indent="-314960" algn="ctr">
              <a:lnSpc>
                <a:spcPct val="100000"/>
              </a:lnSpc>
              <a:spcBef>
                <a:spcPts val="800"/>
              </a:spcBef>
              <a:spcAft>
                <a:spcPts val="0"/>
              </a:spcAft>
              <a:buSzPts val="1360"/>
              <a:buChar char="▪"/>
              <a:defRPr/>
            </a:lvl4pPr>
            <a:lvl5pPr marL="2286000" lvl="4" indent="-314960" algn="ctr">
              <a:lnSpc>
                <a:spcPct val="100000"/>
              </a:lnSpc>
              <a:spcBef>
                <a:spcPts val="800"/>
              </a:spcBef>
              <a:spcAft>
                <a:spcPts val="0"/>
              </a:spcAft>
              <a:buSzPts val="136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16"/>
          <p:cNvSpPr txBox="1">
            <a:spLocks noGrp="1"/>
          </p:cNvSpPr>
          <p:nvPr>
            <p:ph type="body" idx="3"/>
          </p:nvPr>
        </p:nvSpPr>
        <p:spPr>
          <a:xfrm>
            <a:off x="854362" y="4784725"/>
            <a:ext cx="4331855" cy="276225"/>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800"/>
              </a:spcBef>
              <a:spcAft>
                <a:spcPts val="0"/>
              </a:spcAft>
              <a:buSzPts val="1020"/>
              <a:buNone/>
              <a:defRPr sz="1200" b="1" cap="none">
                <a:solidFill>
                  <a:srgbClr val="595959"/>
                </a:solidFill>
                <a:latin typeface="Verdana"/>
                <a:ea typeface="Verdana"/>
                <a:cs typeface="Verdana"/>
                <a:sym typeface="Verdana"/>
              </a:defRPr>
            </a:lvl1pPr>
            <a:lvl2pPr marL="914400" lvl="1" indent="-325755" algn="l">
              <a:lnSpc>
                <a:spcPct val="100000"/>
              </a:lnSpc>
              <a:spcBef>
                <a:spcPts val="800"/>
              </a:spcBef>
              <a:spcAft>
                <a:spcPts val="0"/>
              </a:spcAft>
              <a:buSzPts val="1530"/>
              <a:buChar char="▪"/>
              <a:defRPr/>
            </a:lvl2pPr>
            <a:lvl3pPr marL="1371600" lvl="2" indent="-325755" algn="l">
              <a:lnSpc>
                <a:spcPct val="100000"/>
              </a:lnSpc>
              <a:spcBef>
                <a:spcPts val="800"/>
              </a:spcBef>
              <a:spcAft>
                <a:spcPts val="0"/>
              </a:spcAft>
              <a:buSzPts val="1530"/>
              <a:buChar char="▪"/>
              <a:defRPr/>
            </a:lvl3pPr>
            <a:lvl4pPr marL="1828800" lvl="3" indent="-325755" algn="l">
              <a:lnSpc>
                <a:spcPct val="100000"/>
              </a:lnSpc>
              <a:spcBef>
                <a:spcPts val="800"/>
              </a:spcBef>
              <a:spcAft>
                <a:spcPts val="0"/>
              </a:spcAft>
              <a:buSzPts val="1530"/>
              <a:buChar char="▪"/>
              <a:defRPr/>
            </a:lvl4pPr>
            <a:lvl5pPr marL="2286000" lvl="4" indent="-325755" algn="l">
              <a:lnSpc>
                <a:spcPct val="100000"/>
              </a:lnSpc>
              <a:spcBef>
                <a:spcPts val="800"/>
              </a:spcBef>
              <a:spcAft>
                <a:spcPts val="0"/>
              </a:spcAft>
              <a:buSzPts val="1530"/>
              <a:buChar char="▪"/>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67" name="Google Shape;167;p16"/>
          <p:cNvCxnSpPr/>
          <p:nvPr/>
        </p:nvCxnSpPr>
        <p:spPr>
          <a:xfrm>
            <a:off x="854363" y="2244437"/>
            <a:ext cx="4331855" cy="0"/>
          </a:xfrm>
          <a:prstGeom prst="straightConnector1">
            <a:avLst/>
          </a:prstGeom>
          <a:noFill/>
          <a:ln w="15875" cap="rnd" cmpd="sng">
            <a:solidFill>
              <a:schemeClr val="dk1"/>
            </a:solidFill>
            <a:prstDash val="solid"/>
            <a:miter lim="800000"/>
            <a:headEnd type="none" w="sm" len="sm"/>
            <a:tailEnd type="none" w="sm" len="sm"/>
          </a:ln>
        </p:spPr>
      </p:cxnSp>
      <p:cxnSp>
        <p:nvCxnSpPr>
          <p:cNvPr id="168" name="Google Shape;168;p16"/>
          <p:cNvCxnSpPr/>
          <p:nvPr/>
        </p:nvCxnSpPr>
        <p:spPr>
          <a:xfrm>
            <a:off x="854363" y="4668983"/>
            <a:ext cx="4331855" cy="0"/>
          </a:xfrm>
          <a:prstGeom prst="straightConnector1">
            <a:avLst/>
          </a:prstGeom>
          <a:noFill/>
          <a:ln w="15875" cap="rnd" cmpd="sng">
            <a:solidFill>
              <a:schemeClr val="dk1"/>
            </a:solidFill>
            <a:prstDash val="solid"/>
            <a:miter lim="800000"/>
            <a:headEnd type="none" w="sm" len="sm"/>
            <a:tailEnd type="none" w="sm" len="sm"/>
          </a:ln>
        </p:spPr>
      </p:cxnSp>
      <p:grpSp>
        <p:nvGrpSpPr>
          <p:cNvPr id="169" name="Google Shape;169;p16"/>
          <p:cNvGrpSpPr/>
          <p:nvPr/>
        </p:nvGrpSpPr>
        <p:grpSpPr>
          <a:xfrm>
            <a:off x="0" y="0"/>
            <a:ext cx="12192000" cy="397164"/>
            <a:chOff x="421830" y="1342659"/>
            <a:chExt cx="10018760" cy="290558"/>
          </a:xfrm>
        </p:grpSpPr>
        <p:sp>
          <p:nvSpPr>
            <p:cNvPr id="170" name="Google Shape;170;p16"/>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71" name="Google Shape;171;p16"/>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72" name="Google Shape;172;p16"/>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73" name="Google Shape;173;p16"/>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74" name="Google Shape;174;p16"/>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Section Divider 1">
  <p:cSld name="Section Divider 1">
    <p:spTree>
      <p:nvGrpSpPr>
        <p:cNvPr id="1" name="Shape 175"/>
        <p:cNvGrpSpPr/>
        <p:nvPr/>
      </p:nvGrpSpPr>
      <p:grpSpPr>
        <a:xfrm>
          <a:off x="0" y="0"/>
          <a:ext cx="0" cy="0"/>
          <a:chOff x="0" y="0"/>
          <a:chExt cx="0" cy="0"/>
        </a:xfrm>
      </p:grpSpPr>
      <p:sp>
        <p:nvSpPr>
          <p:cNvPr id="176" name="Google Shape;176;p17"/>
          <p:cNvSpPr txBox="1">
            <a:spLocks noGrp="1"/>
          </p:cNvSpPr>
          <p:nvPr>
            <p:ph type="body" idx="1"/>
          </p:nvPr>
        </p:nvSpPr>
        <p:spPr>
          <a:xfrm>
            <a:off x="1550988" y="3461559"/>
            <a:ext cx="9070975" cy="5984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800"/>
              </a:spcBef>
              <a:spcAft>
                <a:spcPts val="0"/>
              </a:spcAft>
              <a:buSzPts val="2720"/>
              <a:buNone/>
              <a:defRPr sz="3200"/>
            </a:lvl1pPr>
            <a:lvl2pPr marL="914400" lvl="1" indent="-228600" algn="ctr">
              <a:lnSpc>
                <a:spcPct val="100000"/>
              </a:lnSpc>
              <a:spcBef>
                <a:spcPts val="800"/>
              </a:spcBef>
              <a:spcAft>
                <a:spcPts val="0"/>
              </a:spcAft>
              <a:buSzPts val="1700"/>
              <a:buNone/>
              <a:defRPr/>
            </a:lvl2pPr>
            <a:lvl3pPr marL="1371600" lvl="2" indent="-228600" algn="ctr">
              <a:lnSpc>
                <a:spcPct val="100000"/>
              </a:lnSpc>
              <a:spcBef>
                <a:spcPts val="800"/>
              </a:spcBef>
              <a:spcAft>
                <a:spcPts val="0"/>
              </a:spcAft>
              <a:buSzPts val="1530"/>
              <a:buNone/>
              <a:defRPr/>
            </a:lvl3pPr>
            <a:lvl4pPr marL="1828800" lvl="3" indent="-228600" algn="ctr">
              <a:lnSpc>
                <a:spcPct val="100000"/>
              </a:lnSpc>
              <a:spcBef>
                <a:spcPts val="800"/>
              </a:spcBef>
              <a:spcAft>
                <a:spcPts val="0"/>
              </a:spcAft>
              <a:buSzPts val="1360"/>
              <a:buNone/>
              <a:defRPr/>
            </a:lvl4pPr>
            <a:lvl5pPr marL="2286000" lvl="4" indent="-228600" algn="ctr">
              <a:lnSpc>
                <a:spcPct val="100000"/>
              </a:lnSpc>
              <a:spcBef>
                <a:spcPts val="800"/>
              </a:spcBef>
              <a:spcAft>
                <a:spcPts val="0"/>
              </a:spcAft>
              <a:buSzPts val="1360"/>
              <a:buNone/>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p17"/>
          <p:cNvSpPr txBox="1">
            <a:spLocks noGrp="1"/>
          </p:cNvSpPr>
          <p:nvPr>
            <p:ph type="title"/>
          </p:nvPr>
        </p:nvSpPr>
        <p:spPr>
          <a:xfrm>
            <a:off x="287591" y="2382981"/>
            <a:ext cx="11569729" cy="1046019"/>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chemeClr val="dk1"/>
              </a:buClr>
              <a:buSzPts val="6000"/>
              <a:buFont typeface="Barlow Condensed"/>
              <a:buNone/>
              <a:defRPr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17"/>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17"/>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17"/>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181" name="Google Shape;181;p17"/>
          <p:cNvGrpSpPr/>
          <p:nvPr/>
        </p:nvGrpSpPr>
        <p:grpSpPr>
          <a:xfrm>
            <a:off x="0" y="0"/>
            <a:ext cx="12192000" cy="397164"/>
            <a:chOff x="421830" y="1342659"/>
            <a:chExt cx="10018760" cy="290558"/>
          </a:xfrm>
        </p:grpSpPr>
        <p:sp>
          <p:nvSpPr>
            <p:cNvPr id="182" name="Google Shape;182;p17"/>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83" name="Google Shape;183;p17"/>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84" name="Google Shape;184;p17"/>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85" name="Google Shape;185;p17"/>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86" name="Google Shape;186;p17"/>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Section Divider 2">
  <p:cSld name="Section Divider 2">
    <p:bg>
      <p:bgPr>
        <a:solidFill>
          <a:srgbClr val="FED34C"/>
        </a:solidFill>
        <a:effectLst/>
      </p:bgPr>
    </p:bg>
    <p:spTree>
      <p:nvGrpSpPr>
        <p:cNvPr id="1" name="Shape 187"/>
        <p:cNvGrpSpPr/>
        <p:nvPr/>
      </p:nvGrpSpPr>
      <p:grpSpPr>
        <a:xfrm>
          <a:off x="0" y="0"/>
          <a:ext cx="0" cy="0"/>
          <a:chOff x="0" y="0"/>
          <a:chExt cx="0" cy="0"/>
        </a:xfrm>
      </p:grpSpPr>
      <p:sp>
        <p:nvSpPr>
          <p:cNvPr id="188" name="Google Shape;188;p18"/>
          <p:cNvSpPr txBox="1">
            <a:spLocks noGrp="1"/>
          </p:cNvSpPr>
          <p:nvPr>
            <p:ph type="body" idx="1"/>
          </p:nvPr>
        </p:nvSpPr>
        <p:spPr>
          <a:xfrm>
            <a:off x="1550988" y="3461559"/>
            <a:ext cx="9070975" cy="5984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800"/>
              </a:spcBef>
              <a:spcAft>
                <a:spcPts val="0"/>
              </a:spcAft>
              <a:buSzPts val="2720"/>
              <a:buNone/>
              <a:defRPr sz="3200"/>
            </a:lvl1pPr>
            <a:lvl2pPr marL="914400" lvl="1" indent="-228600" algn="ctr">
              <a:lnSpc>
                <a:spcPct val="100000"/>
              </a:lnSpc>
              <a:spcBef>
                <a:spcPts val="800"/>
              </a:spcBef>
              <a:spcAft>
                <a:spcPts val="0"/>
              </a:spcAft>
              <a:buSzPts val="1700"/>
              <a:buNone/>
              <a:defRPr/>
            </a:lvl2pPr>
            <a:lvl3pPr marL="1371600" lvl="2" indent="-228600" algn="ctr">
              <a:lnSpc>
                <a:spcPct val="100000"/>
              </a:lnSpc>
              <a:spcBef>
                <a:spcPts val="800"/>
              </a:spcBef>
              <a:spcAft>
                <a:spcPts val="0"/>
              </a:spcAft>
              <a:buSzPts val="1530"/>
              <a:buNone/>
              <a:defRPr/>
            </a:lvl3pPr>
            <a:lvl4pPr marL="1828800" lvl="3" indent="-228600" algn="ctr">
              <a:lnSpc>
                <a:spcPct val="100000"/>
              </a:lnSpc>
              <a:spcBef>
                <a:spcPts val="800"/>
              </a:spcBef>
              <a:spcAft>
                <a:spcPts val="0"/>
              </a:spcAft>
              <a:buSzPts val="1360"/>
              <a:buNone/>
              <a:defRPr/>
            </a:lvl4pPr>
            <a:lvl5pPr marL="2286000" lvl="4" indent="-228600" algn="ctr">
              <a:lnSpc>
                <a:spcPct val="100000"/>
              </a:lnSpc>
              <a:spcBef>
                <a:spcPts val="800"/>
              </a:spcBef>
              <a:spcAft>
                <a:spcPts val="0"/>
              </a:spcAft>
              <a:buSzPts val="1360"/>
              <a:buNone/>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18"/>
          <p:cNvSpPr txBox="1">
            <a:spLocks noGrp="1"/>
          </p:cNvSpPr>
          <p:nvPr>
            <p:ph type="title"/>
          </p:nvPr>
        </p:nvSpPr>
        <p:spPr>
          <a:xfrm>
            <a:off x="287591" y="2382981"/>
            <a:ext cx="11569729" cy="1046019"/>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chemeClr val="dk1"/>
              </a:buClr>
              <a:buSzPts val="6000"/>
              <a:buFont typeface="Barlow Condensed"/>
              <a:buNone/>
              <a:defRPr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18"/>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18"/>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18"/>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193" name="Google Shape;193;p18"/>
          <p:cNvGrpSpPr/>
          <p:nvPr/>
        </p:nvGrpSpPr>
        <p:grpSpPr>
          <a:xfrm>
            <a:off x="0" y="0"/>
            <a:ext cx="12192000" cy="397164"/>
            <a:chOff x="421830" y="1342659"/>
            <a:chExt cx="10018760" cy="290558"/>
          </a:xfrm>
        </p:grpSpPr>
        <p:sp>
          <p:nvSpPr>
            <p:cNvPr id="194" name="Google Shape;194;p18"/>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95" name="Google Shape;195;p18"/>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96" name="Google Shape;196;p18"/>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97" name="Google Shape;197;p18"/>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198" name="Google Shape;198;p18"/>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ection Divider 3">
  <p:cSld name="Section Divider 3">
    <p:bg>
      <p:bgPr>
        <a:solidFill>
          <a:schemeClr val="dk1"/>
        </a:solidFill>
        <a:effectLst/>
      </p:bgPr>
    </p:bg>
    <p:spTree>
      <p:nvGrpSpPr>
        <p:cNvPr id="1" name="Shape 199"/>
        <p:cNvGrpSpPr/>
        <p:nvPr/>
      </p:nvGrpSpPr>
      <p:grpSpPr>
        <a:xfrm>
          <a:off x="0" y="0"/>
          <a:ext cx="0" cy="0"/>
          <a:chOff x="0" y="0"/>
          <a:chExt cx="0" cy="0"/>
        </a:xfrm>
      </p:grpSpPr>
      <p:sp>
        <p:nvSpPr>
          <p:cNvPr id="200" name="Google Shape;200;p19"/>
          <p:cNvSpPr txBox="1">
            <a:spLocks noGrp="1"/>
          </p:cNvSpPr>
          <p:nvPr>
            <p:ph type="body" idx="1"/>
          </p:nvPr>
        </p:nvSpPr>
        <p:spPr>
          <a:xfrm>
            <a:off x="1550988" y="3461559"/>
            <a:ext cx="9070975" cy="5984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800"/>
              </a:spcBef>
              <a:spcAft>
                <a:spcPts val="0"/>
              </a:spcAft>
              <a:buSzPts val="2720"/>
              <a:buNone/>
              <a:defRPr sz="3200">
                <a:solidFill>
                  <a:schemeClr val="lt1"/>
                </a:solidFill>
              </a:defRPr>
            </a:lvl1pPr>
            <a:lvl2pPr marL="914400" lvl="1" indent="-228600" algn="ctr">
              <a:lnSpc>
                <a:spcPct val="100000"/>
              </a:lnSpc>
              <a:spcBef>
                <a:spcPts val="800"/>
              </a:spcBef>
              <a:spcAft>
                <a:spcPts val="0"/>
              </a:spcAft>
              <a:buSzPts val="1700"/>
              <a:buNone/>
              <a:defRPr/>
            </a:lvl2pPr>
            <a:lvl3pPr marL="1371600" lvl="2" indent="-228600" algn="ctr">
              <a:lnSpc>
                <a:spcPct val="100000"/>
              </a:lnSpc>
              <a:spcBef>
                <a:spcPts val="800"/>
              </a:spcBef>
              <a:spcAft>
                <a:spcPts val="0"/>
              </a:spcAft>
              <a:buSzPts val="1530"/>
              <a:buNone/>
              <a:defRPr/>
            </a:lvl3pPr>
            <a:lvl4pPr marL="1828800" lvl="3" indent="-228600" algn="ctr">
              <a:lnSpc>
                <a:spcPct val="100000"/>
              </a:lnSpc>
              <a:spcBef>
                <a:spcPts val="800"/>
              </a:spcBef>
              <a:spcAft>
                <a:spcPts val="0"/>
              </a:spcAft>
              <a:buSzPts val="1360"/>
              <a:buNone/>
              <a:defRPr/>
            </a:lvl4pPr>
            <a:lvl5pPr marL="2286000" lvl="4" indent="-228600" algn="ctr">
              <a:lnSpc>
                <a:spcPct val="100000"/>
              </a:lnSpc>
              <a:spcBef>
                <a:spcPts val="800"/>
              </a:spcBef>
              <a:spcAft>
                <a:spcPts val="0"/>
              </a:spcAft>
              <a:buSzPts val="1360"/>
              <a:buNone/>
              <a:defRPr/>
            </a:lvl5pPr>
            <a:lvl6pPr marL="2743200" lvl="5" indent="-342900" algn="l">
              <a:lnSpc>
                <a:spcPct val="90000"/>
              </a:lnSpc>
              <a:spcBef>
                <a:spcPts val="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19"/>
          <p:cNvSpPr txBox="1">
            <a:spLocks noGrp="1"/>
          </p:cNvSpPr>
          <p:nvPr>
            <p:ph type="title"/>
          </p:nvPr>
        </p:nvSpPr>
        <p:spPr>
          <a:xfrm>
            <a:off x="287591" y="2382981"/>
            <a:ext cx="11569729" cy="1046019"/>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chemeClr val="lt1"/>
              </a:buClr>
              <a:buSzPts val="6000"/>
              <a:buFont typeface="Barlow Condensed"/>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19"/>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19"/>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19"/>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lt1"/>
                </a:solidFill>
                <a:latin typeface="Verdana"/>
                <a:ea typeface="Verdana"/>
                <a:cs typeface="Verdana"/>
                <a:sym typeface="Verdana"/>
              </a:defRPr>
            </a:lvl1pPr>
            <a:lvl2pPr marL="0" lvl="1" indent="0" algn="ctr">
              <a:spcBef>
                <a:spcPts val="0"/>
              </a:spcBef>
              <a:buNone/>
              <a:defRPr sz="1000">
                <a:solidFill>
                  <a:schemeClr val="lt1"/>
                </a:solidFill>
                <a:latin typeface="Verdana"/>
                <a:ea typeface="Verdana"/>
                <a:cs typeface="Verdana"/>
                <a:sym typeface="Verdana"/>
              </a:defRPr>
            </a:lvl2pPr>
            <a:lvl3pPr marL="0" lvl="2" indent="0" algn="ctr">
              <a:spcBef>
                <a:spcPts val="0"/>
              </a:spcBef>
              <a:buNone/>
              <a:defRPr sz="1000">
                <a:solidFill>
                  <a:schemeClr val="lt1"/>
                </a:solidFill>
                <a:latin typeface="Verdana"/>
                <a:ea typeface="Verdana"/>
                <a:cs typeface="Verdana"/>
                <a:sym typeface="Verdana"/>
              </a:defRPr>
            </a:lvl3pPr>
            <a:lvl4pPr marL="0" lvl="3" indent="0" algn="ctr">
              <a:spcBef>
                <a:spcPts val="0"/>
              </a:spcBef>
              <a:buNone/>
              <a:defRPr sz="1000">
                <a:solidFill>
                  <a:schemeClr val="lt1"/>
                </a:solidFill>
                <a:latin typeface="Verdana"/>
                <a:ea typeface="Verdana"/>
                <a:cs typeface="Verdana"/>
                <a:sym typeface="Verdana"/>
              </a:defRPr>
            </a:lvl4pPr>
            <a:lvl5pPr marL="0" lvl="4" indent="0" algn="ctr">
              <a:spcBef>
                <a:spcPts val="0"/>
              </a:spcBef>
              <a:buNone/>
              <a:defRPr sz="1000">
                <a:solidFill>
                  <a:schemeClr val="lt1"/>
                </a:solidFill>
                <a:latin typeface="Verdana"/>
                <a:ea typeface="Verdana"/>
                <a:cs typeface="Verdana"/>
                <a:sym typeface="Verdana"/>
              </a:defRPr>
            </a:lvl5pPr>
            <a:lvl6pPr marL="0" lvl="5" indent="0" algn="ctr">
              <a:spcBef>
                <a:spcPts val="0"/>
              </a:spcBef>
              <a:buNone/>
              <a:defRPr sz="1000">
                <a:solidFill>
                  <a:schemeClr val="lt1"/>
                </a:solidFill>
                <a:latin typeface="Verdana"/>
                <a:ea typeface="Verdana"/>
                <a:cs typeface="Verdana"/>
                <a:sym typeface="Verdana"/>
              </a:defRPr>
            </a:lvl6pPr>
            <a:lvl7pPr marL="0" lvl="6" indent="0" algn="ctr">
              <a:spcBef>
                <a:spcPts val="0"/>
              </a:spcBef>
              <a:buNone/>
              <a:defRPr sz="1000">
                <a:solidFill>
                  <a:schemeClr val="lt1"/>
                </a:solidFill>
                <a:latin typeface="Verdana"/>
                <a:ea typeface="Verdana"/>
                <a:cs typeface="Verdana"/>
                <a:sym typeface="Verdana"/>
              </a:defRPr>
            </a:lvl7pPr>
            <a:lvl8pPr marL="0" lvl="7" indent="0" algn="ctr">
              <a:spcBef>
                <a:spcPts val="0"/>
              </a:spcBef>
              <a:buNone/>
              <a:defRPr sz="1000">
                <a:solidFill>
                  <a:schemeClr val="lt1"/>
                </a:solidFill>
                <a:latin typeface="Verdana"/>
                <a:ea typeface="Verdana"/>
                <a:cs typeface="Verdana"/>
                <a:sym typeface="Verdana"/>
              </a:defRPr>
            </a:lvl8pPr>
            <a:lvl9pPr marL="0" lvl="8" indent="0" algn="ctr">
              <a:spcBef>
                <a:spcPts val="0"/>
              </a:spcBef>
              <a:buNone/>
              <a:defRPr sz="1000">
                <a:solidFill>
                  <a:schemeClr val="lt1"/>
                </a:solidFill>
                <a:latin typeface="Verdana"/>
                <a:ea typeface="Verdana"/>
                <a:cs typeface="Verdana"/>
                <a:sym typeface="Verdana"/>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205" name="Google Shape;205;p19"/>
          <p:cNvGrpSpPr/>
          <p:nvPr/>
        </p:nvGrpSpPr>
        <p:grpSpPr>
          <a:xfrm>
            <a:off x="0" y="0"/>
            <a:ext cx="12192000" cy="397164"/>
            <a:chOff x="421830" y="1342659"/>
            <a:chExt cx="10018760" cy="290558"/>
          </a:xfrm>
        </p:grpSpPr>
        <p:sp>
          <p:nvSpPr>
            <p:cNvPr id="206" name="Google Shape;206;p19"/>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07" name="Google Shape;207;p19"/>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08" name="Google Shape;208;p19"/>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09" name="Google Shape;209;p19"/>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10" name="Google Shape;210;p19"/>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spTree>
      <p:nvGrpSpPr>
        <p:cNvPr id="1" name="Shape 211"/>
        <p:cNvGrpSpPr/>
        <p:nvPr/>
      </p:nvGrpSpPr>
      <p:grpSpPr>
        <a:xfrm>
          <a:off x="0" y="0"/>
          <a:ext cx="0" cy="0"/>
          <a:chOff x="0" y="0"/>
          <a:chExt cx="0" cy="0"/>
        </a:xfrm>
      </p:grpSpPr>
      <p:sp>
        <p:nvSpPr>
          <p:cNvPr id="212" name="Google Shape;212;p20"/>
          <p:cNvSpPr txBox="1">
            <a:spLocks noGrp="1"/>
          </p:cNvSpPr>
          <p:nvPr>
            <p:ph type="title"/>
          </p:nvPr>
        </p:nvSpPr>
        <p:spPr>
          <a:xfrm>
            <a:off x="657225" y="4581236"/>
            <a:ext cx="10877550" cy="1597891"/>
          </a:xfrm>
          <a:prstGeom prst="rect">
            <a:avLst/>
          </a:prstGeom>
          <a:noFill/>
          <a:ln>
            <a:noFill/>
          </a:ln>
        </p:spPr>
        <p:txBody>
          <a:bodyPr spcFirstLastPara="1" wrap="square" lIns="91425" tIns="45700" rIns="91425" bIns="45700" anchor="ctr" anchorCtr="1">
            <a:noAutofit/>
          </a:bodyPr>
          <a:lstStyle>
            <a:lvl1pPr lvl="0" algn="ctr">
              <a:lnSpc>
                <a:spcPct val="85000"/>
              </a:lnSpc>
              <a:spcBef>
                <a:spcPts val="0"/>
              </a:spcBef>
              <a:spcAft>
                <a:spcPts val="0"/>
              </a:spcAft>
              <a:buClr>
                <a:schemeClr val="dk1"/>
              </a:buClr>
              <a:buSzPts val="1800"/>
              <a:buFont typeface="Verdana"/>
              <a:buNone/>
              <a:defRPr sz="1800" b="0" i="0" cap="none">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20"/>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20"/>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20"/>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216" name="Google Shape;216;p20"/>
          <p:cNvGrpSpPr/>
          <p:nvPr/>
        </p:nvGrpSpPr>
        <p:grpSpPr>
          <a:xfrm>
            <a:off x="0" y="0"/>
            <a:ext cx="12192000" cy="397164"/>
            <a:chOff x="421830" y="1342659"/>
            <a:chExt cx="10018760" cy="290558"/>
          </a:xfrm>
        </p:grpSpPr>
        <p:sp>
          <p:nvSpPr>
            <p:cNvPr id="217" name="Google Shape;217;p20"/>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18" name="Google Shape;218;p20"/>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19" name="Google Shape;219;p20"/>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20" name="Google Shape;220;p20"/>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21" name="Google Shape;221;p20"/>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222" name="Google Shape;222;p20" descr="University of Waterloo logo"/>
          <p:cNvPicPr preferRelativeResize="0"/>
          <p:nvPr/>
        </p:nvPicPr>
        <p:blipFill rotWithShape="1">
          <a:blip r:embed="rId2">
            <a:alphaModFix/>
          </a:blip>
          <a:srcRect/>
          <a:stretch/>
        </p:blipFill>
        <p:spPr>
          <a:xfrm>
            <a:off x="2884945" y="1204402"/>
            <a:ext cx="6407315" cy="415712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losing Slide_ALT">
  <p:cSld name="Closing Slide_ALT">
    <p:bg>
      <p:bgPr>
        <a:solidFill>
          <a:schemeClr val="dk1"/>
        </a:solidFill>
        <a:effectLst/>
      </p:bgPr>
    </p:bg>
    <p:spTree>
      <p:nvGrpSpPr>
        <p:cNvPr id="1" name="Shape 223"/>
        <p:cNvGrpSpPr/>
        <p:nvPr/>
      </p:nvGrpSpPr>
      <p:grpSpPr>
        <a:xfrm>
          <a:off x="0" y="0"/>
          <a:ext cx="0" cy="0"/>
          <a:chOff x="0" y="0"/>
          <a:chExt cx="0" cy="0"/>
        </a:xfrm>
      </p:grpSpPr>
      <p:sp>
        <p:nvSpPr>
          <p:cNvPr id="224" name="Google Shape;224;p21"/>
          <p:cNvSpPr txBox="1">
            <a:spLocks noGrp="1"/>
          </p:cNvSpPr>
          <p:nvPr>
            <p:ph type="title"/>
          </p:nvPr>
        </p:nvSpPr>
        <p:spPr>
          <a:xfrm>
            <a:off x="733425" y="4682836"/>
            <a:ext cx="10725150" cy="1559782"/>
          </a:xfrm>
          <a:prstGeom prst="rect">
            <a:avLst/>
          </a:prstGeom>
          <a:noFill/>
          <a:ln>
            <a:noFill/>
          </a:ln>
        </p:spPr>
        <p:txBody>
          <a:bodyPr spcFirstLastPara="1" wrap="square" lIns="91425" tIns="45700" rIns="91425" bIns="45700" anchor="ctr" anchorCtr="1">
            <a:noAutofit/>
          </a:bodyPr>
          <a:lstStyle>
            <a:lvl1pPr lvl="0" algn="ctr">
              <a:lnSpc>
                <a:spcPct val="75000"/>
              </a:lnSpc>
              <a:spcBef>
                <a:spcPts val="0"/>
              </a:spcBef>
              <a:spcAft>
                <a:spcPts val="0"/>
              </a:spcAft>
              <a:buClr>
                <a:schemeClr val="lt1"/>
              </a:buClr>
              <a:buSzPts val="1800"/>
              <a:buFont typeface="Verdana"/>
              <a:buNone/>
              <a:defRPr sz="1800" b="0" i="0" cap="none">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 name="Google Shape;225;p21"/>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21"/>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21"/>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lt1"/>
                </a:solidFill>
                <a:latin typeface="Verdana"/>
                <a:ea typeface="Verdana"/>
                <a:cs typeface="Verdana"/>
                <a:sym typeface="Verdana"/>
              </a:defRPr>
            </a:lvl1pPr>
            <a:lvl2pPr marL="0" lvl="1" indent="0" algn="ctr">
              <a:spcBef>
                <a:spcPts val="0"/>
              </a:spcBef>
              <a:buNone/>
              <a:defRPr sz="1000">
                <a:solidFill>
                  <a:schemeClr val="lt1"/>
                </a:solidFill>
                <a:latin typeface="Verdana"/>
                <a:ea typeface="Verdana"/>
                <a:cs typeface="Verdana"/>
                <a:sym typeface="Verdana"/>
              </a:defRPr>
            </a:lvl2pPr>
            <a:lvl3pPr marL="0" lvl="2" indent="0" algn="ctr">
              <a:spcBef>
                <a:spcPts val="0"/>
              </a:spcBef>
              <a:buNone/>
              <a:defRPr sz="1000">
                <a:solidFill>
                  <a:schemeClr val="lt1"/>
                </a:solidFill>
                <a:latin typeface="Verdana"/>
                <a:ea typeface="Verdana"/>
                <a:cs typeface="Verdana"/>
                <a:sym typeface="Verdana"/>
              </a:defRPr>
            </a:lvl3pPr>
            <a:lvl4pPr marL="0" lvl="3" indent="0" algn="ctr">
              <a:spcBef>
                <a:spcPts val="0"/>
              </a:spcBef>
              <a:buNone/>
              <a:defRPr sz="1000">
                <a:solidFill>
                  <a:schemeClr val="lt1"/>
                </a:solidFill>
                <a:latin typeface="Verdana"/>
                <a:ea typeface="Verdana"/>
                <a:cs typeface="Verdana"/>
                <a:sym typeface="Verdana"/>
              </a:defRPr>
            </a:lvl4pPr>
            <a:lvl5pPr marL="0" lvl="4" indent="0" algn="ctr">
              <a:spcBef>
                <a:spcPts val="0"/>
              </a:spcBef>
              <a:buNone/>
              <a:defRPr sz="1000">
                <a:solidFill>
                  <a:schemeClr val="lt1"/>
                </a:solidFill>
                <a:latin typeface="Verdana"/>
                <a:ea typeface="Verdana"/>
                <a:cs typeface="Verdana"/>
                <a:sym typeface="Verdana"/>
              </a:defRPr>
            </a:lvl5pPr>
            <a:lvl6pPr marL="0" lvl="5" indent="0" algn="ctr">
              <a:spcBef>
                <a:spcPts val="0"/>
              </a:spcBef>
              <a:buNone/>
              <a:defRPr sz="1000">
                <a:solidFill>
                  <a:schemeClr val="lt1"/>
                </a:solidFill>
                <a:latin typeface="Verdana"/>
                <a:ea typeface="Verdana"/>
                <a:cs typeface="Verdana"/>
                <a:sym typeface="Verdana"/>
              </a:defRPr>
            </a:lvl6pPr>
            <a:lvl7pPr marL="0" lvl="6" indent="0" algn="ctr">
              <a:spcBef>
                <a:spcPts val="0"/>
              </a:spcBef>
              <a:buNone/>
              <a:defRPr sz="1000">
                <a:solidFill>
                  <a:schemeClr val="lt1"/>
                </a:solidFill>
                <a:latin typeface="Verdana"/>
                <a:ea typeface="Verdana"/>
                <a:cs typeface="Verdana"/>
                <a:sym typeface="Verdana"/>
              </a:defRPr>
            </a:lvl7pPr>
            <a:lvl8pPr marL="0" lvl="7" indent="0" algn="ctr">
              <a:spcBef>
                <a:spcPts val="0"/>
              </a:spcBef>
              <a:buNone/>
              <a:defRPr sz="1000">
                <a:solidFill>
                  <a:schemeClr val="lt1"/>
                </a:solidFill>
                <a:latin typeface="Verdana"/>
                <a:ea typeface="Verdana"/>
                <a:cs typeface="Verdana"/>
                <a:sym typeface="Verdana"/>
              </a:defRPr>
            </a:lvl8pPr>
            <a:lvl9pPr marL="0" lvl="8" indent="0" algn="ctr">
              <a:spcBef>
                <a:spcPts val="0"/>
              </a:spcBef>
              <a:buNone/>
              <a:defRPr sz="1000">
                <a:solidFill>
                  <a:schemeClr val="lt1"/>
                </a:solidFill>
                <a:latin typeface="Verdana"/>
                <a:ea typeface="Verdana"/>
                <a:cs typeface="Verdana"/>
                <a:sym typeface="Verdana"/>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228" name="Google Shape;228;p21"/>
          <p:cNvGrpSpPr/>
          <p:nvPr/>
        </p:nvGrpSpPr>
        <p:grpSpPr>
          <a:xfrm>
            <a:off x="0" y="0"/>
            <a:ext cx="12192000" cy="397164"/>
            <a:chOff x="421830" y="1342659"/>
            <a:chExt cx="10018760" cy="290558"/>
          </a:xfrm>
        </p:grpSpPr>
        <p:sp>
          <p:nvSpPr>
            <p:cNvPr id="229" name="Google Shape;229;p21"/>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30" name="Google Shape;230;p21"/>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31" name="Google Shape;231;p21"/>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32" name="Google Shape;232;p21"/>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33" name="Google Shape;233;p21"/>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234" name="Google Shape;234;p21" descr="University of Waterloo logo"/>
          <p:cNvPicPr preferRelativeResize="0"/>
          <p:nvPr/>
        </p:nvPicPr>
        <p:blipFill rotWithShape="1">
          <a:blip r:embed="rId2">
            <a:alphaModFix/>
          </a:blip>
          <a:srcRect/>
          <a:stretch/>
        </p:blipFill>
        <p:spPr>
          <a:xfrm>
            <a:off x="2884945" y="1204402"/>
            <a:ext cx="6407315" cy="415712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losing Slide_Y+W">
  <p:cSld name="1_Closing Slide_Y+W">
    <p:spTree>
      <p:nvGrpSpPr>
        <p:cNvPr id="1" name="Shape 235"/>
        <p:cNvGrpSpPr/>
        <p:nvPr/>
      </p:nvGrpSpPr>
      <p:grpSpPr>
        <a:xfrm>
          <a:off x="0" y="0"/>
          <a:ext cx="0" cy="0"/>
          <a:chOff x="0" y="0"/>
          <a:chExt cx="0" cy="0"/>
        </a:xfrm>
      </p:grpSpPr>
      <p:pic>
        <p:nvPicPr>
          <p:cNvPr id="236" name="Google Shape;236;p22" descr="YOU+WATERLOO"/>
          <p:cNvPicPr preferRelativeResize="0"/>
          <p:nvPr/>
        </p:nvPicPr>
        <p:blipFill rotWithShape="1">
          <a:blip r:embed="rId2">
            <a:alphaModFix/>
          </a:blip>
          <a:srcRect/>
          <a:stretch/>
        </p:blipFill>
        <p:spPr>
          <a:xfrm>
            <a:off x="5153660" y="4585014"/>
            <a:ext cx="1884680" cy="533400"/>
          </a:xfrm>
          <a:prstGeom prst="rect">
            <a:avLst/>
          </a:prstGeom>
          <a:noFill/>
          <a:ln>
            <a:noFill/>
          </a:ln>
        </p:spPr>
      </p:pic>
      <p:pic>
        <p:nvPicPr>
          <p:cNvPr id="237" name="Google Shape;237;p22"/>
          <p:cNvPicPr preferRelativeResize="0"/>
          <p:nvPr/>
        </p:nvPicPr>
        <p:blipFill rotWithShape="1">
          <a:blip r:embed="rId3">
            <a:alphaModFix/>
          </a:blip>
          <a:srcRect/>
          <a:stretch/>
        </p:blipFill>
        <p:spPr>
          <a:xfrm>
            <a:off x="4168648" y="5270227"/>
            <a:ext cx="3854704" cy="252476"/>
          </a:xfrm>
          <a:prstGeom prst="rect">
            <a:avLst/>
          </a:prstGeom>
          <a:noFill/>
          <a:ln>
            <a:noFill/>
          </a:ln>
        </p:spPr>
      </p:pic>
      <p:sp>
        <p:nvSpPr>
          <p:cNvPr id="238" name="Google Shape;238;p22"/>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22"/>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22"/>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241" name="Google Shape;241;p22"/>
          <p:cNvGrpSpPr/>
          <p:nvPr/>
        </p:nvGrpSpPr>
        <p:grpSpPr>
          <a:xfrm>
            <a:off x="0" y="0"/>
            <a:ext cx="12192000" cy="397164"/>
            <a:chOff x="421830" y="1342659"/>
            <a:chExt cx="10018760" cy="290558"/>
          </a:xfrm>
        </p:grpSpPr>
        <p:sp>
          <p:nvSpPr>
            <p:cNvPr id="242" name="Google Shape;242;p22"/>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43" name="Google Shape;243;p22"/>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44" name="Google Shape;244;p22"/>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45" name="Google Shape;245;p22"/>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46" name="Google Shape;246;p22"/>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247" name="Google Shape;247;p22" descr="University of Waterloo logo"/>
          <p:cNvPicPr preferRelativeResize="0"/>
          <p:nvPr/>
        </p:nvPicPr>
        <p:blipFill rotWithShape="1">
          <a:blip r:embed="rId4">
            <a:alphaModFix/>
          </a:blip>
          <a:srcRect/>
          <a:stretch/>
        </p:blipFill>
        <p:spPr>
          <a:xfrm>
            <a:off x="3225667" y="895553"/>
            <a:ext cx="5757267" cy="37353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1_Closing Slide_Y+W_ALT">
  <p:cSld name="1_Closing Slide_Y+W_ALT">
    <p:bg>
      <p:bgPr>
        <a:solidFill>
          <a:schemeClr val="dk1"/>
        </a:solidFill>
        <a:effectLst/>
      </p:bgPr>
    </p:bg>
    <p:spTree>
      <p:nvGrpSpPr>
        <p:cNvPr id="1" name="Shape 248"/>
        <p:cNvGrpSpPr/>
        <p:nvPr/>
      </p:nvGrpSpPr>
      <p:grpSpPr>
        <a:xfrm>
          <a:off x="0" y="0"/>
          <a:ext cx="0" cy="0"/>
          <a:chOff x="0" y="0"/>
          <a:chExt cx="0" cy="0"/>
        </a:xfrm>
      </p:grpSpPr>
      <p:sp>
        <p:nvSpPr>
          <p:cNvPr id="249" name="Google Shape;249;p23"/>
          <p:cNvSpPr txBox="1">
            <a:spLocks noGrp="1"/>
          </p:cNvSpPr>
          <p:nvPr>
            <p:ph type="dt" idx="10"/>
          </p:nvPr>
        </p:nvSpPr>
        <p:spPr>
          <a:xfrm>
            <a:off x="10751004" y="6335309"/>
            <a:ext cx="1181114" cy="250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23"/>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23"/>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lt1"/>
                </a:solidFill>
                <a:latin typeface="Verdana"/>
                <a:ea typeface="Verdana"/>
                <a:cs typeface="Verdana"/>
                <a:sym typeface="Verdana"/>
              </a:defRPr>
            </a:lvl1pPr>
            <a:lvl2pPr marL="0" lvl="1" indent="0" algn="ctr">
              <a:spcBef>
                <a:spcPts val="0"/>
              </a:spcBef>
              <a:buNone/>
              <a:defRPr sz="1000">
                <a:solidFill>
                  <a:schemeClr val="lt1"/>
                </a:solidFill>
                <a:latin typeface="Verdana"/>
                <a:ea typeface="Verdana"/>
                <a:cs typeface="Verdana"/>
                <a:sym typeface="Verdana"/>
              </a:defRPr>
            </a:lvl2pPr>
            <a:lvl3pPr marL="0" lvl="2" indent="0" algn="ctr">
              <a:spcBef>
                <a:spcPts val="0"/>
              </a:spcBef>
              <a:buNone/>
              <a:defRPr sz="1000">
                <a:solidFill>
                  <a:schemeClr val="lt1"/>
                </a:solidFill>
                <a:latin typeface="Verdana"/>
                <a:ea typeface="Verdana"/>
                <a:cs typeface="Verdana"/>
                <a:sym typeface="Verdana"/>
              </a:defRPr>
            </a:lvl3pPr>
            <a:lvl4pPr marL="0" lvl="3" indent="0" algn="ctr">
              <a:spcBef>
                <a:spcPts val="0"/>
              </a:spcBef>
              <a:buNone/>
              <a:defRPr sz="1000">
                <a:solidFill>
                  <a:schemeClr val="lt1"/>
                </a:solidFill>
                <a:latin typeface="Verdana"/>
                <a:ea typeface="Verdana"/>
                <a:cs typeface="Verdana"/>
                <a:sym typeface="Verdana"/>
              </a:defRPr>
            </a:lvl4pPr>
            <a:lvl5pPr marL="0" lvl="4" indent="0" algn="ctr">
              <a:spcBef>
                <a:spcPts val="0"/>
              </a:spcBef>
              <a:buNone/>
              <a:defRPr sz="1000">
                <a:solidFill>
                  <a:schemeClr val="lt1"/>
                </a:solidFill>
                <a:latin typeface="Verdana"/>
                <a:ea typeface="Verdana"/>
                <a:cs typeface="Verdana"/>
                <a:sym typeface="Verdana"/>
              </a:defRPr>
            </a:lvl5pPr>
            <a:lvl6pPr marL="0" lvl="5" indent="0" algn="ctr">
              <a:spcBef>
                <a:spcPts val="0"/>
              </a:spcBef>
              <a:buNone/>
              <a:defRPr sz="1000">
                <a:solidFill>
                  <a:schemeClr val="lt1"/>
                </a:solidFill>
                <a:latin typeface="Verdana"/>
                <a:ea typeface="Verdana"/>
                <a:cs typeface="Verdana"/>
                <a:sym typeface="Verdana"/>
              </a:defRPr>
            </a:lvl6pPr>
            <a:lvl7pPr marL="0" lvl="6" indent="0" algn="ctr">
              <a:spcBef>
                <a:spcPts val="0"/>
              </a:spcBef>
              <a:buNone/>
              <a:defRPr sz="1000">
                <a:solidFill>
                  <a:schemeClr val="lt1"/>
                </a:solidFill>
                <a:latin typeface="Verdana"/>
                <a:ea typeface="Verdana"/>
                <a:cs typeface="Verdana"/>
                <a:sym typeface="Verdana"/>
              </a:defRPr>
            </a:lvl7pPr>
            <a:lvl8pPr marL="0" lvl="7" indent="0" algn="ctr">
              <a:spcBef>
                <a:spcPts val="0"/>
              </a:spcBef>
              <a:buNone/>
              <a:defRPr sz="1000">
                <a:solidFill>
                  <a:schemeClr val="lt1"/>
                </a:solidFill>
                <a:latin typeface="Verdana"/>
                <a:ea typeface="Verdana"/>
                <a:cs typeface="Verdana"/>
                <a:sym typeface="Verdana"/>
              </a:defRPr>
            </a:lvl8pPr>
            <a:lvl9pPr marL="0" lvl="8" indent="0" algn="ctr">
              <a:spcBef>
                <a:spcPts val="0"/>
              </a:spcBef>
              <a:buNone/>
              <a:defRPr sz="1000">
                <a:solidFill>
                  <a:schemeClr val="lt1"/>
                </a:solidFill>
                <a:latin typeface="Verdana"/>
                <a:ea typeface="Verdana"/>
                <a:cs typeface="Verdana"/>
                <a:sym typeface="Verdana"/>
              </a:defRPr>
            </a:lvl9pPr>
          </a:lstStyle>
          <a:p>
            <a:pPr marL="0" lvl="0" indent="0" algn="ctr" rtl="0">
              <a:spcBef>
                <a:spcPts val="0"/>
              </a:spcBef>
              <a:spcAft>
                <a:spcPts val="0"/>
              </a:spcAft>
              <a:buNone/>
            </a:pPr>
            <a:r>
              <a:rPr lang="en-US"/>
              <a:t>PAGE  </a:t>
            </a:r>
            <a:fld id="{00000000-1234-1234-1234-123412341234}" type="slidenum">
              <a:rPr lang="en-US"/>
              <a:t>‹#›</a:t>
            </a:fld>
            <a:endParaRPr/>
          </a:p>
        </p:txBody>
      </p:sp>
      <p:pic>
        <p:nvPicPr>
          <p:cNvPr id="252" name="Google Shape;252;p23" descr="YOU+WATERLOO"/>
          <p:cNvPicPr preferRelativeResize="0"/>
          <p:nvPr/>
        </p:nvPicPr>
        <p:blipFill rotWithShape="1">
          <a:blip r:embed="rId2">
            <a:alphaModFix/>
          </a:blip>
          <a:srcRect/>
          <a:stretch/>
        </p:blipFill>
        <p:spPr>
          <a:xfrm>
            <a:off x="5153660" y="4592032"/>
            <a:ext cx="1884680" cy="533400"/>
          </a:xfrm>
          <a:prstGeom prst="rect">
            <a:avLst/>
          </a:prstGeom>
          <a:noFill/>
          <a:ln>
            <a:noFill/>
          </a:ln>
        </p:spPr>
      </p:pic>
      <p:pic>
        <p:nvPicPr>
          <p:cNvPr id="253" name="Google Shape;253;p23"/>
          <p:cNvPicPr preferRelativeResize="0"/>
          <p:nvPr/>
        </p:nvPicPr>
        <p:blipFill rotWithShape="1">
          <a:blip r:embed="rId3">
            <a:alphaModFix/>
          </a:blip>
          <a:srcRect/>
          <a:stretch/>
        </p:blipFill>
        <p:spPr>
          <a:xfrm>
            <a:off x="4168648" y="5277245"/>
            <a:ext cx="3854704" cy="252476"/>
          </a:xfrm>
          <a:prstGeom prst="rect">
            <a:avLst/>
          </a:prstGeom>
          <a:noFill/>
          <a:ln>
            <a:noFill/>
          </a:ln>
        </p:spPr>
      </p:pic>
      <p:sp>
        <p:nvSpPr>
          <p:cNvPr id="254" name="Google Shape;254;p23"/>
          <p:cNvSpPr txBox="1"/>
          <p:nvPr/>
        </p:nvSpPr>
        <p:spPr>
          <a:xfrm>
            <a:off x="4851400" y="724746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Georgia"/>
              <a:ea typeface="Georgia"/>
              <a:cs typeface="Georgia"/>
              <a:sym typeface="Georgia"/>
            </a:endParaRPr>
          </a:p>
        </p:txBody>
      </p:sp>
      <p:grpSp>
        <p:nvGrpSpPr>
          <p:cNvPr id="255" name="Google Shape;255;p23"/>
          <p:cNvGrpSpPr/>
          <p:nvPr/>
        </p:nvGrpSpPr>
        <p:grpSpPr>
          <a:xfrm>
            <a:off x="0" y="0"/>
            <a:ext cx="12192000" cy="397164"/>
            <a:chOff x="421830" y="1342659"/>
            <a:chExt cx="10018760" cy="290558"/>
          </a:xfrm>
        </p:grpSpPr>
        <p:sp>
          <p:nvSpPr>
            <p:cNvPr id="256" name="Google Shape;256;p23"/>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57" name="Google Shape;257;p23"/>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58" name="Google Shape;258;p23"/>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59" name="Google Shape;259;p23"/>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sp>
          <p:nvSpPr>
            <p:cNvPr id="260" name="Google Shape;260;p23"/>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eorgia"/>
                <a:ea typeface="Georgia"/>
                <a:cs typeface="Georgia"/>
                <a:sym typeface="Georgia"/>
              </a:endParaRPr>
            </a:p>
          </p:txBody>
        </p:sp>
      </p:grpSp>
      <p:pic>
        <p:nvPicPr>
          <p:cNvPr id="261" name="Google Shape;261;p23" descr="University of Waterloo logo"/>
          <p:cNvPicPr preferRelativeResize="0"/>
          <p:nvPr/>
        </p:nvPicPr>
        <p:blipFill rotWithShape="1">
          <a:blip r:embed="rId4">
            <a:alphaModFix/>
          </a:blip>
          <a:srcRect/>
          <a:stretch/>
        </p:blipFill>
        <p:spPr>
          <a:xfrm>
            <a:off x="3225666" y="895553"/>
            <a:ext cx="5757269" cy="37353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59883" y="434108"/>
            <a:ext cx="11569729" cy="895927"/>
          </a:xfrm>
          <a:prstGeom prst="rect">
            <a:avLst/>
          </a:prstGeom>
          <a:noFill/>
          <a:ln>
            <a:noFill/>
          </a:ln>
        </p:spPr>
        <p:txBody>
          <a:bodyPr spcFirstLastPara="1" wrap="square" lIns="91425" tIns="45700" rIns="91425" bIns="45700" anchor="ctr" anchorCtr="0">
            <a:normAutofit/>
          </a:bodyPr>
          <a:lstStyle>
            <a:lvl1pPr marR="0" lvl="0" algn="l" rtl="0">
              <a:lnSpc>
                <a:spcPct val="85000"/>
              </a:lnSpc>
              <a:spcBef>
                <a:spcPts val="0"/>
              </a:spcBef>
              <a:spcAft>
                <a:spcPts val="0"/>
              </a:spcAft>
              <a:buClr>
                <a:schemeClr val="dk1"/>
              </a:buClr>
              <a:buSzPts val="4000"/>
              <a:buFont typeface="Barlow Condensed"/>
              <a:buNone/>
              <a:defRPr sz="4000" b="1" i="0" u="none" strike="noStrike" cap="none">
                <a:solidFill>
                  <a:schemeClr val="dk1"/>
                </a:solidFill>
                <a:latin typeface="Barlow Condensed"/>
                <a:ea typeface="Barlow Condensed"/>
                <a:cs typeface="Barlow Condensed"/>
                <a:sym typeface="Barlow Condense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259882" y="1413163"/>
            <a:ext cx="11569729" cy="4595117"/>
          </a:xfrm>
          <a:prstGeom prst="rect">
            <a:avLst/>
          </a:prstGeom>
          <a:noFill/>
          <a:ln>
            <a:noFill/>
          </a:ln>
        </p:spPr>
        <p:txBody>
          <a:bodyPr spcFirstLastPara="1" wrap="square" lIns="91425" tIns="45700" rIns="91425" bIns="45700" anchor="t" anchorCtr="0">
            <a:normAutofit/>
          </a:bodyPr>
          <a:lstStyle>
            <a:lvl1pPr marL="457200" marR="0" lvl="0" indent="-358140" algn="l" rtl="0">
              <a:lnSpc>
                <a:spcPct val="100000"/>
              </a:lnSpc>
              <a:spcBef>
                <a:spcPts val="800"/>
              </a:spcBef>
              <a:spcAft>
                <a:spcPts val="0"/>
              </a:spcAft>
              <a:buClr>
                <a:schemeClr val="dk1"/>
              </a:buClr>
              <a:buSzPts val="2040"/>
              <a:buFont typeface="Noto Sans Symbols"/>
              <a:buChar char="▪"/>
              <a:defRPr sz="2400" b="0" i="0" u="none" strike="noStrike" cap="none">
                <a:solidFill>
                  <a:schemeClr val="dk1"/>
                </a:solidFill>
                <a:latin typeface="Georgia"/>
                <a:ea typeface="Georgia"/>
                <a:cs typeface="Georgia"/>
                <a:sym typeface="Georgia"/>
              </a:defRPr>
            </a:lvl1pPr>
            <a:lvl2pPr marL="914400" marR="0" lvl="1" indent="-336550" algn="l" rtl="0">
              <a:lnSpc>
                <a:spcPct val="100000"/>
              </a:lnSpc>
              <a:spcBef>
                <a:spcPts val="800"/>
              </a:spcBef>
              <a:spcAft>
                <a:spcPts val="0"/>
              </a:spcAft>
              <a:buClr>
                <a:schemeClr val="dk1"/>
              </a:buClr>
              <a:buSzPts val="1700"/>
              <a:buFont typeface="Noto Sans Symbols"/>
              <a:buChar char="▪"/>
              <a:defRPr sz="2000" b="0" i="0" u="none" strike="noStrike" cap="none">
                <a:solidFill>
                  <a:schemeClr val="dk1"/>
                </a:solidFill>
                <a:latin typeface="Georgia"/>
                <a:ea typeface="Georgia"/>
                <a:cs typeface="Georgia"/>
                <a:sym typeface="Georgia"/>
              </a:defRPr>
            </a:lvl2pPr>
            <a:lvl3pPr marL="1371600" marR="0" lvl="2" indent="-325755" algn="l" rtl="0">
              <a:lnSpc>
                <a:spcPct val="100000"/>
              </a:lnSpc>
              <a:spcBef>
                <a:spcPts val="800"/>
              </a:spcBef>
              <a:spcAft>
                <a:spcPts val="0"/>
              </a:spcAft>
              <a:buClr>
                <a:schemeClr val="dk1"/>
              </a:buClr>
              <a:buSzPts val="1530"/>
              <a:buFont typeface="Noto Sans Symbols"/>
              <a:buChar char="▪"/>
              <a:defRPr sz="1800" b="0" i="0" u="none" strike="noStrike" cap="none">
                <a:solidFill>
                  <a:schemeClr val="dk1"/>
                </a:solidFill>
                <a:latin typeface="Georgia"/>
                <a:ea typeface="Georgia"/>
                <a:cs typeface="Georgia"/>
                <a:sym typeface="Georgia"/>
              </a:defRPr>
            </a:lvl3pPr>
            <a:lvl4pPr marL="1828800" marR="0" lvl="3" indent="-314960" algn="l" rtl="0">
              <a:lnSpc>
                <a:spcPct val="100000"/>
              </a:lnSpc>
              <a:spcBef>
                <a:spcPts val="800"/>
              </a:spcBef>
              <a:spcAft>
                <a:spcPts val="0"/>
              </a:spcAft>
              <a:buClr>
                <a:schemeClr val="dk1"/>
              </a:buClr>
              <a:buSzPts val="1360"/>
              <a:buFont typeface="Noto Sans Symbols"/>
              <a:buChar char="▪"/>
              <a:defRPr sz="1600" b="0" i="0" u="none" strike="noStrike" cap="none">
                <a:solidFill>
                  <a:schemeClr val="dk1"/>
                </a:solidFill>
                <a:latin typeface="Georgia"/>
                <a:ea typeface="Georgia"/>
                <a:cs typeface="Georgia"/>
                <a:sym typeface="Georgia"/>
              </a:defRPr>
            </a:lvl4pPr>
            <a:lvl5pPr marL="2286000" marR="0" lvl="4" indent="-314960" algn="l" rtl="0">
              <a:lnSpc>
                <a:spcPct val="100000"/>
              </a:lnSpc>
              <a:spcBef>
                <a:spcPts val="800"/>
              </a:spcBef>
              <a:spcAft>
                <a:spcPts val="0"/>
              </a:spcAft>
              <a:buClr>
                <a:schemeClr val="dk1"/>
              </a:buClr>
              <a:buSzPts val="1360"/>
              <a:buFont typeface="Noto Sans Symbols"/>
              <a:buChar char="▪"/>
              <a:defRPr sz="1600" b="0" i="0" u="none" strike="noStrike" cap="none">
                <a:solidFill>
                  <a:schemeClr val="dk1"/>
                </a:solidFill>
                <a:latin typeface="Georgia"/>
                <a:ea typeface="Georgia"/>
                <a:cs typeface="Georgia"/>
                <a:sym typeface="Georgia"/>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9pPr>
          </a:lstStyle>
          <a:p>
            <a:endParaRPr/>
          </a:p>
        </p:txBody>
      </p:sp>
      <p:sp>
        <p:nvSpPr>
          <p:cNvPr id="12" name="Google Shape;12;p1"/>
          <p:cNvSpPr txBox="1">
            <a:spLocks noGrp="1"/>
          </p:cNvSpPr>
          <p:nvPr>
            <p:ph type="dt" idx="10"/>
          </p:nvPr>
        </p:nvSpPr>
        <p:spPr>
          <a:xfrm>
            <a:off x="7538014" y="6335309"/>
            <a:ext cx="1181114" cy="25033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00" b="0" i="0" u="none" strike="noStrike" cap="none">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2pPr>
            <a:lvl3pPr marR="0" lvl="2"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3pPr>
            <a:lvl4pPr marR="0" lvl="3"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4pPr>
            <a:lvl5pPr marR="0" lvl="4"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5pPr>
            <a:lvl6pPr marR="0" lvl="5"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6pPr>
            <a:lvl7pPr marR="0" lvl="6"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7pPr>
            <a:lvl8pPr marR="0" lvl="7"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8pPr>
            <a:lvl9pPr marR="0" lvl="8"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9pPr>
          </a:lstStyle>
          <a:p>
            <a:endParaRPr/>
          </a:p>
        </p:txBody>
      </p:sp>
      <p:sp>
        <p:nvSpPr>
          <p:cNvPr id="13" name="Google Shape;13;p1"/>
          <p:cNvSpPr txBox="1">
            <a:spLocks noGrp="1"/>
          </p:cNvSpPr>
          <p:nvPr>
            <p:ph type="ftr" idx="11"/>
          </p:nvPr>
        </p:nvSpPr>
        <p:spPr>
          <a:xfrm>
            <a:off x="259882" y="6335309"/>
            <a:ext cx="5226517" cy="2503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2pPr>
            <a:lvl3pPr marR="0" lvl="2"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3pPr>
            <a:lvl4pPr marR="0" lvl="3"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4pPr>
            <a:lvl5pPr marR="0" lvl="4"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5pPr>
            <a:lvl6pPr marR="0" lvl="5"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6pPr>
            <a:lvl7pPr marR="0" lvl="6"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7pPr>
            <a:lvl8pPr marR="0" lvl="7"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8pPr>
            <a:lvl9pPr marR="0" lvl="8"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9pPr>
          </a:lstStyle>
          <a:p>
            <a:endParaRPr/>
          </a:p>
        </p:txBody>
      </p:sp>
      <p:sp>
        <p:nvSpPr>
          <p:cNvPr id="14" name="Google Shape;14;p1"/>
          <p:cNvSpPr txBox="1">
            <a:spLocks noGrp="1"/>
          </p:cNvSpPr>
          <p:nvPr>
            <p:ph type="sldNum" idx="12"/>
          </p:nvPr>
        </p:nvSpPr>
        <p:spPr>
          <a:xfrm>
            <a:off x="5588000" y="6335309"/>
            <a:ext cx="1016000" cy="250337"/>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000" b="0" i="0" u="none" strike="noStrike" cap="none">
                <a:solidFill>
                  <a:schemeClr val="dk1"/>
                </a:solidFill>
                <a:latin typeface="Verdana"/>
                <a:ea typeface="Verdana"/>
                <a:cs typeface="Verdana"/>
                <a:sym typeface="Verdana"/>
              </a:defRPr>
            </a:lvl1pPr>
            <a:lvl2pPr marL="0" marR="0" lvl="1" indent="0" algn="ctr" rtl="0">
              <a:spcBef>
                <a:spcPts val="0"/>
              </a:spcBef>
              <a:buNone/>
              <a:defRPr sz="1000" b="0" i="0" u="none" strike="noStrike" cap="none">
                <a:solidFill>
                  <a:schemeClr val="dk1"/>
                </a:solidFill>
                <a:latin typeface="Verdana"/>
                <a:ea typeface="Verdana"/>
                <a:cs typeface="Verdana"/>
                <a:sym typeface="Verdana"/>
              </a:defRPr>
            </a:lvl2pPr>
            <a:lvl3pPr marL="0" marR="0" lvl="2" indent="0" algn="ctr" rtl="0">
              <a:spcBef>
                <a:spcPts val="0"/>
              </a:spcBef>
              <a:buNone/>
              <a:defRPr sz="1000" b="0" i="0" u="none" strike="noStrike" cap="none">
                <a:solidFill>
                  <a:schemeClr val="dk1"/>
                </a:solidFill>
                <a:latin typeface="Verdana"/>
                <a:ea typeface="Verdana"/>
                <a:cs typeface="Verdana"/>
                <a:sym typeface="Verdana"/>
              </a:defRPr>
            </a:lvl3pPr>
            <a:lvl4pPr marL="0" marR="0" lvl="3" indent="0" algn="ctr" rtl="0">
              <a:spcBef>
                <a:spcPts val="0"/>
              </a:spcBef>
              <a:buNone/>
              <a:defRPr sz="1000" b="0" i="0" u="none" strike="noStrike" cap="none">
                <a:solidFill>
                  <a:schemeClr val="dk1"/>
                </a:solidFill>
                <a:latin typeface="Verdana"/>
                <a:ea typeface="Verdana"/>
                <a:cs typeface="Verdana"/>
                <a:sym typeface="Verdana"/>
              </a:defRPr>
            </a:lvl4pPr>
            <a:lvl5pPr marL="0" marR="0" lvl="4" indent="0" algn="ctr" rtl="0">
              <a:spcBef>
                <a:spcPts val="0"/>
              </a:spcBef>
              <a:buNone/>
              <a:defRPr sz="1000" b="0" i="0" u="none" strike="noStrike" cap="none">
                <a:solidFill>
                  <a:schemeClr val="dk1"/>
                </a:solidFill>
                <a:latin typeface="Verdana"/>
                <a:ea typeface="Verdana"/>
                <a:cs typeface="Verdana"/>
                <a:sym typeface="Verdana"/>
              </a:defRPr>
            </a:lvl5pPr>
            <a:lvl6pPr marL="0" marR="0" lvl="5" indent="0" algn="ctr" rtl="0">
              <a:spcBef>
                <a:spcPts val="0"/>
              </a:spcBef>
              <a:buNone/>
              <a:defRPr sz="1000" b="0" i="0" u="none" strike="noStrike" cap="none">
                <a:solidFill>
                  <a:schemeClr val="dk1"/>
                </a:solidFill>
                <a:latin typeface="Verdana"/>
                <a:ea typeface="Verdana"/>
                <a:cs typeface="Verdana"/>
                <a:sym typeface="Verdana"/>
              </a:defRPr>
            </a:lvl6pPr>
            <a:lvl7pPr marL="0" marR="0" lvl="6" indent="0" algn="ctr" rtl="0">
              <a:spcBef>
                <a:spcPts val="0"/>
              </a:spcBef>
              <a:buNone/>
              <a:defRPr sz="1000" b="0" i="0" u="none" strike="noStrike" cap="none">
                <a:solidFill>
                  <a:schemeClr val="dk1"/>
                </a:solidFill>
                <a:latin typeface="Verdana"/>
                <a:ea typeface="Verdana"/>
                <a:cs typeface="Verdana"/>
                <a:sym typeface="Verdana"/>
              </a:defRPr>
            </a:lvl7pPr>
            <a:lvl8pPr marL="0" marR="0" lvl="7" indent="0" algn="ctr" rtl="0">
              <a:spcBef>
                <a:spcPts val="0"/>
              </a:spcBef>
              <a:buNone/>
              <a:defRPr sz="1000" b="0" i="0" u="none" strike="noStrike" cap="none">
                <a:solidFill>
                  <a:schemeClr val="dk1"/>
                </a:solidFill>
                <a:latin typeface="Verdana"/>
                <a:ea typeface="Verdana"/>
                <a:cs typeface="Verdana"/>
                <a:sym typeface="Verdana"/>
              </a:defRPr>
            </a:lvl8pPr>
            <a:lvl9pPr marL="0" marR="0" lvl="8" indent="0" algn="ctr" rtl="0">
              <a:spcBef>
                <a:spcPts val="0"/>
              </a:spcBef>
              <a:buNone/>
              <a:defRPr sz="1000" b="0" i="0" u="none" strike="noStrike" cap="none">
                <a:solidFill>
                  <a:schemeClr val="dk1"/>
                </a:solidFill>
                <a:latin typeface="Verdana"/>
                <a:ea typeface="Verdana"/>
                <a:cs typeface="Verdana"/>
                <a:sym typeface="Verdana"/>
              </a:defRPr>
            </a:lvl9pPr>
          </a:lstStyle>
          <a:p>
            <a:pPr marL="0" lvl="0" indent="0" algn="ctr" rtl="0">
              <a:spcBef>
                <a:spcPts val="0"/>
              </a:spcBef>
              <a:spcAft>
                <a:spcPts val="0"/>
              </a:spcAft>
              <a:buNone/>
            </a:pPr>
            <a:r>
              <a:rPr lang="en-US"/>
              <a:t>PAGE  </a:t>
            </a:r>
            <a:fld id="{00000000-1234-1234-1234-123412341234}" type="slidenum">
              <a:rPr lang="en-US"/>
              <a:t>‹#›</a:t>
            </a:fld>
            <a:endParaRPr/>
          </a:p>
        </p:txBody>
      </p:sp>
      <p:grpSp>
        <p:nvGrpSpPr>
          <p:cNvPr id="15" name="Google Shape;15;p1"/>
          <p:cNvGrpSpPr/>
          <p:nvPr/>
        </p:nvGrpSpPr>
        <p:grpSpPr>
          <a:xfrm>
            <a:off x="0" y="0"/>
            <a:ext cx="12192000" cy="397164"/>
            <a:chOff x="421830" y="1342659"/>
            <a:chExt cx="10018760" cy="290558"/>
          </a:xfrm>
        </p:grpSpPr>
        <p:sp>
          <p:nvSpPr>
            <p:cNvPr id="16" name="Google Shape;16;p1"/>
            <p:cNvSpPr/>
            <p:nvPr/>
          </p:nvSpPr>
          <p:spPr>
            <a:xfrm>
              <a:off x="421831" y="1487938"/>
              <a:ext cx="2532791" cy="145279"/>
            </a:xfrm>
            <a:prstGeom prst="rect">
              <a:avLst/>
            </a:prstGeom>
            <a:solidFill>
              <a:srgbClr val="F2ED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17" name="Google Shape;17;p1"/>
            <p:cNvSpPr/>
            <p:nvPr/>
          </p:nvSpPr>
          <p:spPr>
            <a:xfrm>
              <a:off x="2928836" y="1487938"/>
              <a:ext cx="2503918" cy="145279"/>
            </a:xfrm>
            <a:prstGeom prst="rect">
              <a:avLst/>
            </a:prstGeom>
            <a:solidFill>
              <a:srgbClr val="FAE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18" name="Google Shape;18;p1"/>
            <p:cNvSpPr/>
            <p:nvPr/>
          </p:nvSpPr>
          <p:spPr>
            <a:xfrm>
              <a:off x="5432754" y="1487938"/>
              <a:ext cx="2503918" cy="145279"/>
            </a:xfrm>
            <a:prstGeom prst="rect">
              <a:avLst/>
            </a:prstGeom>
            <a:solidFill>
              <a:srgbClr val="FED3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19" name="Google Shape;19;p1"/>
            <p:cNvSpPr/>
            <p:nvPr/>
          </p:nvSpPr>
          <p:spPr>
            <a:xfrm>
              <a:off x="7936672" y="1487938"/>
              <a:ext cx="2503918" cy="145279"/>
            </a:xfrm>
            <a:prstGeom prst="rect">
              <a:avLst/>
            </a:prstGeom>
            <a:solidFill>
              <a:srgbClr val="EBAB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sp>
          <p:nvSpPr>
            <p:cNvPr id="20" name="Google Shape;20;p1"/>
            <p:cNvSpPr/>
            <p:nvPr/>
          </p:nvSpPr>
          <p:spPr>
            <a:xfrm>
              <a:off x="421830" y="1342659"/>
              <a:ext cx="10018759" cy="145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eorgia"/>
                <a:ea typeface="Georgia"/>
                <a:cs typeface="Georgia"/>
                <a:sym typeface="Georgia"/>
              </a:endParaRPr>
            </a:p>
          </p:txBody>
        </p:sp>
      </p:grpSp>
      <p:pic>
        <p:nvPicPr>
          <p:cNvPr id="21" name="Google Shape;21;p1" descr="University of Waterloo logo"/>
          <p:cNvPicPr preferRelativeResize="0"/>
          <p:nvPr/>
        </p:nvPicPr>
        <p:blipFill rotWithShape="1">
          <a:blip r:embed="rId24">
            <a:alphaModFix/>
          </a:blip>
          <a:srcRect/>
          <a:stretch/>
        </p:blipFill>
        <p:spPr>
          <a:xfrm>
            <a:off x="9442767" y="5868697"/>
            <a:ext cx="2749233" cy="108551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4.jpe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4.jpe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pp.theconstruct.ai/"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hyperlink" Target="https://www.flickr.com/photos/76323119@N00/4928429020/" TargetMode="External"/><Relationship Id="rId4" Type="http://schemas.openxmlformats.org/officeDocument/2006/relationships/image" Target="../media/image37.jpe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github.com/tchoopojcharoen/ROS2_pi_uwaterloo/blob/main/ROS2_pi_01.pdf" TargetMode="External"/><Relationship Id="rId2" Type="http://schemas.openxmlformats.org/officeDocument/2006/relationships/hyperlink" Target="https://github.com/tchoopojcharoen/simple_exercise/tree/rclpy_tutorial" TargetMode="External"/><Relationship Id="rId1" Type="http://schemas.openxmlformats.org/officeDocument/2006/relationships/slideLayout" Target="../slideLayouts/slideLayout2.xml"/><Relationship Id="rId4" Type="http://schemas.openxmlformats.org/officeDocument/2006/relationships/hyperlink" Target="https://docs.google.com/presentation/d/1ljf_5OKg6Fc9qIX2WaIG2sxCiyDxQGLgppOHNE3uEas/edit?slide=id.p&#82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4"/>
          <p:cNvSpPr txBox="1">
            <a:spLocks noGrp="1"/>
          </p:cNvSpPr>
          <p:nvPr>
            <p:ph type="ctrTitle"/>
          </p:nvPr>
        </p:nvSpPr>
        <p:spPr>
          <a:xfrm>
            <a:off x="452739" y="1028940"/>
            <a:ext cx="11117937" cy="1474115"/>
          </a:xfrm>
          <a:prstGeom prst="rect">
            <a:avLst/>
          </a:prstGeom>
          <a:noFill/>
          <a:ln>
            <a:noFill/>
          </a:ln>
        </p:spPr>
        <p:txBody>
          <a:bodyPr spcFirstLastPara="1" wrap="square" lIns="0" tIns="45700" rIns="91425" bIns="45700" anchor="b" anchorCtr="0">
            <a:noAutofit/>
          </a:bodyPr>
          <a:lstStyle/>
          <a:p>
            <a:pPr marL="0" lvl="0" indent="0" algn="l" rtl="0">
              <a:lnSpc>
                <a:spcPct val="85000"/>
              </a:lnSpc>
              <a:spcBef>
                <a:spcPts val="0"/>
              </a:spcBef>
              <a:spcAft>
                <a:spcPts val="0"/>
              </a:spcAft>
              <a:buClr>
                <a:schemeClr val="dk1"/>
              </a:buClr>
              <a:buSzPts val="4000"/>
              <a:buFont typeface="Arial"/>
              <a:buNone/>
            </a:pPr>
            <a:r>
              <a:rPr lang="en-US" sz="4000" dirty="0">
                <a:latin typeface="Arial"/>
                <a:ea typeface="Arial"/>
                <a:cs typeface="Arial"/>
                <a:sym typeface="Arial"/>
              </a:rPr>
              <a:t>Introduction to ROS2</a:t>
            </a:r>
            <a:endParaRPr sz="4000" dirty="0"/>
          </a:p>
        </p:txBody>
      </p:sp>
      <p:sp>
        <p:nvSpPr>
          <p:cNvPr id="267" name="Google Shape;267;p24"/>
          <p:cNvSpPr txBox="1">
            <a:spLocks noGrp="1"/>
          </p:cNvSpPr>
          <p:nvPr>
            <p:ph type="subTitle" idx="1"/>
          </p:nvPr>
        </p:nvSpPr>
        <p:spPr>
          <a:xfrm>
            <a:off x="452739" y="3937662"/>
            <a:ext cx="9166045" cy="834568"/>
          </a:xfrm>
          <a:prstGeom prst="rect">
            <a:avLst/>
          </a:prstGeom>
          <a:noFill/>
          <a:ln>
            <a:noFill/>
          </a:ln>
        </p:spPr>
        <p:txBody>
          <a:bodyPr spcFirstLastPara="1" wrap="square" lIns="0" tIns="45700" rIns="91425" bIns="45700" anchor="t" anchorCtr="0">
            <a:noAutofit/>
          </a:bodyPr>
          <a:lstStyle/>
          <a:p>
            <a:pPr marL="0" lvl="0" indent="0" algn="l" rtl="0">
              <a:lnSpc>
                <a:spcPct val="100000"/>
              </a:lnSpc>
              <a:spcBef>
                <a:spcPts val="0"/>
              </a:spcBef>
              <a:spcAft>
                <a:spcPts val="0"/>
              </a:spcAft>
              <a:buSzPts val="2040"/>
              <a:buNone/>
            </a:pPr>
            <a:r>
              <a:rPr lang="en-US" sz="2000" dirty="0"/>
              <a:t>Author:</a:t>
            </a:r>
            <a:br>
              <a:rPr lang="en-US" sz="2000" dirty="0"/>
            </a:br>
            <a:r>
              <a:rPr lang="en-US" sz="2000" dirty="0"/>
              <a:t>	Pi </a:t>
            </a:r>
            <a:r>
              <a:rPr lang="en-US" sz="2000" u="sng" dirty="0" err="1"/>
              <a:t>Thanacha</a:t>
            </a:r>
            <a:r>
              <a:rPr lang="en-US" sz="2000" u="sng" dirty="0"/>
              <a:t> </a:t>
            </a:r>
            <a:r>
              <a:rPr lang="en-US" sz="2000" u="sng" dirty="0" err="1"/>
              <a:t>Choopojcharoen</a:t>
            </a:r>
            <a:endParaRPr sz="2000" dirty="0"/>
          </a:p>
          <a:p>
            <a:pPr marL="0" lvl="0" indent="0">
              <a:spcBef>
                <a:spcPts val="0"/>
              </a:spcBef>
              <a:buSzPts val="2040"/>
            </a:pPr>
            <a:endParaRPr lang="en-US" sz="1400" dirty="0"/>
          </a:p>
          <a:p>
            <a:pPr marL="0" lvl="0" indent="0">
              <a:spcBef>
                <a:spcPts val="0"/>
              </a:spcBef>
              <a:buSzPts val="2040"/>
            </a:pPr>
            <a:r>
              <a:rPr lang="en-US" sz="2000" dirty="0"/>
              <a:t>Presented by:</a:t>
            </a:r>
          </a:p>
          <a:p>
            <a:pPr marL="0" lvl="0" indent="0">
              <a:spcBef>
                <a:spcPts val="0"/>
              </a:spcBef>
              <a:buSzPts val="2040"/>
            </a:pPr>
            <a:r>
              <a:rPr lang="en-US" sz="2000" dirty="0"/>
              <a:t>	  Ramisha Anjum</a:t>
            </a:r>
          </a:p>
          <a:p>
            <a:pPr marL="0" lvl="0" indent="0" algn="l" rtl="0">
              <a:lnSpc>
                <a:spcPct val="100000"/>
              </a:lnSpc>
              <a:spcBef>
                <a:spcPts val="1600"/>
              </a:spcBef>
              <a:spcAft>
                <a:spcPts val="0"/>
              </a:spcAft>
              <a:buSzPts val="2040"/>
              <a:buNone/>
            </a:pPr>
            <a:endParaRPr sz="2400" dirty="0"/>
          </a:p>
        </p:txBody>
      </p:sp>
      <p:sp>
        <p:nvSpPr>
          <p:cNvPr id="268" name="Google Shape;268;p24"/>
          <p:cNvSpPr txBox="1">
            <a:spLocks noGrp="1"/>
          </p:cNvSpPr>
          <p:nvPr>
            <p:ph type="dt" idx="10"/>
          </p:nvPr>
        </p:nvSpPr>
        <p:spPr>
          <a:xfrm>
            <a:off x="452739" y="2914752"/>
            <a:ext cx="1587075" cy="429112"/>
          </a:xfrm>
          <a:prstGeom prst="rect">
            <a:avLst/>
          </a:prstGeom>
          <a:solidFill>
            <a:srgbClr val="FED34C"/>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June 3</a:t>
            </a:r>
            <a:r>
              <a:rPr lang="en-US" baseline="30000" dirty="0"/>
              <a:t>rd</a:t>
            </a:r>
            <a:r>
              <a:rPr lang="en-US" dirty="0"/>
              <a:t>, 2026</a:t>
            </a:r>
            <a:endParaRPr dirty="0"/>
          </a:p>
        </p:txBody>
      </p:sp>
      <p:pic>
        <p:nvPicPr>
          <p:cNvPr id="269" name="Google Shape;269;p24" title="download.jpg"/>
          <p:cNvPicPr preferRelativeResize="0"/>
          <p:nvPr/>
        </p:nvPicPr>
        <p:blipFill>
          <a:blip r:embed="rId3">
            <a:alphaModFix/>
          </a:blip>
          <a:stretch>
            <a:fillRect/>
          </a:stretch>
        </p:blipFill>
        <p:spPr>
          <a:xfrm>
            <a:off x="6334876" y="2914751"/>
            <a:ext cx="3690934" cy="1998894"/>
          </a:xfrm>
          <a:prstGeom prst="rect">
            <a:avLst/>
          </a:prstGeom>
          <a:noFill/>
          <a:ln>
            <a:noFill/>
          </a:ln>
        </p:spPr>
      </p:pic>
      <p:cxnSp>
        <p:nvCxnSpPr>
          <p:cNvPr id="270" name="Google Shape;270;p24"/>
          <p:cNvCxnSpPr/>
          <p:nvPr/>
        </p:nvCxnSpPr>
        <p:spPr>
          <a:xfrm rot="10800000" flipH="1">
            <a:off x="4621425" y="4354946"/>
            <a:ext cx="1235700" cy="1359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5"/>
          <p:cNvSpPr txBox="1">
            <a:spLocks noGrp="1"/>
          </p:cNvSpPr>
          <p:nvPr>
            <p:ph type="title"/>
          </p:nvPr>
        </p:nvSpPr>
        <p:spPr>
          <a:xfrm>
            <a:off x="259883" y="434108"/>
            <a:ext cx="11569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dirty="0"/>
              <a:t>Agenda</a:t>
            </a:r>
            <a:endParaRPr dirty="0"/>
          </a:p>
        </p:txBody>
      </p:sp>
      <p:sp>
        <p:nvSpPr>
          <p:cNvPr id="274" name="Google Shape;274;p25"/>
          <p:cNvSpPr txBox="1">
            <a:spLocks noGrp="1"/>
          </p:cNvSpPr>
          <p:nvPr>
            <p:ph type="body" idx="1"/>
          </p:nvPr>
        </p:nvSpPr>
        <p:spPr>
          <a:xfrm>
            <a:off x="259875" y="1413176"/>
            <a:ext cx="5836200" cy="4073400"/>
          </a:xfrm>
          <a:prstGeom prst="rect">
            <a:avLst/>
          </a:prstGeom>
          <a:noFill/>
          <a:ln>
            <a:noFill/>
          </a:ln>
        </p:spPr>
        <p:txBody>
          <a:bodyPr spcFirstLastPara="1" wrap="square" lIns="91425" tIns="45700" rIns="91425" bIns="45700" anchor="t" anchorCtr="0">
            <a:normAutofit fontScale="70000" lnSpcReduction="20000"/>
          </a:bodyPr>
          <a:lstStyle/>
          <a:p>
            <a:pPr marL="288925" lvl="0" indent="-228202" algn="l" rtl="0">
              <a:lnSpc>
                <a:spcPct val="100000"/>
              </a:lnSpc>
              <a:spcBef>
                <a:spcPts val="0"/>
              </a:spcBef>
              <a:spcAft>
                <a:spcPts val="0"/>
              </a:spcAft>
              <a:buSzPct val="85000"/>
              <a:buNone/>
            </a:pPr>
            <a:endParaRPr sz="1800" dirty="0"/>
          </a:p>
          <a:p>
            <a:pPr marL="288925" lvl="0" indent="-276402" algn="l" rtl="0">
              <a:lnSpc>
                <a:spcPct val="100000"/>
              </a:lnSpc>
              <a:spcBef>
                <a:spcPts val="1600"/>
              </a:spcBef>
              <a:spcAft>
                <a:spcPts val="0"/>
              </a:spcAft>
              <a:buSzPct val="85000"/>
              <a:buChar char="▪"/>
            </a:pPr>
            <a:r>
              <a:rPr lang="en-US" sz="3100" dirty="0"/>
              <a:t>ROS</a:t>
            </a:r>
            <a:endParaRPr sz="3100" dirty="0"/>
          </a:p>
          <a:p>
            <a:pPr marL="288925" lvl="0" indent="-292642" algn="l" rtl="0">
              <a:lnSpc>
                <a:spcPct val="100000"/>
              </a:lnSpc>
              <a:spcBef>
                <a:spcPts val="1600"/>
              </a:spcBef>
              <a:spcAft>
                <a:spcPts val="0"/>
              </a:spcAft>
              <a:buSzPct val="100000"/>
              <a:buChar char="▪"/>
            </a:pPr>
            <a:r>
              <a:rPr lang="en-US" sz="3100" dirty="0"/>
              <a:t>ROS2</a:t>
            </a:r>
            <a:endParaRPr sz="3100" dirty="0"/>
          </a:p>
          <a:p>
            <a:pPr marL="288925" lvl="0" indent="-292642" algn="l" rtl="0">
              <a:lnSpc>
                <a:spcPct val="100000"/>
              </a:lnSpc>
              <a:spcBef>
                <a:spcPts val="1600"/>
              </a:spcBef>
              <a:spcAft>
                <a:spcPts val="0"/>
              </a:spcAft>
              <a:buSzPct val="100000"/>
              <a:buChar char="▪"/>
            </a:pPr>
            <a:r>
              <a:rPr lang="en-US" sz="3100" dirty="0"/>
              <a:t>Nodes &amp; Topics</a:t>
            </a:r>
            <a:endParaRPr sz="3100" dirty="0"/>
          </a:p>
          <a:p>
            <a:pPr marL="288925" lvl="0" indent="-292642" algn="l" rtl="0">
              <a:lnSpc>
                <a:spcPct val="100000"/>
              </a:lnSpc>
              <a:spcBef>
                <a:spcPts val="1600"/>
              </a:spcBef>
              <a:spcAft>
                <a:spcPts val="0"/>
              </a:spcAft>
              <a:buSzPct val="100000"/>
              <a:buChar char="▪"/>
            </a:pPr>
            <a:r>
              <a:rPr lang="en-US" sz="3100" dirty="0"/>
              <a:t>Interfaces</a:t>
            </a:r>
            <a:endParaRPr sz="3100" dirty="0"/>
          </a:p>
          <a:p>
            <a:pPr marL="685800" lvl="1" indent="-239713" algn="l" rtl="0">
              <a:lnSpc>
                <a:spcPct val="100000"/>
              </a:lnSpc>
              <a:spcBef>
                <a:spcPts val="1600"/>
              </a:spcBef>
              <a:spcAft>
                <a:spcPts val="0"/>
              </a:spcAft>
              <a:buSzPct val="100000"/>
              <a:buChar char="▪"/>
            </a:pPr>
            <a:r>
              <a:rPr lang="en-US" sz="3100" dirty="0"/>
              <a:t>Message</a:t>
            </a:r>
            <a:endParaRPr sz="3100" dirty="0"/>
          </a:p>
          <a:p>
            <a:pPr marL="685800" lvl="1" indent="-239713" algn="l" rtl="0">
              <a:lnSpc>
                <a:spcPct val="100000"/>
              </a:lnSpc>
              <a:spcBef>
                <a:spcPts val="1600"/>
              </a:spcBef>
              <a:spcAft>
                <a:spcPts val="0"/>
              </a:spcAft>
              <a:buSzPct val="100000"/>
              <a:buChar char="▪"/>
            </a:pPr>
            <a:r>
              <a:rPr lang="en-US" sz="3100" dirty="0"/>
              <a:t>Services (*)</a:t>
            </a:r>
            <a:endParaRPr sz="3100" dirty="0"/>
          </a:p>
          <a:p>
            <a:pPr marL="685800" lvl="1" indent="-239713" algn="l" rtl="0">
              <a:lnSpc>
                <a:spcPct val="100000"/>
              </a:lnSpc>
              <a:spcBef>
                <a:spcPts val="1600"/>
              </a:spcBef>
              <a:spcAft>
                <a:spcPts val="0"/>
              </a:spcAft>
              <a:buSzPct val="100000"/>
              <a:buChar char="▪"/>
            </a:pPr>
            <a:r>
              <a:rPr lang="en-US" sz="3100" dirty="0"/>
              <a:t>Actions (*)</a:t>
            </a:r>
            <a:endParaRPr sz="3100" dirty="0"/>
          </a:p>
          <a:p>
            <a:pPr marL="288925" lvl="0" indent="-300038" algn="l" rtl="0">
              <a:lnSpc>
                <a:spcPct val="100000"/>
              </a:lnSpc>
              <a:spcBef>
                <a:spcPts val="1600"/>
              </a:spcBef>
              <a:spcAft>
                <a:spcPts val="0"/>
              </a:spcAft>
              <a:buSzPct val="100000"/>
              <a:buChar char="▪"/>
            </a:pPr>
            <a:r>
              <a:rPr lang="en-US" sz="3100" dirty="0"/>
              <a:t>Packages</a:t>
            </a:r>
            <a:endParaRPr sz="3100" dirty="0"/>
          </a:p>
          <a:p>
            <a:pPr marL="0" lvl="0" indent="0" algn="l" rtl="0">
              <a:lnSpc>
                <a:spcPct val="100000"/>
              </a:lnSpc>
              <a:spcBef>
                <a:spcPts val="1600"/>
              </a:spcBef>
              <a:spcAft>
                <a:spcPts val="0"/>
              </a:spcAft>
              <a:buNone/>
            </a:pPr>
            <a:endParaRPr sz="3100" dirty="0"/>
          </a:p>
        </p:txBody>
      </p:sp>
      <p:sp>
        <p:nvSpPr>
          <p:cNvPr id="275" name="Google Shape;275;p25"/>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Robot Modelling with URDF</a:t>
            </a:r>
            <a:endParaRPr/>
          </a:p>
        </p:txBody>
      </p:sp>
      <p:sp>
        <p:nvSpPr>
          <p:cNvPr id="276" name="Google Shape;276;p25"/>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2</a:t>
            </a:fld>
            <a:endParaRPr/>
          </a:p>
        </p:txBody>
      </p:sp>
      <p:sp>
        <p:nvSpPr>
          <p:cNvPr id="277" name="Google Shape;277;p25"/>
          <p:cNvSpPr txBox="1"/>
          <p:nvPr/>
        </p:nvSpPr>
        <p:spPr>
          <a:xfrm>
            <a:off x="6442841" y="5252056"/>
            <a:ext cx="5080200" cy="301800"/>
          </a:xfrm>
          <a:prstGeom prst="rect">
            <a:avLst/>
          </a:prstGeom>
          <a:noFill/>
          <a:ln>
            <a:noFill/>
          </a:ln>
        </p:spPr>
        <p:txBody>
          <a:bodyPr spcFirstLastPara="1" wrap="square" lIns="0" tIns="0" rIns="0" bIns="0" anchor="ctr" anchorCtr="0">
            <a:normAutofit/>
          </a:bodyPr>
          <a:lstStyle/>
          <a:p>
            <a:pPr marL="0" marR="0" lvl="0" indent="0" algn="r" rtl="0">
              <a:spcBef>
                <a:spcPts val="0"/>
              </a:spcBef>
              <a:spcAft>
                <a:spcPts val="0"/>
              </a:spcAft>
              <a:buNone/>
            </a:pPr>
            <a:r>
              <a:rPr lang="en-US" sz="900" b="0" i="0" u="none" strike="noStrike" cap="none">
                <a:solidFill>
                  <a:schemeClr val="lt1"/>
                </a:solidFill>
                <a:latin typeface="Verdana"/>
                <a:ea typeface="Verdana"/>
                <a:cs typeface="Verdana"/>
                <a:sym typeface="Verdana"/>
              </a:rPr>
              <a:t>Photo credit: @bruce.digital</a:t>
            </a:r>
            <a:endParaRPr sz="900" b="0" i="0" u="none" strike="noStrike" cap="none">
              <a:solidFill>
                <a:schemeClr val="lt1"/>
              </a:solidFill>
              <a:latin typeface="Verdana"/>
              <a:ea typeface="Verdana"/>
              <a:cs typeface="Verdana"/>
              <a:sym typeface="Verdana"/>
            </a:endParaRPr>
          </a:p>
        </p:txBody>
      </p:sp>
      <p:sp>
        <p:nvSpPr>
          <p:cNvPr id="2" name="TextBox 1">
            <a:extLst>
              <a:ext uri="{FF2B5EF4-FFF2-40B4-BE49-F238E27FC236}">
                <a16:creationId xmlns:a16="http://schemas.microsoft.com/office/drawing/2014/main" id="{A94A2FA1-E274-E811-5DF4-AF6B97986AF9}"/>
              </a:ext>
            </a:extLst>
          </p:cNvPr>
          <p:cNvSpPr txBox="1"/>
          <p:nvPr/>
        </p:nvSpPr>
        <p:spPr>
          <a:xfrm>
            <a:off x="5669280" y="2459985"/>
            <a:ext cx="5449823" cy="1661993"/>
          </a:xfrm>
          <a:prstGeom prst="rect">
            <a:avLst/>
          </a:prstGeom>
          <a:noFill/>
        </p:spPr>
        <p:txBody>
          <a:bodyPr wrap="square" rtlCol="0">
            <a:spAutoFit/>
          </a:bodyPr>
          <a:lstStyle/>
          <a:p>
            <a:r>
              <a:rPr lang="th-TH" sz="2200" dirty="0">
                <a:latin typeface="Georgia" panose="02040502050405020303" pitchFamily="18" charset="0"/>
                <a:cs typeface="Cordia New"/>
              </a:rPr>
              <a:t>Main Objective: </a:t>
            </a:r>
            <a:endParaRPr lang="en-US" sz="2200" dirty="0">
              <a:latin typeface="Georgia" panose="02040502050405020303" pitchFamily="18" charset="0"/>
            </a:endParaRPr>
          </a:p>
          <a:p>
            <a:endParaRPr lang="th-TH" sz="2200" dirty="0">
              <a:latin typeface="Georgia" panose="02040502050405020303" pitchFamily="18" charset="0"/>
              <a:cs typeface="Cordia New"/>
            </a:endParaRPr>
          </a:p>
          <a:p>
            <a:r>
              <a:rPr lang="th-TH" sz="2200" dirty="0">
                <a:latin typeface="Georgia" panose="02040502050405020303" pitchFamily="18" charset="0"/>
                <a:cs typeface="Cordia New"/>
              </a:rPr>
              <a:t>To read the RCLPY-based code, create and customize basic ROS2 node.</a:t>
            </a:r>
            <a:endParaRPr lang="en-US" sz="2200" dirty="0">
              <a:latin typeface="Georgia" panose="02040502050405020303" pitchFamily="18" charset="0"/>
              <a:cs typeface="Calibri"/>
            </a:endParaRP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6"/>
          <p:cNvSpPr txBox="1">
            <a:spLocks noGrp="1"/>
          </p:cNvSpPr>
          <p:nvPr>
            <p:ph type="ctrTitle"/>
          </p:nvPr>
        </p:nvSpPr>
        <p:spPr>
          <a:xfrm>
            <a:off x="0" y="3124200"/>
            <a:ext cx="12192000" cy="791100"/>
          </a:xfrm>
          <a:prstGeom prst="rect">
            <a:avLst/>
          </a:prstGeom>
          <a:solidFill>
            <a:schemeClr val="lt2"/>
          </a:solidFill>
          <a:ln>
            <a:noFill/>
          </a:ln>
        </p:spPr>
        <p:txBody>
          <a:bodyPr spcFirstLastPara="1" wrap="square" lIns="0" tIns="45700" rIns="91425" bIns="45700" anchor="b" anchorCtr="0">
            <a:normAutofit/>
          </a:bodyPr>
          <a:lstStyle/>
          <a:p>
            <a:pPr marL="0" lvl="0" indent="0" algn="ctr" rtl="0">
              <a:lnSpc>
                <a:spcPct val="85000"/>
              </a:lnSpc>
              <a:spcBef>
                <a:spcPts val="0"/>
              </a:spcBef>
              <a:spcAft>
                <a:spcPts val="0"/>
              </a:spcAft>
              <a:buClr>
                <a:schemeClr val="dk1"/>
              </a:buClr>
              <a:buSzPts val="4000"/>
              <a:buFont typeface="Arial"/>
              <a:buNone/>
            </a:pPr>
            <a:r>
              <a:rPr lang="en-US" sz="4000">
                <a:latin typeface="Arial"/>
                <a:ea typeface="Arial"/>
                <a:cs typeface="Arial"/>
                <a:sym typeface="Arial"/>
              </a:rPr>
              <a:t>Motivation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7"/>
          <p:cNvSpPr txBox="1">
            <a:spLocks noGrp="1"/>
          </p:cNvSpPr>
          <p:nvPr>
            <p:ph type="title"/>
          </p:nvPr>
        </p:nvSpPr>
        <p:spPr>
          <a:xfrm>
            <a:off x="259874" y="434100"/>
            <a:ext cx="5751300" cy="895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dk1"/>
              </a:buClr>
              <a:buSzPts val="3600"/>
              <a:buFont typeface="Barlow Condensed"/>
              <a:buNone/>
            </a:pPr>
            <a:r>
              <a:rPr lang="en-US" sz="2900"/>
              <a:t>Distributed Publish-Subscribe Middleware</a:t>
            </a:r>
            <a:endParaRPr sz="2900"/>
          </a:p>
        </p:txBody>
      </p:sp>
      <p:sp>
        <p:nvSpPr>
          <p:cNvPr id="288" name="Google Shape;288;p27"/>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289" name="Google Shape;289;p27"/>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4</a:t>
            </a:fld>
            <a:endParaRPr/>
          </a:p>
        </p:txBody>
      </p:sp>
      <p:sp>
        <p:nvSpPr>
          <p:cNvPr id="290" name="Google Shape;290;p27"/>
          <p:cNvSpPr/>
          <p:nvPr/>
        </p:nvSpPr>
        <p:spPr>
          <a:xfrm>
            <a:off x="4088850" y="2220275"/>
            <a:ext cx="3255900" cy="245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latin typeface="Georgia"/>
                <a:ea typeface="Georgia"/>
                <a:cs typeface="Georgia"/>
                <a:sym typeface="Georgia"/>
              </a:rPr>
              <a:t>Communication Channel</a:t>
            </a:r>
            <a:endParaRPr sz="2400" dirty="0">
              <a:latin typeface="Georgia"/>
              <a:ea typeface="Georgia"/>
              <a:cs typeface="Georgia"/>
              <a:sym typeface="Georgia"/>
            </a:endParaRPr>
          </a:p>
        </p:txBody>
      </p:sp>
      <p:sp>
        <p:nvSpPr>
          <p:cNvPr id="291" name="Google Shape;291;p27"/>
          <p:cNvSpPr/>
          <p:nvPr/>
        </p:nvSpPr>
        <p:spPr>
          <a:xfrm>
            <a:off x="867675" y="2452263"/>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292" name="Google Shape;292;p27"/>
          <p:cNvSpPr/>
          <p:nvPr/>
        </p:nvSpPr>
        <p:spPr>
          <a:xfrm>
            <a:off x="867675" y="3643738"/>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293" name="Google Shape;293;p27"/>
          <p:cNvSpPr/>
          <p:nvPr/>
        </p:nvSpPr>
        <p:spPr>
          <a:xfrm>
            <a:off x="8782125" y="2374297"/>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294" name="Google Shape;294;p27"/>
          <p:cNvSpPr/>
          <p:nvPr/>
        </p:nvSpPr>
        <p:spPr>
          <a:xfrm>
            <a:off x="8782125" y="3671500"/>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295" name="Google Shape;295;p27"/>
          <p:cNvSpPr/>
          <p:nvPr/>
        </p:nvSpPr>
        <p:spPr>
          <a:xfrm>
            <a:off x="2830450" y="26253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296" name="Google Shape;296;p27"/>
          <p:cNvSpPr/>
          <p:nvPr/>
        </p:nvSpPr>
        <p:spPr>
          <a:xfrm flipH="1">
            <a:off x="2830463"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297" name="Google Shape;297;p27"/>
          <p:cNvSpPr/>
          <p:nvPr/>
        </p:nvSpPr>
        <p:spPr>
          <a:xfrm>
            <a:off x="7621900" y="233020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298" name="Google Shape;298;p27"/>
          <p:cNvSpPr/>
          <p:nvPr/>
        </p:nvSpPr>
        <p:spPr>
          <a:xfrm flipH="1">
            <a:off x="7621888" y="27984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299" name="Google Shape;299;p27"/>
          <p:cNvSpPr/>
          <p:nvPr/>
        </p:nvSpPr>
        <p:spPr>
          <a:xfrm>
            <a:off x="7562625"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nvGrpSpPr>
          <p:cNvPr id="300" name="Google Shape;300;p27"/>
          <p:cNvGrpSpPr/>
          <p:nvPr/>
        </p:nvGrpSpPr>
        <p:grpSpPr>
          <a:xfrm>
            <a:off x="1609150" y="1930900"/>
            <a:ext cx="392875" cy="250200"/>
            <a:chOff x="3752275" y="1525200"/>
            <a:chExt cx="392875" cy="250200"/>
          </a:xfrm>
        </p:grpSpPr>
        <p:sp>
          <p:nvSpPr>
            <p:cNvPr id="301" name="Google Shape;301;p27"/>
            <p:cNvSpPr/>
            <p:nvPr/>
          </p:nvSpPr>
          <p:spPr>
            <a:xfrm>
              <a:off x="3752275" y="1525200"/>
              <a:ext cx="388200" cy="2502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02" name="Google Shape;302;p27"/>
            <p:cNvSpPr/>
            <p:nvPr/>
          </p:nvSpPr>
          <p:spPr>
            <a:xfrm rot="10800000" flipH="1">
              <a:off x="3755450" y="1528150"/>
              <a:ext cx="389700" cy="132300"/>
            </a:xfrm>
            <a:prstGeom prst="triangle">
              <a:avLst>
                <a:gd name="adj"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8"/>
          <p:cNvSpPr txBox="1">
            <a:spLocks noGrp="1"/>
          </p:cNvSpPr>
          <p:nvPr>
            <p:ph type="title"/>
          </p:nvPr>
        </p:nvSpPr>
        <p:spPr>
          <a:xfrm>
            <a:off x="259874" y="434100"/>
            <a:ext cx="5751300" cy="895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dk1"/>
              </a:buClr>
              <a:buSzPts val="3600"/>
              <a:buFont typeface="Barlow Condensed"/>
              <a:buNone/>
            </a:pPr>
            <a:r>
              <a:rPr lang="en-US" sz="2900"/>
              <a:t>Distributed Publish-Subscribe Middleware</a:t>
            </a:r>
            <a:endParaRPr sz="2900"/>
          </a:p>
        </p:txBody>
      </p:sp>
      <p:sp>
        <p:nvSpPr>
          <p:cNvPr id="308" name="Google Shape;308;p28"/>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309" name="Google Shape;309;p28"/>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5</a:t>
            </a:fld>
            <a:endParaRPr/>
          </a:p>
        </p:txBody>
      </p:sp>
      <p:sp>
        <p:nvSpPr>
          <p:cNvPr id="310" name="Google Shape;310;p28"/>
          <p:cNvSpPr/>
          <p:nvPr/>
        </p:nvSpPr>
        <p:spPr>
          <a:xfrm>
            <a:off x="4088850" y="2220275"/>
            <a:ext cx="3255900" cy="245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dirty="0">
                <a:latin typeface="Georgia"/>
                <a:ea typeface="Georgia"/>
                <a:cs typeface="Georgia"/>
                <a:sym typeface="Georgia"/>
              </a:rPr>
              <a:t>Communication Channel</a:t>
            </a:r>
          </a:p>
        </p:txBody>
      </p:sp>
      <p:sp>
        <p:nvSpPr>
          <p:cNvPr id="311" name="Google Shape;311;p28"/>
          <p:cNvSpPr/>
          <p:nvPr/>
        </p:nvSpPr>
        <p:spPr>
          <a:xfrm>
            <a:off x="867675" y="2452263"/>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12" name="Google Shape;312;p28"/>
          <p:cNvSpPr/>
          <p:nvPr/>
        </p:nvSpPr>
        <p:spPr>
          <a:xfrm>
            <a:off x="867675" y="3643738"/>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13" name="Google Shape;313;p28"/>
          <p:cNvSpPr/>
          <p:nvPr/>
        </p:nvSpPr>
        <p:spPr>
          <a:xfrm>
            <a:off x="8782125" y="2374297"/>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14" name="Google Shape;314;p28"/>
          <p:cNvSpPr/>
          <p:nvPr/>
        </p:nvSpPr>
        <p:spPr>
          <a:xfrm>
            <a:off x="8782125" y="3671500"/>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15" name="Google Shape;315;p28"/>
          <p:cNvSpPr/>
          <p:nvPr/>
        </p:nvSpPr>
        <p:spPr>
          <a:xfrm>
            <a:off x="2830450" y="26253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16" name="Google Shape;316;p28"/>
          <p:cNvSpPr/>
          <p:nvPr/>
        </p:nvSpPr>
        <p:spPr>
          <a:xfrm flipH="1">
            <a:off x="2830463"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17" name="Google Shape;317;p28"/>
          <p:cNvSpPr/>
          <p:nvPr/>
        </p:nvSpPr>
        <p:spPr>
          <a:xfrm>
            <a:off x="7621900" y="233020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18" name="Google Shape;318;p28"/>
          <p:cNvSpPr/>
          <p:nvPr/>
        </p:nvSpPr>
        <p:spPr>
          <a:xfrm flipH="1">
            <a:off x="7621888" y="27984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19" name="Google Shape;319;p28"/>
          <p:cNvSpPr/>
          <p:nvPr/>
        </p:nvSpPr>
        <p:spPr>
          <a:xfrm>
            <a:off x="7562625"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nvGrpSpPr>
          <p:cNvPr id="320" name="Google Shape;320;p28"/>
          <p:cNvGrpSpPr/>
          <p:nvPr/>
        </p:nvGrpSpPr>
        <p:grpSpPr>
          <a:xfrm>
            <a:off x="3909850" y="1852538"/>
            <a:ext cx="392875" cy="250200"/>
            <a:chOff x="3752275" y="1525200"/>
            <a:chExt cx="392875" cy="250200"/>
          </a:xfrm>
        </p:grpSpPr>
        <p:sp>
          <p:nvSpPr>
            <p:cNvPr id="321" name="Google Shape;321;p28"/>
            <p:cNvSpPr/>
            <p:nvPr/>
          </p:nvSpPr>
          <p:spPr>
            <a:xfrm>
              <a:off x="3752275" y="1525200"/>
              <a:ext cx="388200" cy="2502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22" name="Google Shape;322;p28"/>
            <p:cNvSpPr/>
            <p:nvPr/>
          </p:nvSpPr>
          <p:spPr>
            <a:xfrm rot="10800000" flipH="1">
              <a:off x="3755450" y="1528150"/>
              <a:ext cx="389700" cy="132300"/>
            </a:xfrm>
            <a:prstGeom prst="triangle">
              <a:avLst>
                <a:gd name="adj"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sp>
        <p:nvSpPr>
          <p:cNvPr id="323" name="Google Shape;323;p28"/>
          <p:cNvSpPr txBox="1"/>
          <p:nvPr/>
        </p:nvSpPr>
        <p:spPr>
          <a:xfrm>
            <a:off x="2797450" y="2080000"/>
            <a:ext cx="12915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Georgia"/>
                <a:ea typeface="Georgia"/>
                <a:cs typeface="Georgia"/>
                <a:sym typeface="Georgia"/>
              </a:rPr>
              <a:t>Publish</a:t>
            </a:r>
            <a:endParaRPr sz="2300">
              <a:solidFill>
                <a:schemeClr val="dk1"/>
              </a:solidFill>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9"/>
          <p:cNvSpPr txBox="1">
            <a:spLocks noGrp="1"/>
          </p:cNvSpPr>
          <p:nvPr>
            <p:ph type="title"/>
          </p:nvPr>
        </p:nvSpPr>
        <p:spPr>
          <a:xfrm>
            <a:off x="259874" y="434100"/>
            <a:ext cx="5751300" cy="895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dk1"/>
              </a:buClr>
              <a:buSzPts val="3600"/>
              <a:buFont typeface="Barlow Condensed"/>
              <a:buNone/>
            </a:pPr>
            <a:r>
              <a:rPr lang="en-US" sz="2900"/>
              <a:t>Distributed Publish-Subscribe Middleware</a:t>
            </a:r>
            <a:endParaRPr sz="2900"/>
          </a:p>
        </p:txBody>
      </p:sp>
      <p:sp>
        <p:nvSpPr>
          <p:cNvPr id="329" name="Google Shape;329;p29"/>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330" name="Google Shape;330;p29"/>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6</a:t>
            </a:fld>
            <a:endParaRPr/>
          </a:p>
        </p:txBody>
      </p:sp>
      <p:sp>
        <p:nvSpPr>
          <p:cNvPr id="331" name="Google Shape;331;p29"/>
          <p:cNvSpPr/>
          <p:nvPr/>
        </p:nvSpPr>
        <p:spPr>
          <a:xfrm>
            <a:off x="4088850" y="2220275"/>
            <a:ext cx="3255900" cy="245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dirty="0">
                <a:latin typeface="Georgia"/>
                <a:ea typeface="Georgia"/>
                <a:cs typeface="Georgia"/>
                <a:sym typeface="Georgia"/>
              </a:rPr>
              <a:t>Communication Channel</a:t>
            </a:r>
          </a:p>
        </p:txBody>
      </p:sp>
      <p:sp>
        <p:nvSpPr>
          <p:cNvPr id="332" name="Google Shape;332;p29"/>
          <p:cNvSpPr/>
          <p:nvPr/>
        </p:nvSpPr>
        <p:spPr>
          <a:xfrm>
            <a:off x="867675" y="2452263"/>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33" name="Google Shape;333;p29"/>
          <p:cNvSpPr/>
          <p:nvPr/>
        </p:nvSpPr>
        <p:spPr>
          <a:xfrm>
            <a:off x="867675" y="3643738"/>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34" name="Google Shape;334;p29"/>
          <p:cNvSpPr/>
          <p:nvPr/>
        </p:nvSpPr>
        <p:spPr>
          <a:xfrm>
            <a:off x="8782125" y="2374297"/>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35" name="Google Shape;335;p29"/>
          <p:cNvSpPr/>
          <p:nvPr/>
        </p:nvSpPr>
        <p:spPr>
          <a:xfrm>
            <a:off x="8782125" y="3671500"/>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36" name="Google Shape;336;p29"/>
          <p:cNvSpPr/>
          <p:nvPr/>
        </p:nvSpPr>
        <p:spPr>
          <a:xfrm>
            <a:off x="2830450" y="26253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37" name="Google Shape;337;p29"/>
          <p:cNvSpPr/>
          <p:nvPr/>
        </p:nvSpPr>
        <p:spPr>
          <a:xfrm flipH="1">
            <a:off x="2830463"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38" name="Google Shape;338;p29"/>
          <p:cNvSpPr/>
          <p:nvPr/>
        </p:nvSpPr>
        <p:spPr>
          <a:xfrm>
            <a:off x="7621900" y="233020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39" name="Google Shape;339;p29"/>
          <p:cNvSpPr/>
          <p:nvPr/>
        </p:nvSpPr>
        <p:spPr>
          <a:xfrm flipH="1">
            <a:off x="7621888" y="27984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40" name="Google Shape;340;p29"/>
          <p:cNvSpPr/>
          <p:nvPr/>
        </p:nvSpPr>
        <p:spPr>
          <a:xfrm>
            <a:off x="7562625"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nvGrpSpPr>
          <p:cNvPr id="341" name="Google Shape;341;p29"/>
          <p:cNvGrpSpPr/>
          <p:nvPr/>
        </p:nvGrpSpPr>
        <p:grpSpPr>
          <a:xfrm>
            <a:off x="5569438" y="2798463"/>
            <a:ext cx="392875" cy="250200"/>
            <a:chOff x="3752275" y="1525200"/>
            <a:chExt cx="392875" cy="250200"/>
          </a:xfrm>
        </p:grpSpPr>
        <p:sp>
          <p:nvSpPr>
            <p:cNvPr id="342" name="Google Shape;342;p29"/>
            <p:cNvSpPr/>
            <p:nvPr/>
          </p:nvSpPr>
          <p:spPr>
            <a:xfrm>
              <a:off x="3752275" y="1525200"/>
              <a:ext cx="388200" cy="2502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43" name="Google Shape;343;p29"/>
            <p:cNvSpPr/>
            <p:nvPr/>
          </p:nvSpPr>
          <p:spPr>
            <a:xfrm rot="10800000" flipH="1">
              <a:off x="3755450" y="1528150"/>
              <a:ext cx="389700" cy="132300"/>
            </a:xfrm>
            <a:prstGeom prst="triangle">
              <a:avLst>
                <a:gd name="adj"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0"/>
          <p:cNvSpPr txBox="1">
            <a:spLocks noGrp="1"/>
          </p:cNvSpPr>
          <p:nvPr>
            <p:ph type="title"/>
          </p:nvPr>
        </p:nvSpPr>
        <p:spPr>
          <a:xfrm>
            <a:off x="259874" y="434100"/>
            <a:ext cx="5751300" cy="895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dk1"/>
              </a:buClr>
              <a:buSzPts val="3600"/>
              <a:buFont typeface="Barlow Condensed"/>
              <a:buNone/>
            </a:pPr>
            <a:r>
              <a:rPr lang="en-US" sz="2900"/>
              <a:t>Distributed Publish-Subscribe Middleware</a:t>
            </a:r>
            <a:endParaRPr sz="2900"/>
          </a:p>
        </p:txBody>
      </p:sp>
      <p:sp>
        <p:nvSpPr>
          <p:cNvPr id="349" name="Google Shape;349;p30"/>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350" name="Google Shape;350;p30"/>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7</a:t>
            </a:fld>
            <a:endParaRPr/>
          </a:p>
        </p:txBody>
      </p:sp>
      <p:sp>
        <p:nvSpPr>
          <p:cNvPr id="351" name="Google Shape;351;p30"/>
          <p:cNvSpPr/>
          <p:nvPr/>
        </p:nvSpPr>
        <p:spPr>
          <a:xfrm>
            <a:off x="4088850" y="2220275"/>
            <a:ext cx="3255900" cy="245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dirty="0">
                <a:latin typeface="Georgia"/>
                <a:ea typeface="Georgia"/>
                <a:cs typeface="Georgia"/>
                <a:sym typeface="Georgia"/>
              </a:rPr>
              <a:t>Communication Channel</a:t>
            </a:r>
          </a:p>
        </p:txBody>
      </p:sp>
      <p:sp>
        <p:nvSpPr>
          <p:cNvPr id="352" name="Google Shape;352;p30"/>
          <p:cNvSpPr/>
          <p:nvPr/>
        </p:nvSpPr>
        <p:spPr>
          <a:xfrm>
            <a:off x="867675" y="2452263"/>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latin typeface="Georgia"/>
                <a:ea typeface="Georgia"/>
                <a:cs typeface="Georgia"/>
                <a:sym typeface="Georgia"/>
              </a:rPr>
              <a:t>Node</a:t>
            </a:r>
            <a:endParaRPr sz="2000" dirty="0">
              <a:latin typeface="Georgia"/>
              <a:ea typeface="Georgia"/>
              <a:cs typeface="Georgia"/>
              <a:sym typeface="Georgia"/>
            </a:endParaRPr>
          </a:p>
        </p:txBody>
      </p:sp>
      <p:sp>
        <p:nvSpPr>
          <p:cNvPr id="353" name="Google Shape;353;p30"/>
          <p:cNvSpPr/>
          <p:nvPr/>
        </p:nvSpPr>
        <p:spPr>
          <a:xfrm>
            <a:off x="867675" y="3643738"/>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54" name="Google Shape;354;p30"/>
          <p:cNvSpPr/>
          <p:nvPr/>
        </p:nvSpPr>
        <p:spPr>
          <a:xfrm>
            <a:off x="8782125" y="2374297"/>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55" name="Google Shape;355;p30"/>
          <p:cNvSpPr/>
          <p:nvPr/>
        </p:nvSpPr>
        <p:spPr>
          <a:xfrm>
            <a:off x="8782125" y="3671500"/>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56" name="Google Shape;356;p30"/>
          <p:cNvSpPr/>
          <p:nvPr/>
        </p:nvSpPr>
        <p:spPr>
          <a:xfrm>
            <a:off x="2830450" y="26253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57" name="Google Shape;357;p30"/>
          <p:cNvSpPr/>
          <p:nvPr/>
        </p:nvSpPr>
        <p:spPr>
          <a:xfrm flipH="1">
            <a:off x="2830463"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58" name="Google Shape;358;p30"/>
          <p:cNvSpPr/>
          <p:nvPr/>
        </p:nvSpPr>
        <p:spPr>
          <a:xfrm>
            <a:off x="7621900" y="233020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59" name="Google Shape;359;p30"/>
          <p:cNvSpPr/>
          <p:nvPr/>
        </p:nvSpPr>
        <p:spPr>
          <a:xfrm flipH="1">
            <a:off x="7621888" y="27984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60" name="Google Shape;360;p30"/>
          <p:cNvSpPr/>
          <p:nvPr/>
        </p:nvSpPr>
        <p:spPr>
          <a:xfrm>
            <a:off x="7562625"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nvGrpSpPr>
          <p:cNvPr id="361" name="Google Shape;361;p30"/>
          <p:cNvGrpSpPr/>
          <p:nvPr/>
        </p:nvGrpSpPr>
        <p:grpSpPr>
          <a:xfrm>
            <a:off x="3302838" y="3495188"/>
            <a:ext cx="392875" cy="250200"/>
            <a:chOff x="3752275" y="1525200"/>
            <a:chExt cx="392875" cy="250200"/>
          </a:xfrm>
        </p:grpSpPr>
        <p:sp>
          <p:nvSpPr>
            <p:cNvPr id="362" name="Google Shape;362;p30"/>
            <p:cNvSpPr/>
            <p:nvPr/>
          </p:nvSpPr>
          <p:spPr>
            <a:xfrm>
              <a:off x="3752275" y="1525200"/>
              <a:ext cx="388200" cy="2502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63" name="Google Shape;363;p30"/>
            <p:cNvSpPr/>
            <p:nvPr/>
          </p:nvSpPr>
          <p:spPr>
            <a:xfrm rot="10800000" flipH="1">
              <a:off x="3755450" y="1528150"/>
              <a:ext cx="389700" cy="132300"/>
            </a:xfrm>
            <a:prstGeom prst="triangle">
              <a:avLst>
                <a:gd name="adj"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grpSp>
        <p:nvGrpSpPr>
          <p:cNvPr id="364" name="Google Shape;364;p30"/>
          <p:cNvGrpSpPr/>
          <p:nvPr/>
        </p:nvGrpSpPr>
        <p:grpSpPr>
          <a:xfrm>
            <a:off x="8782125" y="2079988"/>
            <a:ext cx="392875" cy="250200"/>
            <a:chOff x="3752275" y="1525200"/>
            <a:chExt cx="392875" cy="250200"/>
          </a:xfrm>
        </p:grpSpPr>
        <p:sp>
          <p:nvSpPr>
            <p:cNvPr id="365" name="Google Shape;365;p30"/>
            <p:cNvSpPr/>
            <p:nvPr/>
          </p:nvSpPr>
          <p:spPr>
            <a:xfrm>
              <a:off x="3752275" y="1525200"/>
              <a:ext cx="388200" cy="2502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66" name="Google Shape;366;p30"/>
            <p:cNvSpPr/>
            <p:nvPr/>
          </p:nvSpPr>
          <p:spPr>
            <a:xfrm rot="10800000" flipH="1">
              <a:off x="3755450" y="1528150"/>
              <a:ext cx="389700" cy="132300"/>
            </a:xfrm>
            <a:prstGeom prst="triangle">
              <a:avLst>
                <a:gd name="adj"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grpSp>
        <p:nvGrpSpPr>
          <p:cNvPr id="367" name="Google Shape;367;p30"/>
          <p:cNvGrpSpPr/>
          <p:nvPr/>
        </p:nvGrpSpPr>
        <p:grpSpPr>
          <a:xfrm>
            <a:off x="7905863" y="3638438"/>
            <a:ext cx="392875" cy="250200"/>
            <a:chOff x="3752275" y="1525200"/>
            <a:chExt cx="392875" cy="250200"/>
          </a:xfrm>
        </p:grpSpPr>
        <p:sp>
          <p:nvSpPr>
            <p:cNvPr id="368" name="Google Shape;368;p30"/>
            <p:cNvSpPr/>
            <p:nvPr/>
          </p:nvSpPr>
          <p:spPr>
            <a:xfrm>
              <a:off x="3752275" y="1525200"/>
              <a:ext cx="388200" cy="2502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69" name="Google Shape;369;p30"/>
            <p:cNvSpPr/>
            <p:nvPr/>
          </p:nvSpPr>
          <p:spPr>
            <a:xfrm rot="10800000" flipH="1">
              <a:off x="3755450" y="1528150"/>
              <a:ext cx="389700" cy="132300"/>
            </a:xfrm>
            <a:prstGeom prst="triangle">
              <a:avLst>
                <a:gd name="adj"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grpSp>
      <p:sp>
        <p:nvSpPr>
          <p:cNvPr id="370" name="Google Shape;370;p30"/>
          <p:cNvSpPr txBox="1"/>
          <p:nvPr/>
        </p:nvSpPr>
        <p:spPr>
          <a:xfrm>
            <a:off x="2619700" y="4336650"/>
            <a:ext cx="15204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Subscribe</a:t>
            </a:r>
            <a:endParaRPr sz="2400">
              <a:solidFill>
                <a:schemeClr val="dk1"/>
              </a:solidFill>
              <a:latin typeface="Georgia"/>
              <a:ea typeface="Georgia"/>
              <a:cs typeface="Georgia"/>
              <a:sym typeface="Georgia"/>
            </a:endParaRPr>
          </a:p>
        </p:txBody>
      </p:sp>
      <p:sp>
        <p:nvSpPr>
          <p:cNvPr id="371" name="Google Shape;371;p30"/>
          <p:cNvSpPr txBox="1"/>
          <p:nvPr/>
        </p:nvSpPr>
        <p:spPr>
          <a:xfrm>
            <a:off x="7473381" y="4336650"/>
            <a:ext cx="15204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Subscribe</a:t>
            </a:r>
            <a:endParaRPr sz="2400">
              <a:solidFill>
                <a:schemeClr val="dk1"/>
              </a:solidFill>
              <a:latin typeface="Georgia"/>
              <a:ea typeface="Georgia"/>
              <a:cs typeface="Georgia"/>
              <a:sym typeface="Georgia"/>
            </a:endParaRPr>
          </a:p>
        </p:txBody>
      </p:sp>
      <p:sp>
        <p:nvSpPr>
          <p:cNvPr id="372" name="Google Shape;372;p30"/>
          <p:cNvSpPr txBox="1"/>
          <p:nvPr/>
        </p:nvSpPr>
        <p:spPr>
          <a:xfrm>
            <a:off x="7341769" y="1901600"/>
            <a:ext cx="15204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Subscribe</a:t>
            </a:r>
            <a:endParaRPr sz="2400">
              <a:solidFill>
                <a:schemeClr val="dk1"/>
              </a:solidFill>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1"/>
          <p:cNvSpPr txBox="1">
            <a:spLocks noGrp="1"/>
          </p:cNvSpPr>
          <p:nvPr>
            <p:ph type="title"/>
          </p:nvPr>
        </p:nvSpPr>
        <p:spPr>
          <a:xfrm>
            <a:off x="259874" y="434100"/>
            <a:ext cx="5751300" cy="895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dk1"/>
              </a:buClr>
              <a:buSzPts val="3600"/>
              <a:buFont typeface="Barlow Condensed"/>
              <a:buNone/>
            </a:pPr>
            <a:r>
              <a:rPr lang="en-US" sz="2900"/>
              <a:t>Distributed Publish-Subscribe Middleware</a:t>
            </a:r>
            <a:endParaRPr sz="2900"/>
          </a:p>
        </p:txBody>
      </p:sp>
      <p:sp>
        <p:nvSpPr>
          <p:cNvPr id="378" name="Google Shape;378;p31"/>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379" name="Google Shape;379;p31"/>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8</a:t>
            </a:fld>
            <a:endParaRPr/>
          </a:p>
        </p:txBody>
      </p:sp>
      <p:sp>
        <p:nvSpPr>
          <p:cNvPr id="380" name="Google Shape;380;p31"/>
          <p:cNvSpPr/>
          <p:nvPr/>
        </p:nvSpPr>
        <p:spPr>
          <a:xfrm>
            <a:off x="4088850" y="2220275"/>
            <a:ext cx="3255900" cy="245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dirty="0">
                <a:latin typeface="Georgia"/>
                <a:ea typeface="Georgia"/>
                <a:cs typeface="Georgia"/>
                <a:sym typeface="Georgia"/>
              </a:rPr>
              <a:t>Communication Channel</a:t>
            </a:r>
          </a:p>
        </p:txBody>
      </p:sp>
      <p:sp>
        <p:nvSpPr>
          <p:cNvPr id="381" name="Google Shape;381;p31"/>
          <p:cNvSpPr/>
          <p:nvPr/>
        </p:nvSpPr>
        <p:spPr>
          <a:xfrm>
            <a:off x="867675" y="2452263"/>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82" name="Google Shape;382;p31"/>
          <p:cNvSpPr/>
          <p:nvPr/>
        </p:nvSpPr>
        <p:spPr>
          <a:xfrm>
            <a:off x="867675" y="3643738"/>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83" name="Google Shape;383;p31"/>
          <p:cNvSpPr/>
          <p:nvPr/>
        </p:nvSpPr>
        <p:spPr>
          <a:xfrm>
            <a:off x="8782125" y="2374297"/>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84" name="Google Shape;384;p31"/>
          <p:cNvSpPr/>
          <p:nvPr/>
        </p:nvSpPr>
        <p:spPr>
          <a:xfrm>
            <a:off x="8782125" y="3671500"/>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385" name="Google Shape;385;p31"/>
          <p:cNvSpPr/>
          <p:nvPr/>
        </p:nvSpPr>
        <p:spPr>
          <a:xfrm>
            <a:off x="2830450" y="26253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86" name="Google Shape;386;p31"/>
          <p:cNvSpPr/>
          <p:nvPr/>
        </p:nvSpPr>
        <p:spPr>
          <a:xfrm flipH="1">
            <a:off x="2830463"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87" name="Google Shape;387;p31"/>
          <p:cNvSpPr/>
          <p:nvPr/>
        </p:nvSpPr>
        <p:spPr>
          <a:xfrm>
            <a:off x="7621900" y="233020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88" name="Google Shape;388;p31"/>
          <p:cNvSpPr/>
          <p:nvPr/>
        </p:nvSpPr>
        <p:spPr>
          <a:xfrm flipH="1">
            <a:off x="7621888" y="27984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389" name="Google Shape;389;p31"/>
          <p:cNvSpPr/>
          <p:nvPr/>
        </p:nvSpPr>
        <p:spPr>
          <a:xfrm>
            <a:off x="7562625"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pic>
        <p:nvPicPr>
          <p:cNvPr id="390" name="Google Shape;390;p31"/>
          <p:cNvPicPr preferRelativeResize="0"/>
          <p:nvPr/>
        </p:nvPicPr>
        <p:blipFill>
          <a:blip r:embed="rId3">
            <a:alphaModFix/>
          </a:blip>
          <a:stretch>
            <a:fillRect/>
          </a:stretch>
        </p:blipFill>
        <p:spPr>
          <a:xfrm>
            <a:off x="152400" y="4831775"/>
            <a:ext cx="2702268" cy="1351134"/>
          </a:xfrm>
          <a:prstGeom prst="rect">
            <a:avLst/>
          </a:prstGeom>
          <a:noFill/>
          <a:ln>
            <a:noFill/>
          </a:ln>
        </p:spPr>
      </p:pic>
      <p:pic>
        <p:nvPicPr>
          <p:cNvPr id="391" name="Google Shape;391;p31"/>
          <p:cNvPicPr preferRelativeResize="0"/>
          <p:nvPr/>
        </p:nvPicPr>
        <p:blipFill>
          <a:blip r:embed="rId4">
            <a:alphaModFix/>
          </a:blip>
          <a:stretch>
            <a:fillRect/>
          </a:stretch>
        </p:blipFill>
        <p:spPr>
          <a:xfrm>
            <a:off x="3007068" y="4831775"/>
            <a:ext cx="2412740" cy="1351134"/>
          </a:xfrm>
          <a:prstGeom prst="rect">
            <a:avLst/>
          </a:prstGeom>
          <a:noFill/>
          <a:ln>
            <a:noFill/>
          </a:ln>
        </p:spPr>
      </p:pic>
      <p:pic>
        <p:nvPicPr>
          <p:cNvPr id="392" name="Google Shape;392;p31"/>
          <p:cNvPicPr preferRelativeResize="0"/>
          <p:nvPr/>
        </p:nvPicPr>
        <p:blipFill rotWithShape="1">
          <a:blip r:embed="rId5">
            <a:alphaModFix/>
          </a:blip>
          <a:srcRect l="23706" r="23463"/>
          <a:stretch/>
        </p:blipFill>
        <p:spPr>
          <a:xfrm>
            <a:off x="5486475" y="4897738"/>
            <a:ext cx="1987825" cy="1219200"/>
          </a:xfrm>
          <a:prstGeom prst="rect">
            <a:avLst/>
          </a:prstGeom>
          <a:noFill/>
          <a:ln>
            <a:noFill/>
          </a:ln>
        </p:spPr>
      </p:pic>
      <p:pic>
        <p:nvPicPr>
          <p:cNvPr id="393" name="Google Shape;393;p31"/>
          <p:cNvPicPr preferRelativeResize="0"/>
          <p:nvPr/>
        </p:nvPicPr>
        <p:blipFill>
          <a:blip r:embed="rId6">
            <a:alphaModFix/>
          </a:blip>
          <a:stretch>
            <a:fillRect/>
          </a:stretch>
        </p:blipFill>
        <p:spPr>
          <a:xfrm>
            <a:off x="7677125" y="5207025"/>
            <a:ext cx="2479400" cy="629600"/>
          </a:xfrm>
          <a:prstGeom prst="rect">
            <a:avLst/>
          </a:prstGeom>
          <a:noFill/>
          <a:ln>
            <a:noFill/>
          </a:ln>
        </p:spPr>
      </p:pic>
      <p:pic>
        <p:nvPicPr>
          <p:cNvPr id="394" name="Google Shape;394;p31"/>
          <p:cNvPicPr preferRelativeResize="0"/>
          <p:nvPr/>
        </p:nvPicPr>
        <p:blipFill>
          <a:blip r:embed="rId7">
            <a:alphaModFix/>
          </a:blip>
          <a:stretch>
            <a:fillRect/>
          </a:stretch>
        </p:blipFill>
        <p:spPr>
          <a:xfrm>
            <a:off x="10156525" y="5196906"/>
            <a:ext cx="1987825" cy="620869"/>
          </a:xfrm>
          <a:prstGeom prst="rect">
            <a:avLst/>
          </a:prstGeom>
          <a:noFill/>
          <a:ln>
            <a:noFill/>
          </a:ln>
        </p:spPr>
      </p:pic>
      <p:pic>
        <p:nvPicPr>
          <p:cNvPr id="395" name="Google Shape;395;p31"/>
          <p:cNvPicPr preferRelativeResize="0"/>
          <p:nvPr/>
        </p:nvPicPr>
        <p:blipFill>
          <a:blip r:embed="rId8">
            <a:alphaModFix/>
          </a:blip>
          <a:stretch>
            <a:fillRect/>
          </a:stretch>
        </p:blipFill>
        <p:spPr>
          <a:xfrm>
            <a:off x="9927948" y="636250"/>
            <a:ext cx="2097477" cy="895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2"/>
          <p:cNvSpPr txBox="1">
            <a:spLocks noGrp="1"/>
          </p:cNvSpPr>
          <p:nvPr>
            <p:ph type="title"/>
          </p:nvPr>
        </p:nvSpPr>
        <p:spPr>
          <a:xfrm>
            <a:off x="259874" y="434100"/>
            <a:ext cx="5751300" cy="89580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dk1"/>
              </a:buClr>
              <a:buSzPts val="3600"/>
              <a:buFont typeface="Barlow Condensed"/>
              <a:buNone/>
            </a:pPr>
            <a:r>
              <a:rPr lang="en-US" sz="2900"/>
              <a:t>When should you use ROS ?</a:t>
            </a:r>
            <a:endParaRPr sz="2900"/>
          </a:p>
        </p:txBody>
      </p:sp>
      <p:sp>
        <p:nvSpPr>
          <p:cNvPr id="401" name="Google Shape;401;p32"/>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02" name="Google Shape;402;p32"/>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9</a:t>
            </a:fld>
            <a:endParaRPr/>
          </a:p>
        </p:txBody>
      </p:sp>
      <p:sp>
        <p:nvSpPr>
          <p:cNvPr id="403" name="Google Shape;403;p32"/>
          <p:cNvSpPr/>
          <p:nvPr/>
        </p:nvSpPr>
        <p:spPr>
          <a:xfrm>
            <a:off x="4088850" y="2220275"/>
            <a:ext cx="3255900" cy="2459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dirty="0">
                <a:latin typeface="Georgia"/>
                <a:ea typeface="Georgia"/>
                <a:cs typeface="Georgia"/>
                <a:sym typeface="Georgia"/>
              </a:rPr>
              <a:t>Communication Channel</a:t>
            </a:r>
          </a:p>
        </p:txBody>
      </p:sp>
      <p:sp>
        <p:nvSpPr>
          <p:cNvPr id="404" name="Google Shape;404;p32"/>
          <p:cNvSpPr/>
          <p:nvPr/>
        </p:nvSpPr>
        <p:spPr>
          <a:xfrm>
            <a:off x="867675" y="2452263"/>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405" name="Google Shape;405;p32"/>
          <p:cNvSpPr/>
          <p:nvPr/>
        </p:nvSpPr>
        <p:spPr>
          <a:xfrm>
            <a:off x="867675" y="3643738"/>
            <a:ext cx="1783800" cy="76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Georgia"/>
                <a:ea typeface="Georgia"/>
                <a:cs typeface="Georgia"/>
                <a:sym typeface="Georgia"/>
              </a:rPr>
              <a:t>Node</a:t>
            </a:r>
            <a:endParaRPr sz="2000">
              <a:latin typeface="Georgia"/>
              <a:ea typeface="Georgia"/>
              <a:cs typeface="Georgia"/>
              <a:sym typeface="Georgia"/>
            </a:endParaRPr>
          </a:p>
        </p:txBody>
      </p:sp>
      <p:sp>
        <p:nvSpPr>
          <p:cNvPr id="406" name="Google Shape;406;p32"/>
          <p:cNvSpPr/>
          <p:nvPr/>
        </p:nvSpPr>
        <p:spPr>
          <a:xfrm>
            <a:off x="2830450" y="2625375"/>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407" name="Google Shape;407;p32"/>
          <p:cNvSpPr/>
          <p:nvPr/>
        </p:nvSpPr>
        <p:spPr>
          <a:xfrm flipH="1">
            <a:off x="2830463" y="3816850"/>
            <a:ext cx="1079400" cy="415800"/>
          </a:xfrm>
          <a:prstGeom prst="rightArrow">
            <a:avLst>
              <a:gd name="adj1" fmla="val 27165"/>
              <a:gd name="adj2" fmla="val 6565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pic>
        <p:nvPicPr>
          <p:cNvPr id="408" name="Google Shape;408;p32"/>
          <p:cNvPicPr preferRelativeResize="0"/>
          <p:nvPr/>
        </p:nvPicPr>
        <p:blipFill>
          <a:blip r:embed="rId3">
            <a:alphaModFix/>
          </a:blip>
          <a:stretch>
            <a:fillRect/>
          </a:stretch>
        </p:blipFill>
        <p:spPr>
          <a:xfrm>
            <a:off x="8657948" y="650050"/>
            <a:ext cx="2097477" cy="895800"/>
          </a:xfrm>
          <a:prstGeom prst="rect">
            <a:avLst/>
          </a:prstGeom>
          <a:noFill/>
          <a:ln>
            <a:noFill/>
          </a:ln>
        </p:spPr>
      </p:pic>
      <p:pic>
        <p:nvPicPr>
          <p:cNvPr id="409" name="Google Shape;409;p32"/>
          <p:cNvPicPr preferRelativeResize="0"/>
          <p:nvPr/>
        </p:nvPicPr>
        <p:blipFill rotWithShape="1">
          <a:blip r:embed="rId4">
            <a:alphaModFix/>
          </a:blip>
          <a:srcRect/>
          <a:stretch/>
        </p:blipFill>
        <p:spPr>
          <a:xfrm>
            <a:off x="8561296" y="1644015"/>
            <a:ext cx="2424194" cy="4177866"/>
          </a:xfrm>
          <a:prstGeom prst="rect">
            <a:avLst/>
          </a:prstGeom>
          <a:noFill/>
          <a:ln>
            <a:noFill/>
          </a:ln>
        </p:spPr>
      </p:pic>
      <p:sp>
        <p:nvSpPr>
          <p:cNvPr id="410" name="Google Shape;410;p32"/>
          <p:cNvSpPr txBox="1"/>
          <p:nvPr/>
        </p:nvSpPr>
        <p:spPr>
          <a:xfrm>
            <a:off x="759250" y="5161000"/>
            <a:ext cx="78021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a:solidFill>
                  <a:schemeClr val="dk1"/>
                </a:solidFill>
              </a:rPr>
              <a:t>Use </a:t>
            </a:r>
            <a:r>
              <a:rPr lang="en-US" sz="1500" b="1">
                <a:solidFill>
                  <a:schemeClr val="dk1"/>
                </a:solidFill>
              </a:rPr>
              <a:t>ROS</a:t>
            </a:r>
            <a:r>
              <a:rPr lang="en-US" sz="1500">
                <a:solidFill>
                  <a:schemeClr val="dk1"/>
                </a:solidFill>
              </a:rPr>
              <a:t> when building distributed robotic systems where sensors, actuators, and algorithms must exchange </a:t>
            </a:r>
            <a:r>
              <a:rPr lang="en-US" sz="1500" b="1">
                <a:solidFill>
                  <a:schemeClr val="dk1"/>
                </a:solidFill>
              </a:rPr>
              <a:t>spatially referenced data</a:t>
            </a:r>
            <a:r>
              <a:rPr lang="en-US" sz="1500">
                <a:solidFill>
                  <a:schemeClr val="dk1"/>
                </a:solidFill>
              </a:rPr>
              <a:t> and maintain consistent </a:t>
            </a:r>
            <a:r>
              <a:rPr lang="en-US" sz="1500" b="1">
                <a:solidFill>
                  <a:schemeClr val="dk1"/>
                </a:solidFill>
              </a:rPr>
              <a:t>coordinate-frame transformations</a:t>
            </a:r>
            <a:r>
              <a:rPr lang="en-US" sz="1500">
                <a:solidFill>
                  <a:schemeClr val="dk1"/>
                </a:solidFill>
              </a:rPr>
              <a:t> (e.g., perception, localization, kinematics). </a:t>
            </a:r>
            <a:endParaRPr sz="1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3"/>
          <p:cNvSpPr txBox="1">
            <a:spLocks noGrp="1"/>
          </p:cNvSpPr>
          <p:nvPr>
            <p:ph type="ctrTitle"/>
          </p:nvPr>
        </p:nvSpPr>
        <p:spPr>
          <a:xfrm>
            <a:off x="0" y="3124200"/>
            <a:ext cx="12192000" cy="791100"/>
          </a:xfrm>
          <a:prstGeom prst="rect">
            <a:avLst/>
          </a:prstGeom>
          <a:solidFill>
            <a:schemeClr val="lt2"/>
          </a:solidFill>
          <a:ln>
            <a:noFill/>
          </a:ln>
        </p:spPr>
        <p:txBody>
          <a:bodyPr spcFirstLastPara="1" wrap="square" lIns="0" tIns="45700" rIns="91425" bIns="45700" anchor="b" anchorCtr="0">
            <a:normAutofit/>
          </a:bodyPr>
          <a:lstStyle/>
          <a:p>
            <a:pPr marL="0" lvl="0" indent="0" algn="ctr" rtl="0">
              <a:lnSpc>
                <a:spcPct val="85000"/>
              </a:lnSpc>
              <a:spcBef>
                <a:spcPts val="0"/>
              </a:spcBef>
              <a:spcAft>
                <a:spcPts val="0"/>
              </a:spcAft>
              <a:buClr>
                <a:schemeClr val="dk1"/>
              </a:buClr>
              <a:buSzPts val="4000"/>
              <a:buFont typeface="Arial"/>
              <a:buNone/>
            </a:pPr>
            <a:r>
              <a:rPr lang="en-US" sz="4000">
                <a:latin typeface="Arial"/>
                <a:ea typeface="Arial"/>
                <a:cs typeface="Arial"/>
                <a:sym typeface="Arial"/>
              </a:rPr>
              <a:t>Robot Operating System (ROS)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4"/>
          <p:cNvSpPr txBox="1">
            <a:spLocks noGrp="1"/>
          </p:cNvSpPr>
          <p:nvPr>
            <p:ph type="body" idx="1"/>
          </p:nvPr>
        </p:nvSpPr>
        <p:spPr>
          <a:xfrm>
            <a:off x="333076" y="1605325"/>
            <a:ext cx="5080200" cy="3838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600"/>
              </a:spcBef>
              <a:spcAft>
                <a:spcPts val="0"/>
              </a:spcAft>
              <a:buNone/>
            </a:pPr>
            <a:r>
              <a:rPr lang="en-US" sz="1800"/>
              <a:t>Robot Operating System (ROS) was often mistaken as an operating system due to its misleading name. </a:t>
            </a:r>
            <a:endParaRPr sz="1800"/>
          </a:p>
          <a:p>
            <a:pPr marL="0" lvl="0" indent="0" algn="l" rtl="0">
              <a:lnSpc>
                <a:spcPct val="100000"/>
              </a:lnSpc>
              <a:spcBef>
                <a:spcPts val="1600"/>
              </a:spcBef>
              <a:spcAft>
                <a:spcPts val="0"/>
              </a:spcAft>
              <a:buNone/>
            </a:pPr>
            <a:r>
              <a:rPr lang="en-US" sz="1800"/>
              <a:t>ROS is a software framework for developing systems that consists of a cluster of computers. </a:t>
            </a:r>
            <a:endParaRPr sz="1800"/>
          </a:p>
          <a:p>
            <a:pPr marL="0" lvl="0" indent="0" algn="l" rtl="0">
              <a:lnSpc>
                <a:spcPct val="100000"/>
              </a:lnSpc>
              <a:spcBef>
                <a:spcPts val="1600"/>
              </a:spcBef>
              <a:spcAft>
                <a:spcPts val="0"/>
              </a:spcAft>
              <a:buNone/>
            </a:pPr>
            <a:r>
              <a:rPr lang="en-US" sz="1800"/>
              <a:t>It is often used with a robotics hardware that have operating systems.</a:t>
            </a:r>
            <a:endParaRPr sz="1800"/>
          </a:p>
        </p:txBody>
      </p:sp>
      <p:sp>
        <p:nvSpPr>
          <p:cNvPr id="421" name="Google Shape;421;p34"/>
          <p:cNvSpPr txBox="1">
            <a:spLocks noGrp="1"/>
          </p:cNvSpPr>
          <p:nvPr>
            <p:ph type="title"/>
          </p:nvPr>
        </p:nvSpPr>
        <p:spPr>
          <a:xfrm>
            <a:off x="259880" y="434100"/>
            <a:ext cx="47805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What is/isn’t ROS ?</a:t>
            </a:r>
            <a:endParaRPr/>
          </a:p>
        </p:txBody>
      </p:sp>
      <p:sp>
        <p:nvSpPr>
          <p:cNvPr id="422" name="Google Shape;422;p34"/>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23" name="Google Shape;423;p34"/>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11</a:t>
            </a:fld>
            <a:endParaRPr/>
          </a:p>
        </p:txBody>
      </p:sp>
      <p:pic>
        <p:nvPicPr>
          <p:cNvPr id="424" name="Google Shape;424;p34"/>
          <p:cNvPicPr preferRelativeResize="0"/>
          <p:nvPr/>
        </p:nvPicPr>
        <p:blipFill>
          <a:blip r:embed="rId3">
            <a:alphaModFix/>
          </a:blip>
          <a:stretch>
            <a:fillRect/>
          </a:stretch>
        </p:blipFill>
        <p:spPr>
          <a:xfrm>
            <a:off x="6404925" y="971736"/>
            <a:ext cx="4780500" cy="4667064"/>
          </a:xfrm>
          <a:prstGeom prst="rect">
            <a:avLst/>
          </a:prstGeom>
          <a:noFill/>
          <a:ln>
            <a:noFill/>
          </a:ln>
        </p:spPr>
      </p:pic>
      <p:pic>
        <p:nvPicPr>
          <p:cNvPr id="425" name="Google Shape;425;p34"/>
          <p:cNvPicPr preferRelativeResize="0"/>
          <p:nvPr/>
        </p:nvPicPr>
        <p:blipFill>
          <a:blip r:embed="rId4">
            <a:alphaModFix/>
          </a:blip>
          <a:stretch>
            <a:fillRect/>
          </a:stretch>
        </p:blipFill>
        <p:spPr>
          <a:xfrm>
            <a:off x="957700" y="3949275"/>
            <a:ext cx="4528774" cy="19341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5"/>
          <p:cNvSpPr txBox="1">
            <a:spLocks noGrp="1"/>
          </p:cNvSpPr>
          <p:nvPr>
            <p:ph type="title"/>
          </p:nvPr>
        </p:nvSpPr>
        <p:spPr>
          <a:xfrm>
            <a:off x="259880" y="434100"/>
            <a:ext cx="47805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What does ROS do ?</a:t>
            </a:r>
            <a:endParaRPr/>
          </a:p>
        </p:txBody>
      </p:sp>
      <p:sp>
        <p:nvSpPr>
          <p:cNvPr id="431" name="Google Shape;431;p35"/>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32" name="Google Shape;432;p35"/>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12</a:t>
            </a:fld>
            <a:endParaRPr/>
          </a:p>
        </p:txBody>
      </p:sp>
      <p:sp>
        <p:nvSpPr>
          <p:cNvPr id="433" name="Google Shape;433;p35"/>
          <p:cNvSpPr/>
          <p:nvPr/>
        </p:nvSpPr>
        <p:spPr>
          <a:xfrm>
            <a:off x="1093325" y="2850150"/>
            <a:ext cx="3408300" cy="1157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latin typeface="Georgia"/>
                <a:ea typeface="Georgia"/>
                <a:cs typeface="Georgia"/>
                <a:sym typeface="Georgia"/>
              </a:rPr>
              <a:t>Tools, Standards, Conventions (REP)</a:t>
            </a:r>
            <a:endParaRPr sz="2400">
              <a:latin typeface="Georgia"/>
              <a:ea typeface="Georgia"/>
              <a:cs typeface="Georgia"/>
              <a:sym typeface="Georgia"/>
            </a:endParaRPr>
          </a:p>
        </p:txBody>
      </p:sp>
      <p:sp>
        <p:nvSpPr>
          <p:cNvPr id="434" name="Google Shape;434;p35"/>
          <p:cNvSpPr/>
          <p:nvPr/>
        </p:nvSpPr>
        <p:spPr>
          <a:xfrm>
            <a:off x="6394750" y="2850150"/>
            <a:ext cx="3408300" cy="1157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latin typeface="Georgia"/>
                <a:ea typeface="Georgia"/>
                <a:cs typeface="Georgia"/>
                <a:sym typeface="Georgia"/>
              </a:rPr>
              <a:t>Resource Sharing Platform</a:t>
            </a:r>
            <a:endParaRPr sz="2400">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6"/>
          <p:cNvSpPr txBox="1">
            <a:spLocks noGrp="1"/>
          </p:cNvSpPr>
          <p:nvPr>
            <p:ph type="title"/>
          </p:nvPr>
        </p:nvSpPr>
        <p:spPr>
          <a:xfrm>
            <a:off x="259872" y="434100"/>
            <a:ext cx="7623900" cy="895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5000"/>
              </a:lnSpc>
              <a:spcBef>
                <a:spcPts val="0"/>
              </a:spcBef>
              <a:spcAft>
                <a:spcPts val="0"/>
              </a:spcAft>
              <a:buClr>
                <a:schemeClr val="dk1"/>
              </a:buClr>
              <a:buSzPct val="100000"/>
              <a:buFont typeface="Barlow Condensed"/>
              <a:buNone/>
            </a:pPr>
            <a:r>
              <a:rPr lang="en-US"/>
              <a:t>Supported Programming Language for ROS</a:t>
            </a:r>
            <a:endParaRPr/>
          </a:p>
        </p:txBody>
      </p:sp>
      <p:sp>
        <p:nvSpPr>
          <p:cNvPr id="440" name="Google Shape;440;p36"/>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41" name="Google Shape;441;p36"/>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13</a:t>
            </a:fld>
            <a:endParaRPr/>
          </a:p>
        </p:txBody>
      </p:sp>
      <p:pic>
        <p:nvPicPr>
          <p:cNvPr id="442" name="Google Shape;442;p36"/>
          <p:cNvPicPr preferRelativeResize="0"/>
          <p:nvPr/>
        </p:nvPicPr>
        <p:blipFill>
          <a:blip r:embed="rId3">
            <a:alphaModFix/>
          </a:blip>
          <a:stretch>
            <a:fillRect/>
          </a:stretch>
        </p:blipFill>
        <p:spPr>
          <a:xfrm>
            <a:off x="430275" y="1601875"/>
            <a:ext cx="10672826" cy="40054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7"/>
          <p:cNvSpPr txBox="1">
            <a:spLocks noGrp="1"/>
          </p:cNvSpPr>
          <p:nvPr>
            <p:ph type="title"/>
          </p:nvPr>
        </p:nvSpPr>
        <p:spPr>
          <a:xfrm>
            <a:off x="259876" y="434100"/>
            <a:ext cx="109920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Common type of information used in robotics</a:t>
            </a:r>
            <a:endParaRPr/>
          </a:p>
        </p:txBody>
      </p:sp>
      <p:sp>
        <p:nvSpPr>
          <p:cNvPr id="448" name="Google Shape;448;p37"/>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49" name="Google Shape;449;p37"/>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14</a:t>
            </a:fld>
            <a:endParaRPr/>
          </a:p>
        </p:txBody>
      </p:sp>
      <p:pic>
        <p:nvPicPr>
          <p:cNvPr id="450" name="Google Shape;450;p37"/>
          <p:cNvPicPr preferRelativeResize="0"/>
          <p:nvPr/>
        </p:nvPicPr>
        <p:blipFill>
          <a:blip r:embed="rId3">
            <a:alphaModFix/>
          </a:blip>
          <a:stretch>
            <a:fillRect/>
          </a:stretch>
        </p:blipFill>
        <p:spPr>
          <a:xfrm>
            <a:off x="1368113" y="1440887"/>
            <a:ext cx="3010125" cy="4472175"/>
          </a:xfrm>
          <a:prstGeom prst="rect">
            <a:avLst/>
          </a:prstGeom>
          <a:noFill/>
          <a:ln>
            <a:noFill/>
          </a:ln>
        </p:spPr>
      </p:pic>
      <p:pic>
        <p:nvPicPr>
          <p:cNvPr id="451" name="Google Shape;451;p37"/>
          <p:cNvPicPr preferRelativeResize="0"/>
          <p:nvPr/>
        </p:nvPicPr>
        <p:blipFill>
          <a:blip r:embed="rId4">
            <a:alphaModFix/>
          </a:blip>
          <a:stretch>
            <a:fillRect/>
          </a:stretch>
        </p:blipFill>
        <p:spPr>
          <a:xfrm>
            <a:off x="6714550" y="1732601"/>
            <a:ext cx="3404850" cy="377110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8"/>
          <p:cNvSpPr txBox="1">
            <a:spLocks noGrp="1"/>
          </p:cNvSpPr>
          <p:nvPr>
            <p:ph type="title"/>
          </p:nvPr>
        </p:nvSpPr>
        <p:spPr>
          <a:xfrm>
            <a:off x="259876" y="434100"/>
            <a:ext cx="109920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Packages for/by the ROS Community</a:t>
            </a:r>
            <a:endParaRPr/>
          </a:p>
        </p:txBody>
      </p:sp>
      <p:sp>
        <p:nvSpPr>
          <p:cNvPr id="457" name="Google Shape;457;p38"/>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58" name="Google Shape;458;p38"/>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15</a:t>
            </a:fld>
            <a:endParaRPr/>
          </a:p>
        </p:txBody>
      </p:sp>
      <p:pic>
        <p:nvPicPr>
          <p:cNvPr id="459" name="Google Shape;459;p38"/>
          <p:cNvPicPr preferRelativeResize="0"/>
          <p:nvPr/>
        </p:nvPicPr>
        <p:blipFill>
          <a:blip r:embed="rId3">
            <a:alphaModFix/>
          </a:blip>
          <a:stretch>
            <a:fillRect/>
          </a:stretch>
        </p:blipFill>
        <p:spPr>
          <a:xfrm>
            <a:off x="1489354" y="2130025"/>
            <a:ext cx="8757851" cy="3405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dirty="0" smtClean="0"/>
              <a:t>16</a:t>
            </a:fld>
            <a:endParaRPr lang="en-US"/>
          </a:p>
        </p:txBody>
      </p:sp>
      <p:sp>
        <p:nvSpPr>
          <p:cNvPr id="11" name="Title 1">
            <a:extLst>
              <a:ext uri="{FF2B5EF4-FFF2-40B4-BE49-F238E27FC236}">
                <a16:creationId xmlns:a16="http://schemas.microsoft.com/office/drawing/2014/main" id="{8B1A2FCE-239E-41AD-BF19-9EDB25D87EFD}"/>
              </a:ext>
            </a:extLst>
          </p:cNvPr>
          <p:cNvSpPr>
            <a:spLocks noGrp="1"/>
          </p:cNvSpPr>
          <p:nvPr>
            <p:ph type="title"/>
          </p:nvPr>
        </p:nvSpPr>
        <p:spPr>
          <a:xfrm>
            <a:off x="1097280" y="286603"/>
            <a:ext cx="10058400" cy="1450757"/>
          </a:xfrm>
        </p:spPr>
        <p:txBody>
          <a:bodyPr>
            <a:normAutofit/>
          </a:bodyPr>
          <a:lstStyle/>
          <a:p>
            <a:r>
              <a:rPr lang="th-TH" sz="4000" err="1">
                <a:cs typeface="Angsana New"/>
              </a:rPr>
              <a:t>Physical</a:t>
            </a:r>
            <a:r>
              <a:rPr lang="th-TH" sz="4000">
                <a:cs typeface="Angsana New"/>
              </a:rPr>
              <a:t> System </a:t>
            </a:r>
            <a:r>
              <a:rPr lang="th-TH" sz="4000" err="1">
                <a:cs typeface="Angsana New"/>
              </a:rPr>
              <a:t>vs</a:t>
            </a:r>
            <a:r>
              <a:rPr lang="th-TH" sz="4000">
                <a:cs typeface="Angsana New"/>
              </a:rPr>
              <a:t> </a:t>
            </a:r>
            <a:r>
              <a:rPr lang="th-TH" sz="4000" err="1">
                <a:cs typeface="Angsana New"/>
              </a:rPr>
              <a:t>Simulation</a:t>
            </a:r>
            <a:endParaRPr lang="en-US" err="1"/>
          </a:p>
        </p:txBody>
      </p:sp>
      <p:sp>
        <p:nvSpPr>
          <p:cNvPr id="17" name="Rectangle: Rounded Corners 16">
            <a:extLst>
              <a:ext uri="{FF2B5EF4-FFF2-40B4-BE49-F238E27FC236}">
                <a16:creationId xmlns:a16="http://schemas.microsoft.com/office/drawing/2014/main" id="{1081679B-0B65-4A6B-86C9-1BBD0EBACCFB}"/>
              </a:ext>
            </a:extLst>
          </p:cNvPr>
          <p:cNvSpPr/>
          <p:nvPr/>
        </p:nvSpPr>
        <p:spPr>
          <a:xfrm>
            <a:off x="2021771" y="3319906"/>
            <a:ext cx="3290855" cy="1237293"/>
          </a:xfrm>
          <a:prstGeom prst="roundRect">
            <a:avLst/>
          </a:prstGeom>
          <a:solidFill>
            <a:schemeClr val="accent1">
              <a:lumMod val="20000"/>
              <a:lumOff val="80000"/>
            </a:schemeClr>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solidFill>
                  <a:schemeClr val="tx1"/>
                </a:solidFill>
                <a:cs typeface="Calibri"/>
              </a:rPr>
              <a:t>Algorithm</a:t>
            </a:r>
            <a:r>
              <a:rPr lang="en-US" sz="2800">
                <a:solidFill>
                  <a:schemeClr val="tx1"/>
                </a:solidFill>
              </a:rPr>
              <a:t> = ????</a:t>
            </a:r>
          </a:p>
        </p:txBody>
      </p:sp>
      <p:cxnSp>
        <p:nvCxnSpPr>
          <p:cNvPr id="18" name="Connector: Elbow 17">
            <a:extLst>
              <a:ext uri="{FF2B5EF4-FFF2-40B4-BE49-F238E27FC236}">
                <a16:creationId xmlns:a16="http://schemas.microsoft.com/office/drawing/2014/main" id="{874FBF18-9E12-40CB-B6E4-CCAAED3D54DE}"/>
              </a:ext>
            </a:extLst>
          </p:cNvPr>
          <p:cNvCxnSpPr>
            <a:cxnSpLocks/>
            <a:stCxn id="14342" idx="2"/>
            <a:endCxn id="17" idx="2"/>
          </p:cNvCxnSpPr>
          <p:nvPr/>
        </p:nvCxnSpPr>
        <p:spPr>
          <a:xfrm rot="5400000" flipH="1">
            <a:off x="6060968" y="2163430"/>
            <a:ext cx="592684" cy="5380222"/>
          </a:xfrm>
          <a:prstGeom prst="bentConnector3">
            <a:avLst>
              <a:gd name="adj1" fmla="val -3857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a:stCxn id="17" idx="0"/>
            <a:endCxn id="14342" idx="0"/>
          </p:cNvCxnSpPr>
          <p:nvPr/>
        </p:nvCxnSpPr>
        <p:spPr>
          <a:xfrm rot="5400000" flipH="1" flipV="1">
            <a:off x="6319799" y="592284"/>
            <a:ext cx="75023" cy="5380222"/>
          </a:xfrm>
          <a:prstGeom prst="bentConnector3">
            <a:avLst>
              <a:gd name="adj1" fmla="val 971602"/>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4342" name="Picture 6" descr="Turtlebot 2 – Dabit Industries">
            <a:extLst>
              <a:ext uri="{FF2B5EF4-FFF2-40B4-BE49-F238E27FC236}">
                <a16:creationId xmlns:a16="http://schemas.microsoft.com/office/drawing/2014/main" id="{9AD8B6EE-699E-4CB5-9D9E-0884B1438D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4921" y="3244883"/>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C255109-4FBF-8B83-D83A-BCB6E6EEF82C}"/>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pic>
        <p:nvPicPr>
          <p:cNvPr id="5" name="Google Shape;67;p15">
            <a:extLst>
              <a:ext uri="{FF2B5EF4-FFF2-40B4-BE49-F238E27FC236}">
                <a16:creationId xmlns:a16="http://schemas.microsoft.com/office/drawing/2014/main" id="{F43B3ED4-9152-1673-0AA7-132055FAF84A}"/>
              </a:ext>
            </a:extLst>
          </p:cNvPr>
          <p:cNvPicPr preferRelativeResize="0"/>
          <p:nvPr/>
        </p:nvPicPr>
        <p:blipFill rotWithShape="1">
          <a:blip r:embed="rId4">
            <a:alphaModFix/>
          </a:blip>
          <a:srcRect r="9974"/>
          <a:stretch/>
        </p:blipFill>
        <p:spPr>
          <a:xfrm>
            <a:off x="11151038" y="40772"/>
            <a:ext cx="1653550" cy="232750"/>
          </a:xfrm>
          <a:prstGeom prst="rect">
            <a:avLst/>
          </a:prstGeom>
          <a:noFill/>
          <a:ln>
            <a:noFill/>
          </a:ln>
        </p:spPr>
      </p:pic>
      <p:sp>
        <p:nvSpPr>
          <p:cNvPr id="6" name="TextBox 2">
            <a:extLst>
              <a:ext uri="{FF2B5EF4-FFF2-40B4-BE49-F238E27FC236}">
                <a16:creationId xmlns:a16="http://schemas.microsoft.com/office/drawing/2014/main" id="{81C81CEC-E33A-DB50-F9A7-41ACDC43858B}"/>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04297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dirty="0" smtClean="0"/>
              <a:t>17</a:t>
            </a:fld>
            <a:endParaRPr lang="en-US"/>
          </a:p>
        </p:txBody>
      </p:sp>
      <p:cxnSp>
        <p:nvCxnSpPr>
          <p:cNvPr id="18" name="Connector: Elbow 17">
            <a:extLst>
              <a:ext uri="{FF2B5EF4-FFF2-40B4-BE49-F238E27FC236}">
                <a16:creationId xmlns:a16="http://schemas.microsoft.com/office/drawing/2014/main" id="{874FBF18-9E12-40CB-B6E4-CCAAED3D54DE}"/>
              </a:ext>
            </a:extLst>
          </p:cNvPr>
          <p:cNvCxnSpPr>
            <a:cxnSpLocks/>
          </p:cNvCxnSpPr>
          <p:nvPr/>
        </p:nvCxnSpPr>
        <p:spPr>
          <a:xfrm rot="5400000">
            <a:off x="6089650" y="440032"/>
            <a:ext cx="6350" cy="8104816"/>
          </a:xfrm>
          <a:prstGeom prst="bentConnector3">
            <a:avLst>
              <a:gd name="adj1" fmla="val 13411638"/>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p:cNvCxnSpPr>
          <p:nvPr/>
        </p:nvCxnSpPr>
        <p:spPr>
          <a:xfrm rot="5400000" flipH="1" flipV="1">
            <a:off x="6089650" y="-797261"/>
            <a:ext cx="6350" cy="8104816"/>
          </a:xfrm>
          <a:prstGeom prst="bentConnector3">
            <a:avLst>
              <a:gd name="adj1" fmla="val 117372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900E25-EC8A-4B1E-BE50-026134321814}"/>
              </a:ext>
            </a:extLst>
          </p:cNvPr>
          <p:cNvCxnSpPr>
            <a:cxnSpLocks/>
            <a:stCxn id="25" idx="3"/>
            <a:endCxn id="19458" idx="1"/>
          </p:cNvCxnSpPr>
          <p:nvPr/>
        </p:nvCxnSpPr>
        <p:spPr>
          <a:xfrm>
            <a:off x="7148733" y="3870617"/>
            <a:ext cx="1741672" cy="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B431786-05E0-4F77-9CAE-3143EAC01E20}"/>
              </a:ext>
            </a:extLst>
          </p:cNvPr>
          <p:cNvSpPr txBox="1"/>
          <p:nvPr/>
        </p:nvSpPr>
        <p:spPr>
          <a:xfrm>
            <a:off x="7356844" y="3296422"/>
            <a:ext cx="1166037" cy="523220"/>
          </a:xfrm>
          <a:prstGeom prst="rect">
            <a:avLst/>
          </a:prstGeom>
          <a:noFill/>
        </p:spPr>
        <p:txBody>
          <a:bodyPr wrap="square" lIns="91440" tIns="45720" rIns="91440" bIns="45720" rtlCol="0" anchor="t">
            <a:spAutoFit/>
          </a:bodyPr>
          <a:lstStyle/>
          <a:p>
            <a:r>
              <a:rPr lang="th-TH" sz="2800" err="1">
                <a:cs typeface="Cordia New"/>
              </a:rPr>
              <a:t>model</a:t>
            </a:r>
            <a:endParaRPr lang="en-US" sz="2800" err="1"/>
          </a:p>
        </p:txBody>
      </p:sp>
      <p:sp>
        <p:nvSpPr>
          <p:cNvPr id="23" name="TextBox 22">
            <a:extLst>
              <a:ext uri="{FF2B5EF4-FFF2-40B4-BE49-F238E27FC236}">
                <a16:creationId xmlns:a16="http://schemas.microsoft.com/office/drawing/2014/main" id="{CEBDE7E4-A3DF-4FAB-8A68-8244A0142209}"/>
              </a:ext>
            </a:extLst>
          </p:cNvPr>
          <p:cNvSpPr txBox="1"/>
          <p:nvPr/>
        </p:nvSpPr>
        <p:spPr>
          <a:xfrm>
            <a:off x="130725" y="2662347"/>
            <a:ext cx="4385233" cy="523220"/>
          </a:xfrm>
          <a:prstGeom prst="rect">
            <a:avLst/>
          </a:prstGeom>
          <a:noFill/>
        </p:spPr>
        <p:txBody>
          <a:bodyPr wrap="square" lIns="91440" tIns="45720" rIns="91440" bIns="45720" rtlCol="0" anchor="t">
            <a:spAutoFit/>
          </a:bodyPr>
          <a:lstStyle/>
          <a:p>
            <a:r>
              <a:rPr lang="th-TH" sz="2800" err="1">
                <a:cs typeface="Cordia New"/>
              </a:rPr>
              <a:t>Simulation</a:t>
            </a:r>
            <a:r>
              <a:rPr lang="th-TH" sz="2800">
                <a:cs typeface="Cordia New"/>
              </a:rPr>
              <a:t>-</a:t>
            </a:r>
            <a:r>
              <a:rPr lang="th-TH" sz="2800" err="1">
                <a:cs typeface="Cordia New"/>
              </a:rPr>
              <a:t>in</a:t>
            </a:r>
            <a:r>
              <a:rPr lang="th-TH" sz="2800">
                <a:cs typeface="Cordia New"/>
              </a:rPr>
              <a:t>-</a:t>
            </a:r>
            <a:r>
              <a:rPr lang="th-TH" sz="2800" err="1">
                <a:cs typeface="Cordia New"/>
              </a:rPr>
              <a:t>the</a:t>
            </a:r>
            <a:r>
              <a:rPr lang="th-TH" sz="2800">
                <a:cs typeface="Cordia New"/>
              </a:rPr>
              <a:t>-</a:t>
            </a:r>
            <a:r>
              <a:rPr lang="th-TH" sz="2800" err="1">
                <a:cs typeface="Cordia New"/>
              </a:rPr>
              <a:t>loop</a:t>
            </a:r>
            <a:r>
              <a:rPr lang="th-TH" sz="2800">
                <a:cs typeface="Cordia New"/>
              </a:rPr>
              <a:t> </a:t>
            </a:r>
            <a:r>
              <a:rPr lang="th-TH" sz="2800" err="1">
                <a:cs typeface="Cordia New"/>
              </a:rPr>
              <a:t>Test</a:t>
            </a:r>
          </a:p>
        </p:txBody>
      </p:sp>
      <p:pic>
        <p:nvPicPr>
          <p:cNvPr id="19458" name="Picture 2" descr="Turtlebot model in gazebo | Download Scientific Diagram">
            <a:extLst>
              <a:ext uri="{FF2B5EF4-FFF2-40B4-BE49-F238E27FC236}">
                <a16:creationId xmlns:a16="http://schemas.microsoft.com/office/drawing/2014/main" id="{A316E4D1-5329-4AD3-9D41-BFCCE10B8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405" y="3210870"/>
            <a:ext cx="2356241" cy="13194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urtlebot 2 – Dabit Industries">
            <a:extLst>
              <a:ext uri="{FF2B5EF4-FFF2-40B4-BE49-F238E27FC236}">
                <a16:creationId xmlns:a16="http://schemas.microsoft.com/office/drawing/2014/main" id="{12657E47-F324-4AEF-A935-EFB1B71A41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3733" y="2918117"/>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8ABEE4E1-4C3A-FB52-A662-930ECF19D5B0}"/>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th-TH" sz="4000" err="1">
                <a:cs typeface="Angsana New"/>
              </a:rPr>
              <a:t>Physical</a:t>
            </a:r>
            <a:r>
              <a:rPr lang="th-TH" sz="4000">
                <a:cs typeface="Angsana New"/>
              </a:rPr>
              <a:t> System </a:t>
            </a:r>
            <a:r>
              <a:rPr lang="th-TH" sz="4000" err="1">
                <a:cs typeface="Angsana New"/>
              </a:rPr>
              <a:t>vs</a:t>
            </a:r>
            <a:r>
              <a:rPr lang="th-TH" sz="4000">
                <a:cs typeface="Angsana New"/>
              </a:rPr>
              <a:t> </a:t>
            </a:r>
            <a:r>
              <a:rPr lang="th-TH" sz="4000" err="1">
                <a:cs typeface="Angsana New"/>
              </a:rPr>
              <a:t>Simulation</a:t>
            </a:r>
            <a:endParaRPr lang="en-US" err="1"/>
          </a:p>
        </p:txBody>
      </p:sp>
      <p:sp>
        <p:nvSpPr>
          <p:cNvPr id="5" name="Rectangle: Rounded Corners 4">
            <a:extLst>
              <a:ext uri="{FF2B5EF4-FFF2-40B4-BE49-F238E27FC236}">
                <a16:creationId xmlns:a16="http://schemas.microsoft.com/office/drawing/2014/main" id="{0BA47AB5-FD42-3249-64FC-AE4F5C5F2E4E}"/>
              </a:ext>
            </a:extLst>
          </p:cNvPr>
          <p:cNvSpPr/>
          <p:nvPr/>
        </p:nvSpPr>
        <p:spPr>
          <a:xfrm>
            <a:off x="442614" y="3258322"/>
            <a:ext cx="3290855" cy="1237293"/>
          </a:xfrm>
          <a:prstGeom prst="roundRect">
            <a:avLst/>
          </a:prstGeom>
          <a:solidFill>
            <a:schemeClr val="accent1"/>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th-TH" sz="2800" err="1">
                <a:solidFill>
                  <a:schemeClr val="tx1"/>
                </a:solidFill>
                <a:cs typeface="Cordia New"/>
              </a:rPr>
              <a:t>Algorithm</a:t>
            </a:r>
            <a:endParaRPr lang="en-US" err="1"/>
          </a:p>
        </p:txBody>
      </p:sp>
      <p:sp>
        <p:nvSpPr>
          <p:cNvPr id="2" name="TextBox 1">
            <a:extLst>
              <a:ext uri="{FF2B5EF4-FFF2-40B4-BE49-F238E27FC236}">
                <a16:creationId xmlns:a16="http://schemas.microsoft.com/office/drawing/2014/main" id="{BC255109-4FBF-8B83-D83A-BCB6E6EEF82C}"/>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pic>
        <p:nvPicPr>
          <p:cNvPr id="11" name="Google Shape;67;p15">
            <a:extLst>
              <a:ext uri="{FF2B5EF4-FFF2-40B4-BE49-F238E27FC236}">
                <a16:creationId xmlns:a16="http://schemas.microsoft.com/office/drawing/2014/main" id="{8A7D830D-5880-4EAD-8B0B-6A59B8A00010}"/>
              </a:ext>
            </a:extLst>
          </p:cNvPr>
          <p:cNvPicPr preferRelativeResize="0"/>
          <p:nvPr/>
        </p:nvPicPr>
        <p:blipFill rotWithShape="1">
          <a:blip r:embed="rId5">
            <a:alphaModFix/>
          </a:blip>
          <a:srcRect r="9974"/>
          <a:stretch/>
        </p:blipFill>
        <p:spPr>
          <a:xfrm>
            <a:off x="11151038" y="40772"/>
            <a:ext cx="1653550" cy="232750"/>
          </a:xfrm>
          <a:prstGeom prst="rect">
            <a:avLst/>
          </a:prstGeom>
          <a:noFill/>
          <a:ln>
            <a:noFill/>
          </a:ln>
        </p:spPr>
      </p:pic>
      <p:sp>
        <p:nvSpPr>
          <p:cNvPr id="12" name="TextBox 2">
            <a:extLst>
              <a:ext uri="{FF2B5EF4-FFF2-40B4-BE49-F238E27FC236}">
                <a16:creationId xmlns:a16="http://schemas.microsoft.com/office/drawing/2014/main" id="{085AD9A6-A6DE-48E9-011D-31ADCF16F605}"/>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057808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dirty="0" smtClean="0"/>
              <a:t>18</a:t>
            </a:fld>
            <a:endParaRPr lang="en-US"/>
          </a:p>
        </p:txBody>
      </p:sp>
      <p:pic>
        <p:nvPicPr>
          <p:cNvPr id="8" name="Google Shape;67;p15">
            <a:extLst>
              <a:ext uri="{FF2B5EF4-FFF2-40B4-BE49-F238E27FC236}">
                <a16:creationId xmlns:a16="http://schemas.microsoft.com/office/drawing/2014/main" id="{05E91A28-20C3-434E-AF6D-C6CD1B256F91}"/>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1" name="Title 1">
            <a:extLst>
              <a:ext uri="{FF2B5EF4-FFF2-40B4-BE49-F238E27FC236}">
                <a16:creationId xmlns:a16="http://schemas.microsoft.com/office/drawing/2014/main" id="{8B1A2FCE-239E-41AD-BF19-9EDB25D87EFD}"/>
              </a:ext>
            </a:extLst>
          </p:cNvPr>
          <p:cNvSpPr>
            <a:spLocks noGrp="1"/>
          </p:cNvSpPr>
          <p:nvPr>
            <p:ph type="title"/>
          </p:nvPr>
        </p:nvSpPr>
        <p:spPr>
          <a:xfrm>
            <a:off x="1097280" y="286603"/>
            <a:ext cx="10058400" cy="1450757"/>
          </a:xfrm>
        </p:spPr>
        <p:txBody>
          <a:bodyPr>
            <a:normAutofit/>
          </a:bodyPr>
          <a:lstStyle/>
          <a:p>
            <a:r>
              <a:rPr lang="th-TH" sz="4000" err="1">
                <a:ea typeface="+mj-lt"/>
                <a:cs typeface="+mj-lt"/>
              </a:rPr>
              <a:t>Physical</a:t>
            </a:r>
            <a:r>
              <a:rPr lang="th-TH" sz="4000">
                <a:ea typeface="+mj-lt"/>
                <a:cs typeface="+mj-lt"/>
              </a:rPr>
              <a:t> System </a:t>
            </a:r>
            <a:r>
              <a:rPr lang="th-TH" sz="4000" err="1">
                <a:ea typeface="+mj-lt"/>
                <a:cs typeface="+mj-lt"/>
              </a:rPr>
              <a:t>vs</a:t>
            </a:r>
            <a:r>
              <a:rPr lang="th-TH" sz="4000">
                <a:ea typeface="+mj-lt"/>
                <a:cs typeface="+mj-lt"/>
              </a:rPr>
              <a:t> </a:t>
            </a:r>
            <a:r>
              <a:rPr lang="th-TH" sz="4000" err="1">
                <a:ea typeface="+mj-lt"/>
                <a:cs typeface="+mj-lt"/>
              </a:rPr>
              <a:t>Simulation</a:t>
            </a:r>
          </a:p>
        </p:txBody>
      </p:sp>
      <p:cxnSp>
        <p:nvCxnSpPr>
          <p:cNvPr id="18" name="Connector: Elbow 17">
            <a:extLst>
              <a:ext uri="{FF2B5EF4-FFF2-40B4-BE49-F238E27FC236}">
                <a16:creationId xmlns:a16="http://schemas.microsoft.com/office/drawing/2014/main" id="{874FBF18-9E12-40CB-B6E4-CCAAED3D54DE}"/>
              </a:ext>
            </a:extLst>
          </p:cNvPr>
          <p:cNvCxnSpPr>
            <a:cxnSpLocks/>
            <a:stCxn id="25" idx="2"/>
          </p:cNvCxnSpPr>
          <p:nvPr/>
        </p:nvCxnSpPr>
        <p:spPr>
          <a:xfrm rot="5400000" flipH="1">
            <a:off x="3954574" y="2581458"/>
            <a:ext cx="327502" cy="4155816"/>
          </a:xfrm>
          <a:prstGeom prst="bentConnector3">
            <a:avLst>
              <a:gd name="adj1" fmla="val -18343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a:endCxn id="25" idx="0"/>
          </p:cNvCxnSpPr>
          <p:nvPr/>
        </p:nvCxnSpPr>
        <p:spPr>
          <a:xfrm rot="5400000" flipH="1" flipV="1">
            <a:off x="3948223" y="1010312"/>
            <a:ext cx="340205" cy="4155816"/>
          </a:xfrm>
          <a:prstGeom prst="bentConnector3">
            <a:avLst>
              <a:gd name="adj1" fmla="val 22970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900E25-EC8A-4B1E-BE50-026134321814}"/>
              </a:ext>
            </a:extLst>
          </p:cNvPr>
          <p:cNvCxnSpPr>
            <a:cxnSpLocks/>
            <a:stCxn id="25" idx="3"/>
            <a:endCxn id="19458" idx="1"/>
          </p:cNvCxnSpPr>
          <p:nvPr/>
        </p:nvCxnSpPr>
        <p:spPr>
          <a:xfrm>
            <a:off x="7148733" y="3870617"/>
            <a:ext cx="1741672" cy="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B431786-05E0-4F77-9CAE-3143EAC01E20}"/>
              </a:ext>
            </a:extLst>
          </p:cNvPr>
          <p:cNvSpPr txBox="1"/>
          <p:nvPr/>
        </p:nvSpPr>
        <p:spPr>
          <a:xfrm>
            <a:off x="7366369" y="3258322"/>
            <a:ext cx="1308912" cy="523220"/>
          </a:xfrm>
          <a:prstGeom prst="rect">
            <a:avLst/>
          </a:prstGeom>
          <a:noFill/>
        </p:spPr>
        <p:txBody>
          <a:bodyPr wrap="square" lIns="91440" tIns="45720" rIns="91440" bIns="45720" rtlCol="0" anchor="t">
            <a:spAutoFit/>
          </a:bodyPr>
          <a:lstStyle/>
          <a:p>
            <a:r>
              <a:rPr lang="th-TH" sz="2800" err="1">
                <a:cs typeface="Cordia New"/>
              </a:rPr>
              <a:t>Model</a:t>
            </a:r>
          </a:p>
        </p:txBody>
      </p:sp>
      <p:pic>
        <p:nvPicPr>
          <p:cNvPr id="19458" name="Picture 2" descr="Turtlebot model in gazebo | Download Scientific Diagram">
            <a:extLst>
              <a:ext uri="{FF2B5EF4-FFF2-40B4-BE49-F238E27FC236}">
                <a16:creationId xmlns:a16="http://schemas.microsoft.com/office/drawing/2014/main" id="{A316E4D1-5329-4AD3-9D41-BFCCE10B88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405" y="3210870"/>
            <a:ext cx="2356241" cy="13194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urtlebot 2 – Dabit Industries">
            <a:extLst>
              <a:ext uri="{FF2B5EF4-FFF2-40B4-BE49-F238E27FC236}">
                <a16:creationId xmlns:a16="http://schemas.microsoft.com/office/drawing/2014/main" id="{12657E47-F324-4AEF-A935-EFB1B71A4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3733" y="2918117"/>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4392AD9-EE30-4905-B491-1FE5045531D8}"/>
              </a:ext>
            </a:extLst>
          </p:cNvPr>
          <p:cNvSpPr txBox="1"/>
          <p:nvPr/>
        </p:nvSpPr>
        <p:spPr>
          <a:xfrm>
            <a:off x="4023826" y="2566262"/>
            <a:ext cx="2180049" cy="523220"/>
          </a:xfrm>
          <a:prstGeom prst="rect">
            <a:avLst/>
          </a:prstGeom>
          <a:noFill/>
        </p:spPr>
        <p:txBody>
          <a:bodyPr wrap="square" lIns="91440" tIns="45720" rIns="91440" bIns="45720" rtlCol="0" anchor="t">
            <a:spAutoFit/>
          </a:bodyPr>
          <a:lstStyle/>
          <a:p>
            <a:r>
              <a:rPr lang="th-TH" sz="2800">
                <a:cs typeface="Cordia New"/>
              </a:rPr>
              <a:t>Tuning</a:t>
            </a:r>
            <a:endParaRPr lang="en-US"/>
          </a:p>
        </p:txBody>
      </p:sp>
      <p:sp>
        <p:nvSpPr>
          <p:cNvPr id="6" name="Rectangle: Rounded Corners 5">
            <a:extLst>
              <a:ext uri="{FF2B5EF4-FFF2-40B4-BE49-F238E27FC236}">
                <a16:creationId xmlns:a16="http://schemas.microsoft.com/office/drawing/2014/main" id="{52CF39EC-074B-F09E-AAB3-AE92BC542AA4}"/>
              </a:ext>
            </a:extLst>
          </p:cNvPr>
          <p:cNvSpPr/>
          <p:nvPr/>
        </p:nvSpPr>
        <p:spPr>
          <a:xfrm>
            <a:off x="442614" y="3258322"/>
            <a:ext cx="3290855" cy="1237293"/>
          </a:xfrm>
          <a:prstGeom prst="roundRect">
            <a:avLst/>
          </a:prstGeom>
          <a:solidFill>
            <a:schemeClr val="accent1"/>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th-TH" sz="2800" err="1">
                <a:solidFill>
                  <a:schemeClr val="tx1"/>
                </a:solidFill>
                <a:cs typeface="Cordia New"/>
              </a:rPr>
              <a:t>Algorithm</a:t>
            </a:r>
            <a:endParaRPr lang="en-US" err="1"/>
          </a:p>
        </p:txBody>
      </p:sp>
      <p:sp>
        <p:nvSpPr>
          <p:cNvPr id="2" name="TextBox 1">
            <a:extLst>
              <a:ext uri="{FF2B5EF4-FFF2-40B4-BE49-F238E27FC236}">
                <a16:creationId xmlns:a16="http://schemas.microsoft.com/office/drawing/2014/main" id="{BC255109-4FBF-8B83-D83A-BCB6E6EEF82C}"/>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3" name="TextBox 1">
            <a:extLst>
              <a:ext uri="{FF2B5EF4-FFF2-40B4-BE49-F238E27FC236}">
                <a16:creationId xmlns:a16="http://schemas.microsoft.com/office/drawing/2014/main" id="{BC255109-4FBF-8B83-D83A-BCB6E6EEF82C}"/>
              </a:ext>
            </a:extLst>
          </p:cNvPr>
          <p:cNvSpPr txBox="1"/>
          <p:nvPr/>
        </p:nvSpPr>
        <p:spPr>
          <a:xfrm>
            <a:off x="197224" y="12925986"/>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Getting to know ROS</a:t>
            </a:r>
          </a:p>
        </p:txBody>
      </p:sp>
      <p:sp>
        <p:nvSpPr>
          <p:cNvPr id="7" name="TextBox 2">
            <a:extLst>
              <a:ext uri="{FF2B5EF4-FFF2-40B4-BE49-F238E27FC236}">
                <a16:creationId xmlns:a16="http://schemas.microsoft.com/office/drawing/2014/main" id="{0B6CC12B-D373-6798-FC28-E4EF5A02E644}"/>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133403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smtClean="0"/>
              <a:t>19</a:t>
            </a:fld>
            <a:endParaRPr lang="en-US"/>
          </a:p>
        </p:txBody>
      </p:sp>
      <p:pic>
        <p:nvPicPr>
          <p:cNvPr id="8" name="Google Shape;67;p15">
            <a:extLst>
              <a:ext uri="{FF2B5EF4-FFF2-40B4-BE49-F238E27FC236}">
                <a16:creationId xmlns:a16="http://schemas.microsoft.com/office/drawing/2014/main" id="{05E91A28-20C3-434E-AF6D-C6CD1B256F91}"/>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1" name="Title 1">
            <a:extLst>
              <a:ext uri="{FF2B5EF4-FFF2-40B4-BE49-F238E27FC236}">
                <a16:creationId xmlns:a16="http://schemas.microsoft.com/office/drawing/2014/main" id="{8B1A2FCE-239E-41AD-BF19-9EDB25D87EFD}"/>
              </a:ext>
            </a:extLst>
          </p:cNvPr>
          <p:cNvSpPr>
            <a:spLocks noGrp="1"/>
          </p:cNvSpPr>
          <p:nvPr>
            <p:ph type="title"/>
          </p:nvPr>
        </p:nvSpPr>
        <p:spPr>
          <a:xfrm>
            <a:off x="1097280" y="286603"/>
            <a:ext cx="10058400" cy="1450757"/>
          </a:xfrm>
        </p:spPr>
        <p:txBody>
          <a:bodyPr>
            <a:normAutofit/>
          </a:bodyPr>
          <a:lstStyle/>
          <a:p>
            <a:r>
              <a:rPr lang="th-TH" sz="4000" err="1">
                <a:cs typeface="Angsana New"/>
              </a:rPr>
              <a:t>Physical</a:t>
            </a:r>
            <a:r>
              <a:rPr lang="th-TH" sz="4000">
                <a:cs typeface="Angsana New"/>
              </a:rPr>
              <a:t> System </a:t>
            </a:r>
            <a:r>
              <a:rPr lang="th-TH" sz="4000" err="1">
                <a:cs typeface="Angsana New"/>
              </a:rPr>
              <a:t>vs</a:t>
            </a:r>
            <a:r>
              <a:rPr lang="th-TH" sz="4000">
                <a:cs typeface="Angsana New"/>
              </a:rPr>
              <a:t> </a:t>
            </a:r>
            <a:r>
              <a:rPr lang="th-TH" sz="4000" err="1">
                <a:cs typeface="Angsana New"/>
              </a:rPr>
              <a:t>Simulation</a:t>
            </a:r>
            <a:endParaRPr lang="en-US" err="1"/>
          </a:p>
        </p:txBody>
      </p:sp>
      <p:cxnSp>
        <p:nvCxnSpPr>
          <p:cNvPr id="18" name="Connector: Elbow 17">
            <a:extLst>
              <a:ext uri="{FF2B5EF4-FFF2-40B4-BE49-F238E27FC236}">
                <a16:creationId xmlns:a16="http://schemas.microsoft.com/office/drawing/2014/main" id="{874FBF18-9E12-40CB-B6E4-CCAAED3D54DE}"/>
              </a:ext>
            </a:extLst>
          </p:cNvPr>
          <p:cNvCxnSpPr>
            <a:cxnSpLocks/>
          </p:cNvCxnSpPr>
          <p:nvPr/>
        </p:nvCxnSpPr>
        <p:spPr>
          <a:xfrm rot="5400000">
            <a:off x="6089650" y="440032"/>
            <a:ext cx="6350" cy="8104816"/>
          </a:xfrm>
          <a:prstGeom prst="bentConnector3">
            <a:avLst>
              <a:gd name="adj1" fmla="val 13411638"/>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p:cNvCxnSpPr>
          <p:nvPr/>
        </p:nvCxnSpPr>
        <p:spPr>
          <a:xfrm rot="5400000" flipH="1" flipV="1">
            <a:off x="6089650" y="-797261"/>
            <a:ext cx="6350" cy="8104816"/>
          </a:xfrm>
          <a:prstGeom prst="bentConnector3">
            <a:avLst>
              <a:gd name="adj1" fmla="val 117372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900E25-EC8A-4B1E-BE50-026134321814}"/>
              </a:ext>
            </a:extLst>
          </p:cNvPr>
          <p:cNvCxnSpPr>
            <a:cxnSpLocks/>
            <a:stCxn id="25" idx="3"/>
            <a:endCxn id="19458" idx="1"/>
          </p:cNvCxnSpPr>
          <p:nvPr/>
        </p:nvCxnSpPr>
        <p:spPr>
          <a:xfrm>
            <a:off x="7148733" y="3870617"/>
            <a:ext cx="1741672" cy="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B431786-05E0-4F77-9CAE-3143EAC01E20}"/>
              </a:ext>
            </a:extLst>
          </p:cNvPr>
          <p:cNvSpPr txBox="1"/>
          <p:nvPr/>
        </p:nvSpPr>
        <p:spPr>
          <a:xfrm>
            <a:off x="7318744" y="3258322"/>
            <a:ext cx="1166037" cy="523220"/>
          </a:xfrm>
          <a:prstGeom prst="rect">
            <a:avLst/>
          </a:prstGeom>
          <a:noFill/>
        </p:spPr>
        <p:txBody>
          <a:bodyPr wrap="square" lIns="91440" tIns="45720" rIns="91440" bIns="45720" rtlCol="0" anchor="t">
            <a:spAutoFit/>
          </a:bodyPr>
          <a:lstStyle/>
          <a:p>
            <a:r>
              <a:rPr lang="th-TH" sz="2800" err="1">
                <a:cs typeface="Cordia New"/>
              </a:rPr>
              <a:t>model</a:t>
            </a:r>
            <a:endParaRPr lang="en-US" err="1"/>
          </a:p>
        </p:txBody>
      </p:sp>
      <p:pic>
        <p:nvPicPr>
          <p:cNvPr id="19458" name="Picture 2" descr="Turtlebot model in gazebo | Download Scientific Diagram">
            <a:extLst>
              <a:ext uri="{FF2B5EF4-FFF2-40B4-BE49-F238E27FC236}">
                <a16:creationId xmlns:a16="http://schemas.microsoft.com/office/drawing/2014/main" id="{A316E4D1-5329-4AD3-9D41-BFCCE10B88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405" y="3210870"/>
            <a:ext cx="2356241" cy="13194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urtlebot 2 – Dabit Industries">
            <a:extLst>
              <a:ext uri="{FF2B5EF4-FFF2-40B4-BE49-F238E27FC236}">
                <a16:creationId xmlns:a16="http://schemas.microsoft.com/office/drawing/2014/main" id="{12657E47-F324-4AEF-A935-EFB1B71A4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3733" y="2918117"/>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7A660E38-56BA-486E-99C8-C28F3821E596}"/>
              </a:ext>
            </a:extLst>
          </p:cNvPr>
          <p:cNvSpPr txBox="1"/>
          <p:nvPr/>
        </p:nvSpPr>
        <p:spPr>
          <a:xfrm>
            <a:off x="4087842" y="1978280"/>
            <a:ext cx="6262160" cy="523220"/>
          </a:xfrm>
          <a:prstGeom prst="rect">
            <a:avLst/>
          </a:prstGeom>
          <a:noFill/>
        </p:spPr>
        <p:txBody>
          <a:bodyPr wrap="square" lIns="91440" tIns="45720" rIns="91440" bIns="45720" rtlCol="0" anchor="t">
            <a:spAutoFit/>
          </a:bodyPr>
          <a:lstStyle/>
          <a:p>
            <a:r>
              <a:rPr lang="th-TH" sz="2800" err="1">
                <a:cs typeface="Cordia New"/>
              </a:rPr>
              <a:t>Tuning</a:t>
            </a:r>
            <a:r>
              <a:rPr lang="th-TH" sz="2800">
                <a:cs typeface="Cordia New"/>
              </a:rPr>
              <a:t> </a:t>
            </a:r>
            <a:r>
              <a:rPr lang="th-TH" sz="2800" err="1">
                <a:cs typeface="Cordia New"/>
              </a:rPr>
              <a:t>with</a:t>
            </a:r>
            <a:r>
              <a:rPr lang="th-TH" sz="2800">
                <a:cs typeface="Cordia New"/>
              </a:rPr>
              <a:t> </a:t>
            </a:r>
            <a:r>
              <a:rPr lang="th-TH" sz="2800" err="1">
                <a:cs typeface="Cordia New"/>
              </a:rPr>
              <a:t>the</a:t>
            </a:r>
            <a:r>
              <a:rPr lang="th-TH" sz="2800">
                <a:cs typeface="Cordia New"/>
              </a:rPr>
              <a:t> </a:t>
            </a:r>
            <a:r>
              <a:rPr lang="th-TH" sz="2800" err="1">
                <a:cs typeface="Cordia New"/>
              </a:rPr>
              <a:t>simulation</a:t>
            </a:r>
          </a:p>
        </p:txBody>
      </p:sp>
      <p:sp>
        <p:nvSpPr>
          <p:cNvPr id="3" name="Rectangle: Rounded Corners 2">
            <a:extLst>
              <a:ext uri="{FF2B5EF4-FFF2-40B4-BE49-F238E27FC236}">
                <a16:creationId xmlns:a16="http://schemas.microsoft.com/office/drawing/2014/main" id="{85D41B54-5930-BB6D-9C85-CB029B38771A}"/>
              </a:ext>
            </a:extLst>
          </p:cNvPr>
          <p:cNvSpPr/>
          <p:nvPr/>
        </p:nvSpPr>
        <p:spPr>
          <a:xfrm>
            <a:off x="442614" y="3258322"/>
            <a:ext cx="3290855" cy="1237293"/>
          </a:xfrm>
          <a:prstGeom prst="roundRect">
            <a:avLst/>
          </a:prstGeom>
          <a:solidFill>
            <a:schemeClr val="accent1"/>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th-TH" sz="2800" err="1">
                <a:solidFill>
                  <a:schemeClr val="tx1"/>
                </a:solidFill>
                <a:cs typeface="Cordia New"/>
              </a:rPr>
              <a:t>Algorithm</a:t>
            </a:r>
            <a:endParaRPr lang="en-US" err="1"/>
          </a:p>
        </p:txBody>
      </p:sp>
      <p:sp>
        <p:nvSpPr>
          <p:cNvPr id="5" name="TextBox 4">
            <a:extLst>
              <a:ext uri="{FF2B5EF4-FFF2-40B4-BE49-F238E27FC236}">
                <a16:creationId xmlns:a16="http://schemas.microsoft.com/office/drawing/2014/main" id="{4B745A0C-1E27-2305-5167-FF844ED72EE5}"/>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A5A19E79-4570-B206-DB21-67F2E5BD9918}"/>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07148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smtClean="0"/>
              <a:t>20</a:t>
            </a:fld>
            <a:endParaRPr lang="en-US"/>
          </a:p>
        </p:txBody>
      </p:sp>
      <p:pic>
        <p:nvPicPr>
          <p:cNvPr id="8" name="Google Shape;67;p15">
            <a:extLst>
              <a:ext uri="{FF2B5EF4-FFF2-40B4-BE49-F238E27FC236}">
                <a16:creationId xmlns:a16="http://schemas.microsoft.com/office/drawing/2014/main" id="{05E91A28-20C3-434E-AF6D-C6CD1B256F91}"/>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1" name="Title 1">
            <a:extLst>
              <a:ext uri="{FF2B5EF4-FFF2-40B4-BE49-F238E27FC236}">
                <a16:creationId xmlns:a16="http://schemas.microsoft.com/office/drawing/2014/main" id="{8B1A2FCE-239E-41AD-BF19-9EDB25D87EFD}"/>
              </a:ext>
            </a:extLst>
          </p:cNvPr>
          <p:cNvSpPr>
            <a:spLocks noGrp="1"/>
          </p:cNvSpPr>
          <p:nvPr>
            <p:ph type="title"/>
          </p:nvPr>
        </p:nvSpPr>
        <p:spPr>
          <a:xfrm>
            <a:off x="1097280" y="286603"/>
            <a:ext cx="10058400" cy="1450757"/>
          </a:xfrm>
        </p:spPr>
        <p:txBody>
          <a:bodyPr>
            <a:normAutofit/>
          </a:bodyPr>
          <a:lstStyle/>
          <a:p>
            <a:r>
              <a:rPr lang="th-TH" sz="4000" err="1">
                <a:cs typeface="Angsana New"/>
              </a:rPr>
              <a:t>Physical</a:t>
            </a:r>
            <a:r>
              <a:rPr lang="th-TH" sz="4000">
                <a:cs typeface="Angsana New"/>
              </a:rPr>
              <a:t> System </a:t>
            </a:r>
            <a:r>
              <a:rPr lang="th-TH" sz="4000" err="1">
                <a:cs typeface="Angsana New"/>
              </a:rPr>
              <a:t>vs</a:t>
            </a:r>
            <a:r>
              <a:rPr lang="th-TH" sz="4000">
                <a:cs typeface="Angsana New"/>
              </a:rPr>
              <a:t> </a:t>
            </a:r>
            <a:r>
              <a:rPr lang="th-TH" sz="4000" err="1">
                <a:cs typeface="Angsana New"/>
              </a:rPr>
              <a:t>Simulation</a:t>
            </a:r>
            <a:endParaRPr lang="en-US" err="1"/>
          </a:p>
        </p:txBody>
      </p:sp>
      <p:cxnSp>
        <p:nvCxnSpPr>
          <p:cNvPr id="18" name="Connector: Elbow 17">
            <a:extLst>
              <a:ext uri="{FF2B5EF4-FFF2-40B4-BE49-F238E27FC236}">
                <a16:creationId xmlns:a16="http://schemas.microsoft.com/office/drawing/2014/main" id="{874FBF18-9E12-40CB-B6E4-CCAAED3D54DE}"/>
              </a:ext>
            </a:extLst>
          </p:cNvPr>
          <p:cNvCxnSpPr>
            <a:cxnSpLocks/>
          </p:cNvCxnSpPr>
          <p:nvPr/>
        </p:nvCxnSpPr>
        <p:spPr>
          <a:xfrm rot="5400000">
            <a:off x="6089650" y="440032"/>
            <a:ext cx="6350" cy="8104816"/>
          </a:xfrm>
          <a:prstGeom prst="bentConnector3">
            <a:avLst>
              <a:gd name="adj1" fmla="val 13411638"/>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p:cNvCxnSpPr>
          <p:nvPr/>
        </p:nvCxnSpPr>
        <p:spPr>
          <a:xfrm rot="5400000" flipH="1" flipV="1">
            <a:off x="6089650" y="-797261"/>
            <a:ext cx="6350" cy="8104816"/>
          </a:xfrm>
          <a:prstGeom prst="bentConnector3">
            <a:avLst>
              <a:gd name="adj1" fmla="val 117372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900E25-EC8A-4B1E-BE50-026134321814}"/>
              </a:ext>
            </a:extLst>
          </p:cNvPr>
          <p:cNvCxnSpPr>
            <a:cxnSpLocks/>
            <a:stCxn id="25" idx="3"/>
            <a:endCxn id="19458" idx="1"/>
          </p:cNvCxnSpPr>
          <p:nvPr/>
        </p:nvCxnSpPr>
        <p:spPr>
          <a:xfrm>
            <a:off x="7148733" y="3870617"/>
            <a:ext cx="1741672" cy="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pic>
        <p:nvPicPr>
          <p:cNvPr id="19458" name="Picture 2" descr="Turtlebot model in gazebo | Download Scientific Diagram">
            <a:extLst>
              <a:ext uri="{FF2B5EF4-FFF2-40B4-BE49-F238E27FC236}">
                <a16:creationId xmlns:a16="http://schemas.microsoft.com/office/drawing/2014/main" id="{A316E4D1-5329-4AD3-9D41-BFCCE10B88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405" y="3210870"/>
            <a:ext cx="2356241" cy="13194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urtlebot 2 – Dabit Industries">
            <a:extLst>
              <a:ext uri="{FF2B5EF4-FFF2-40B4-BE49-F238E27FC236}">
                <a16:creationId xmlns:a16="http://schemas.microsoft.com/office/drawing/2014/main" id="{12657E47-F324-4AEF-A935-EFB1B71A4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3733" y="2918117"/>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7A660E38-56BA-486E-99C8-C28F3821E596}"/>
              </a:ext>
            </a:extLst>
          </p:cNvPr>
          <p:cNvSpPr txBox="1"/>
          <p:nvPr/>
        </p:nvSpPr>
        <p:spPr>
          <a:xfrm>
            <a:off x="5064743" y="1994155"/>
            <a:ext cx="3432626" cy="954107"/>
          </a:xfrm>
          <a:prstGeom prst="rect">
            <a:avLst/>
          </a:prstGeom>
          <a:noFill/>
        </p:spPr>
        <p:txBody>
          <a:bodyPr wrap="square" lIns="91440" tIns="45720" rIns="91440" bIns="45720" rtlCol="0" anchor="t">
            <a:spAutoFit/>
          </a:bodyPr>
          <a:lstStyle/>
          <a:p>
            <a:r>
              <a:rPr lang="th-TH" sz="2800">
                <a:cs typeface="Cordia New"/>
              </a:rPr>
              <a:t>A </a:t>
            </a:r>
            <a:r>
              <a:rPr lang="th-TH" sz="2800" err="1">
                <a:cs typeface="Cordia New"/>
              </a:rPr>
              <a:t>robot</a:t>
            </a:r>
            <a:r>
              <a:rPr lang="th-TH" sz="2800">
                <a:cs typeface="Cordia New"/>
              </a:rPr>
              <a:t> </a:t>
            </a:r>
            <a:r>
              <a:rPr lang="th-TH" sz="2800" err="1">
                <a:cs typeface="Cordia New"/>
              </a:rPr>
              <a:t>needs</a:t>
            </a:r>
            <a:r>
              <a:rPr lang="th-TH" sz="2800">
                <a:cs typeface="Cordia New"/>
              </a:rPr>
              <a:t> a </a:t>
            </a:r>
            <a:r>
              <a:rPr lang="th-TH" sz="2800" err="1">
                <a:cs typeface="Cordia New"/>
              </a:rPr>
              <a:t>computer</a:t>
            </a:r>
            <a:r>
              <a:rPr lang="th-TH" sz="2800">
                <a:cs typeface="Cordia New"/>
              </a:rPr>
              <a:t>.</a:t>
            </a:r>
            <a:endParaRPr lang="en-US"/>
          </a:p>
        </p:txBody>
      </p:sp>
      <p:sp>
        <p:nvSpPr>
          <p:cNvPr id="16" name="TextBox 15">
            <a:extLst>
              <a:ext uri="{FF2B5EF4-FFF2-40B4-BE49-F238E27FC236}">
                <a16:creationId xmlns:a16="http://schemas.microsoft.com/office/drawing/2014/main" id="{A51941A8-885D-4784-A5FF-1C084C75A70F}"/>
              </a:ext>
            </a:extLst>
          </p:cNvPr>
          <p:cNvSpPr txBox="1"/>
          <p:nvPr/>
        </p:nvSpPr>
        <p:spPr>
          <a:xfrm>
            <a:off x="8346465" y="4556660"/>
            <a:ext cx="4217992" cy="523220"/>
          </a:xfrm>
          <a:prstGeom prst="rect">
            <a:avLst/>
          </a:prstGeom>
          <a:noFill/>
        </p:spPr>
        <p:txBody>
          <a:bodyPr wrap="square" lIns="91440" tIns="45720" rIns="91440" bIns="45720" rtlCol="0" anchor="t">
            <a:spAutoFit/>
          </a:bodyPr>
          <a:lstStyle/>
          <a:p>
            <a:r>
              <a:rPr lang="en-US" sz="2800"/>
              <a:t>So does the simulation.</a:t>
            </a:r>
            <a:endParaRPr lang="en-US"/>
          </a:p>
        </p:txBody>
      </p:sp>
      <p:sp>
        <p:nvSpPr>
          <p:cNvPr id="3" name="Rectangle: Rounded Corners 2">
            <a:extLst>
              <a:ext uri="{FF2B5EF4-FFF2-40B4-BE49-F238E27FC236}">
                <a16:creationId xmlns:a16="http://schemas.microsoft.com/office/drawing/2014/main" id="{42A4CAB7-9037-2865-B097-16E4D582CAC9}"/>
              </a:ext>
            </a:extLst>
          </p:cNvPr>
          <p:cNvSpPr/>
          <p:nvPr/>
        </p:nvSpPr>
        <p:spPr>
          <a:xfrm>
            <a:off x="442614" y="3258322"/>
            <a:ext cx="3290855" cy="1237293"/>
          </a:xfrm>
          <a:prstGeom prst="roundRect">
            <a:avLst/>
          </a:prstGeom>
          <a:solidFill>
            <a:schemeClr val="accent1"/>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th-TH" sz="2800" err="1">
                <a:solidFill>
                  <a:schemeClr val="tx1"/>
                </a:solidFill>
                <a:cs typeface="Cordia New"/>
              </a:rPr>
              <a:t>Algorithm</a:t>
            </a:r>
            <a:endParaRPr lang="en-US" err="1"/>
          </a:p>
        </p:txBody>
      </p:sp>
      <p:sp>
        <p:nvSpPr>
          <p:cNvPr id="5" name="TextBox 4">
            <a:extLst>
              <a:ext uri="{FF2B5EF4-FFF2-40B4-BE49-F238E27FC236}">
                <a16:creationId xmlns:a16="http://schemas.microsoft.com/office/drawing/2014/main" id="{98AD6A31-E594-0813-5F63-EDD56600B0F9}"/>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6" name="TextBox 2">
            <a:extLst>
              <a:ext uri="{FF2B5EF4-FFF2-40B4-BE49-F238E27FC236}">
                <a16:creationId xmlns:a16="http://schemas.microsoft.com/office/drawing/2014/main" id="{211DFE86-E1E8-69A2-489A-7C4C53D78920}"/>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17166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smtClean="0"/>
              <a:t>21</a:t>
            </a:fld>
            <a:endParaRPr lang="en-US"/>
          </a:p>
        </p:txBody>
      </p:sp>
      <p:pic>
        <p:nvPicPr>
          <p:cNvPr id="8" name="Google Shape;67;p15">
            <a:extLst>
              <a:ext uri="{FF2B5EF4-FFF2-40B4-BE49-F238E27FC236}">
                <a16:creationId xmlns:a16="http://schemas.microsoft.com/office/drawing/2014/main" id="{05E91A28-20C3-434E-AF6D-C6CD1B256F91}"/>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1" name="Title 1">
            <a:extLst>
              <a:ext uri="{FF2B5EF4-FFF2-40B4-BE49-F238E27FC236}">
                <a16:creationId xmlns:a16="http://schemas.microsoft.com/office/drawing/2014/main" id="{8B1A2FCE-239E-41AD-BF19-9EDB25D87EFD}"/>
              </a:ext>
            </a:extLst>
          </p:cNvPr>
          <p:cNvSpPr>
            <a:spLocks noGrp="1"/>
          </p:cNvSpPr>
          <p:nvPr>
            <p:ph type="title"/>
          </p:nvPr>
        </p:nvSpPr>
        <p:spPr>
          <a:xfrm>
            <a:off x="1097280" y="286603"/>
            <a:ext cx="10058400" cy="1450757"/>
          </a:xfrm>
        </p:spPr>
        <p:txBody>
          <a:bodyPr>
            <a:normAutofit/>
          </a:bodyPr>
          <a:lstStyle/>
          <a:p>
            <a:r>
              <a:rPr lang="th-TH" sz="4000" err="1">
                <a:cs typeface="Angsana New"/>
              </a:rPr>
              <a:t>Physical</a:t>
            </a:r>
            <a:r>
              <a:rPr lang="th-TH" sz="4000">
                <a:cs typeface="Angsana New"/>
              </a:rPr>
              <a:t> System </a:t>
            </a:r>
            <a:r>
              <a:rPr lang="th-TH" sz="4000" err="1">
                <a:cs typeface="Angsana New"/>
              </a:rPr>
              <a:t>vs</a:t>
            </a:r>
            <a:r>
              <a:rPr lang="th-TH" sz="4000">
                <a:cs typeface="Angsana New"/>
              </a:rPr>
              <a:t> </a:t>
            </a:r>
            <a:r>
              <a:rPr lang="th-TH" sz="4000" err="1">
                <a:cs typeface="Angsana New"/>
              </a:rPr>
              <a:t>Simulation</a:t>
            </a:r>
            <a:endParaRPr lang="en-US" err="1"/>
          </a:p>
        </p:txBody>
      </p:sp>
      <p:cxnSp>
        <p:nvCxnSpPr>
          <p:cNvPr id="18" name="Connector: Elbow 17">
            <a:extLst>
              <a:ext uri="{FF2B5EF4-FFF2-40B4-BE49-F238E27FC236}">
                <a16:creationId xmlns:a16="http://schemas.microsoft.com/office/drawing/2014/main" id="{874FBF18-9E12-40CB-B6E4-CCAAED3D54DE}"/>
              </a:ext>
            </a:extLst>
          </p:cNvPr>
          <p:cNvCxnSpPr>
            <a:cxnSpLocks/>
          </p:cNvCxnSpPr>
          <p:nvPr/>
        </p:nvCxnSpPr>
        <p:spPr>
          <a:xfrm rot="5400000">
            <a:off x="6089650" y="440032"/>
            <a:ext cx="6350" cy="8104816"/>
          </a:xfrm>
          <a:prstGeom prst="bentConnector3">
            <a:avLst>
              <a:gd name="adj1" fmla="val 13411638"/>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p:cNvCxnSpPr>
          <p:nvPr/>
        </p:nvCxnSpPr>
        <p:spPr>
          <a:xfrm rot="5400000" flipH="1" flipV="1">
            <a:off x="6089650" y="-797261"/>
            <a:ext cx="6350" cy="8104816"/>
          </a:xfrm>
          <a:prstGeom prst="bentConnector3">
            <a:avLst>
              <a:gd name="adj1" fmla="val 117372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900E25-EC8A-4B1E-BE50-026134321814}"/>
              </a:ext>
            </a:extLst>
          </p:cNvPr>
          <p:cNvCxnSpPr>
            <a:cxnSpLocks/>
            <a:stCxn id="25" idx="3"/>
            <a:endCxn id="19458" idx="1"/>
          </p:cNvCxnSpPr>
          <p:nvPr/>
        </p:nvCxnSpPr>
        <p:spPr>
          <a:xfrm>
            <a:off x="7148733" y="3870617"/>
            <a:ext cx="1741672" cy="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pic>
        <p:nvPicPr>
          <p:cNvPr id="19458" name="Picture 2" descr="Turtlebot model in gazebo | Download Scientific Diagram">
            <a:extLst>
              <a:ext uri="{FF2B5EF4-FFF2-40B4-BE49-F238E27FC236}">
                <a16:creationId xmlns:a16="http://schemas.microsoft.com/office/drawing/2014/main" id="{A316E4D1-5329-4AD3-9D41-BFCCE10B88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405" y="3210870"/>
            <a:ext cx="2356241" cy="13194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urtlebot 2 – Dabit Industries">
            <a:extLst>
              <a:ext uri="{FF2B5EF4-FFF2-40B4-BE49-F238E27FC236}">
                <a16:creationId xmlns:a16="http://schemas.microsoft.com/office/drawing/2014/main" id="{12657E47-F324-4AEF-A935-EFB1B71A4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3733" y="2918117"/>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7A660E38-56BA-486E-99C8-C28F3821E596}"/>
              </a:ext>
            </a:extLst>
          </p:cNvPr>
          <p:cNvSpPr txBox="1"/>
          <p:nvPr/>
        </p:nvSpPr>
        <p:spPr>
          <a:xfrm>
            <a:off x="5064743" y="1994155"/>
            <a:ext cx="3432626" cy="954107"/>
          </a:xfrm>
          <a:prstGeom prst="rect">
            <a:avLst/>
          </a:prstGeom>
          <a:noFill/>
        </p:spPr>
        <p:txBody>
          <a:bodyPr wrap="square" lIns="91440" tIns="45720" rIns="91440" bIns="45720" rtlCol="0" anchor="t">
            <a:spAutoFit/>
          </a:bodyPr>
          <a:lstStyle/>
          <a:p>
            <a:r>
              <a:rPr lang="th-TH" sz="2800">
                <a:cs typeface="Cordia New"/>
              </a:rPr>
              <a:t>A </a:t>
            </a:r>
            <a:r>
              <a:rPr lang="th-TH" sz="2800" err="1">
                <a:cs typeface="Cordia New"/>
              </a:rPr>
              <a:t>robot</a:t>
            </a:r>
            <a:r>
              <a:rPr lang="th-TH" sz="2800">
                <a:cs typeface="Cordia New"/>
              </a:rPr>
              <a:t> </a:t>
            </a:r>
            <a:r>
              <a:rPr lang="th-TH" sz="2800" err="1">
                <a:cs typeface="Cordia New"/>
              </a:rPr>
              <a:t>needs</a:t>
            </a:r>
            <a:r>
              <a:rPr lang="th-TH" sz="2800">
                <a:cs typeface="Cordia New"/>
              </a:rPr>
              <a:t> a </a:t>
            </a:r>
            <a:r>
              <a:rPr lang="th-TH" sz="2800" err="1">
                <a:cs typeface="Cordia New"/>
              </a:rPr>
              <a:t>computer</a:t>
            </a:r>
            <a:r>
              <a:rPr lang="th-TH" sz="2800">
                <a:cs typeface="Cordia New"/>
              </a:rPr>
              <a:t>.</a:t>
            </a:r>
            <a:endParaRPr lang="en-US"/>
          </a:p>
        </p:txBody>
      </p:sp>
      <p:sp>
        <p:nvSpPr>
          <p:cNvPr id="16" name="TextBox 15">
            <a:extLst>
              <a:ext uri="{FF2B5EF4-FFF2-40B4-BE49-F238E27FC236}">
                <a16:creationId xmlns:a16="http://schemas.microsoft.com/office/drawing/2014/main" id="{A51941A8-885D-4784-A5FF-1C084C75A70F}"/>
              </a:ext>
            </a:extLst>
          </p:cNvPr>
          <p:cNvSpPr txBox="1"/>
          <p:nvPr/>
        </p:nvSpPr>
        <p:spPr>
          <a:xfrm>
            <a:off x="8346465" y="4556660"/>
            <a:ext cx="4217992" cy="523220"/>
          </a:xfrm>
          <a:prstGeom prst="rect">
            <a:avLst/>
          </a:prstGeom>
          <a:noFill/>
        </p:spPr>
        <p:txBody>
          <a:bodyPr wrap="square" lIns="91440" tIns="45720" rIns="91440" bIns="45720" rtlCol="0" anchor="t">
            <a:spAutoFit/>
          </a:bodyPr>
          <a:lstStyle/>
          <a:p>
            <a:r>
              <a:rPr lang="en-US" sz="2800"/>
              <a:t>So does the simulation.</a:t>
            </a:r>
            <a:endParaRPr lang="en-US"/>
          </a:p>
        </p:txBody>
      </p:sp>
      <p:sp>
        <p:nvSpPr>
          <p:cNvPr id="3" name="Rectangle: Rounded Corners 2">
            <a:extLst>
              <a:ext uri="{FF2B5EF4-FFF2-40B4-BE49-F238E27FC236}">
                <a16:creationId xmlns:a16="http://schemas.microsoft.com/office/drawing/2014/main" id="{42A4CAB7-9037-2865-B097-16E4D582CAC9}"/>
              </a:ext>
            </a:extLst>
          </p:cNvPr>
          <p:cNvSpPr/>
          <p:nvPr/>
        </p:nvSpPr>
        <p:spPr>
          <a:xfrm>
            <a:off x="442614" y="3258322"/>
            <a:ext cx="3290855" cy="1237293"/>
          </a:xfrm>
          <a:prstGeom prst="roundRect">
            <a:avLst/>
          </a:prstGeom>
          <a:solidFill>
            <a:schemeClr val="accent1"/>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th-TH" sz="2800" err="1">
                <a:solidFill>
                  <a:schemeClr val="tx1"/>
                </a:solidFill>
                <a:cs typeface="Cordia New"/>
              </a:rPr>
              <a:t>Algorithm</a:t>
            </a:r>
            <a:endParaRPr lang="en-US" err="1"/>
          </a:p>
        </p:txBody>
      </p:sp>
      <p:sp>
        <p:nvSpPr>
          <p:cNvPr id="5" name="TextBox 4">
            <a:extLst>
              <a:ext uri="{FF2B5EF4-FFF2-40B4-BE49-F238E27FC236}">
                <a16:creationId xmlns:a16="http://schemas.microsoft.com/office/drawing/2014/main" id="{9C3AD107-676E-6D64-EACD-B8218A040A18}"/>
              </a:ext>
            </a:extLst>
          </p:cNvPr>
          <p:cNvSpPr txBox="1"/>
          <p:nvPr/>
        </p:nvSpPr>
        <p:spPr>
          <a:xfrm>
            <a:off x="2593331" y="5605195"/>
            <a:ext cx="6489500" cy="523220"/>
          </a:xfrm>
          <a:prstGeom prst="rect">
            <a:avLst/>
          </a:prstGeom>
          <a:noFill/>
        </p:spPr>
        <p:txBody>
          <a:bodyPr wrap="square" lIns="91440" tIns="45720" rIns="91440" bIns="45720" rtlCol="0" anchor="t">
            <a:spAutoFit/>
          </a:bodyPr>
          <a:lstStyle/>
          <a:p>
            <a:r>
              <a:rPr lang="en-US" sz="2800"/>
              <a:t>Q1.) </a:t>
            </a:r>
            <a:r>
              <a:rPr lang="th-TH" sz="2800" err="1">
                <a:cs typeface="Cordia New"/>
              </a:rPr>
              <a:t>Should</a:t>
            </a:r>
            <a:r>
              <a:rPr lang="th-TH" sz="2800">
                <a:cs typeface="Cordia New"/>
              </a:rPr>
              <a:t> </a:t>
            </a:r>
            <a:r>
              <a:rPr lang="th-TH" sz="2800" err="1">
                <a:cs typeface="Cordia New"/>
              </a:rPr>
              <a:t>they</a:t>
            </a:r>
            <a:r>
              <a:rPr lang="th-TH" sz="2800">
                <a:cs typeface="Cordia New"/>
              </a:rPr>
              <a:t> </a:t>
            </a:r>
            <a:r>
              <a:rPr lang="th-TH" sz="2800" err="1">
                <a:cs typeface="Cordia New"/>
              </a:rPr>
              <a:t>use</a:t>
            </a:r>
            <a:r>
              <a:rPr lang="th-TH" sz="2800">
                <a:cs typeface="Cordia New"/>
              </a:rPr>
              <a:t> </a:t>
            </a:r>
            <a:r>
              <a:rPr lang="th-TH" sz="2800" err="1">
                <a:cs typeface="Cordia New"/>
              </a:rPr>
              <a:t>the</a:t>
            </a:r>
            <a:r>
              <a:rPr lang="th-TH" sz="2800">
                <a:cs typeface="Cordia New"/>
              </a:rPr>
              <a:t> </a:t>
            </a:r>
            <a:r>
              <a:rPr lang="th-TH" sz="2800" err="1">
                <a:cs typeface="Cordia New"/>
              </a:rPr>
              <a:t>same</a:t>
            </a:r>
            <a:r>
              <a:rPr lang="th-TH" sz="2800">
                <a:cs typeface="Cordia New"/>
              </a:rPr>
              <a:t> </a:t>
            </a:r>
            <a:r>
              <a:rPr lang="th-TH" sz="2800" err="1">
                <a:cs typeface="Cordia New"/>
              </a:rPr>
              <a:t>computer</a:t>
            </a:r>
            <a:r>
              <a:rPr lang="th-TH" sz="2800">
                <a:cs typeface="Cordia New"/>
              </a:rPr>
              <a:t> ?</a:t>
            </a:r>
            <a:endParaRPr lang="en-US" sz="2800"/>
          </a:p>
        </p:txBody>
      </p:sp>
      <p:sp>
        <p:nvSpPr>
          <p:cNvPr id="6" name="TextBox 5">
            <a:extLst>
              <a:ext uri="{FF2B5EF4-FFF2-40B4-BE49-F238E27FC236}">
                <a16:creationId xmlns:a16="http://schemas.microsoft.com/office/drawing/2014/main" id="{97FFAFB8-98FE-87F9-64F6-59CE2B4FF897}"/>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AA2EBDF3-6208-1263-3491-FE2A5FAC4A9D}"/>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220298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C79159-36B5-494A-97E2-560A1688743C}"/>
              </a:ext>
            </a:extLst>
          </p:cNvPr>
          <p:cNvSpPr/>
          <p:nvPr/>
        </p:nvSpPr>
        <p:spPr>
          <a:xfrm>
            <a:off x="825500" y="1511300"/>
            <a:ext cx="10645588" cy="546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F5DC535-23DD-4E2D-8D31-2944C0F9F395}"/>
              </a:ext>
            </a:extLst>
          </p:cNvPr>
          <p:cNvSpPr>
            <a:spLocks noGrp="1"/>
          </p:cNvSpPr>
          <p:nvPr>
            <p:ph type="sldNum" sz="quarter" idx="12"/>
          </p:nvPr>
        </p:nvSpPr>
        <p:spPr/>
        <p:txBody>
          <a:bodyPr/>
          <a:lstStyle/>
          <a:p>
            <a:fld id="{CB38A507-EE2F-4DA2-8FD6-EA9443559B23}" type="slidenum">
              <a:rPr lang="en-US" smtClean="0"/>
              <a:t>22</a:t>
            </a:fld>
            <a:endParaRPr lang="en-US"/>
          </a:p>
        </p:txBody>
      </p:sp>
      <p:pic>
        <p:nvPicPr>
          <p:cNvPr id="8" name="Google Shape;67;p15">
            <a:extLst>
              <a:ext uri="{FF2B5EF4-FFF2-40B4-BE49-F238E27FC236}">
                <a16:creationId xmlns:a16="http://schemas.microsoft.com/office/drawing/2014/main" id="{05E91A28-20C3-434E-AF6D-C6CD1B256F91}"/>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1" name="Title 1">
            <a:extLst>
              <a:ext uri="{FF2B5EF4-FFF2-40B4-BE49-F238E27FC236}">
                <a16:creationId xmlns:a16="http://schemas.microsoft.com/office/drawing/2014/main" id="{8B1A2FCE-239E-41AD-BF19-9EDB25D87EFD}"/>
              </a:ext>
            </a:extLst>
          </p:cNvPr>
          <p:cNvSpPr>
            <a:spLocks noGrp="1"/>
          </p:cNvSpPr>
          <p:nvPr>
            <p:ph type="title"/>
          </p:nvPr>
        </p:nvSpPr>
        <p:spPr>
          <a:xfrm>
            <a:off x="1097280" y="286603"/>
            <a:ext cx="10058400" cy="1450757"/>
          </a:xfrm>
        </p:spPr>
        <p:txBody>
          <a:bodyPr>
            <a:normAutofit/>
          </a:bodyPr>
          <a:lstStyle/>
          <a:p>
            <a:r>
              <a:rPr lang="th-TH" sz="4000" dirty="0">
                <a:cs typeface="Angsana New"/>
              </a:rPr>
              <a:t>Physical System vs Simulation</a:t>
            </a:r>
            <a:endParaRPr lang="en-US" dirty="0"/>
          </a:p>
        </p:txBody>
      </p:sp>
      <p:cxnSp>
        <p:nvCxnSpPr>
          <p:cNvPr id="18" name="Connector: Elbow 17">
            <a:extLst>
              <a:ext uri="{FF2B5EF4-FFF2-40B4-BE49-F238E27FC236}">
                <a16:creationId xmlns:a16="http://schemas.microsoft.com/office/drawing/2014/main" id="{874FBF18-9E12-40CB-B6E4-CCAAED3D54DE}"/>
              </a:ext>
            </a:extLst>
          </p:cNvPr>
          <p:cNvCxnSpPr>
            <a:cxnSpLocks/>
          </p:cNvCxnSpPr>
          <p:nvPr/>
        </p:nvCxnSpPr>
        <p:spPr>
          <a:xfrm rot="5400000">
            <a:off x="6089650" y="440032"/>
            <a:ext cx="6350" cy="8104816"/>
          </a:xfrm>
          <a:prstGeom prst="bentConnector3">
            <a:avLst>
              <a:gd name="adj1" fmla="val 13411638"/>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F2A9BDC-0027-42F5-90FA-BDD63BB0BFFC}"/>
              </a:ext>
            </a:extLst>
          </p:cNvPr>
          <p:cNvCxnSpPr>
            <a:cxnSpLocks/>
          </p:cNvCxnSpPr>
          <p:nvPr/>
        </p:nvCxnSpPr>
        <p:spPr>
          <a:xfrm rot="5400000" flipH="1" flipV="1">
            <a:off x="6089650" y="-797261"/>
            <a:ext cx="6350" cy="8104816"/>
          </a:xfrm>
          <a:prstGeom prst="bentConnector3">
            <a:avLst>
              <a:gd name="adj1" fmla="val 117372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900E25-EC8A-4B1E-BE50-026134321814}"/>
              </a:ext>
            </a:extLst>
          </p:cNvPr>
          <p:cNvCxnSpPr>
            <a:cxnSpLocks/>
            <a:stCxn id="25" idx="3"/>
            <a:endCxn id="19458" idx="1"/>
          </p:cNvCxnSpPr>
          <p:nvPr/>
        </p:nvCxnSpPr>
        <p:spPr>
          <a:xfrm>
            <a:off x="7148733" y="3870617"/>
            <a:ext cx="1741672" cy="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pic>
        <p:nvPicPr>
          <p:cNvPr id="19458" name="Picture 2" descr="Turtlebot model in gazebo | Download Scientific Diagram">
            <a:extLst>
              <a:ext uri="{FF2B5EF4-FFF2-40B4-BE49-F238E27FC236}">
                <a16:creationId xmlns:a16="http://schemas.microsoft.com/office/drawing/2014/main" id="{A316E4D1-5329-4AD3-9D41-BFCCE10B88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405" y="3210870"/>
            <a:ext cx="2356241" cy="13194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urtlebot 2 – Dabit Industries">
            <a:extLst>
              <a:ext uri="{FF2B5EF4-FFF2-40B4-BE49-F238E27FC236}">
                <a16:creationId xmlns:a16="http://schemas.microsoft.com/office/drawing/2014/main" id="{12657E47-F324-4AEF-A935-EFB1B71A4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3733" y="2918117"/>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7A660E38-56BA-486E-99C8-C28F3821E596}"/>
              </a:ext>
            </a:extLst>
          </p:cNvPr>
          <p:cNvSpPr txBox="1"/>
          <p:nvPr/>
        </p:nvSpPr>
        <p:spPr>
          <a:xfrm>
            <a:off x="5064743" y="1994155"/>
            <a:ext cx="3432626" cy="954107"/>
          </a:xfrm>
          <a:prstGeom prst="rect">
            <a:avLst/>
          </a:prstGeom>
          <a:noFill/>
        </p:spPr>
        <p:txBody>
          <a:bodyPr wrap="square" lIns="91440" tIns="45720" rIns="91440" bIns="45720" rtlCol="0" anchor="t">
            <a:spAutoFit/>
          </a:bodyPr>
          <a:lstStyle/>
          <a:p>
            <a:r>
              <a:rPr lang="th-TH" sz="2800">
                <a:cs typeface="Cordia New"/>
              </a:rPr>
              <a:t>A </a:t>
            </a:r>
            <a:r>
              <a:rPr lang="th-TH" sz="2800" err="1">
                <a:cs typeface="Cordia New"/>
              </a:rPr>
              <a:t>robot</a:t>
            </a:r>
            <a:r>
              <a:rPr lang="th-TH" sz="2800">
                <a:cs typeface="Cordia New"/>
              </a:rPr>
              <a:t> </a:t>
            </a:r>
            <a:r>
              <a:rPr lang="th-TH" sz="2800" err="1">
                <a:cs typeface="Cordia New"/>
              </a:rPr>
              <a:t>needs</a:t>
            </a:r>
            <a:r>
              <a:rPr lang="th-TH" sz="2800">
                <a:cs typeface="Cordia New"/>
              </a:rPr>
              <a:t> a </a:t>
            </a:r>
            <a:r>
              <a:rPr lang="th-TH" sz="2800" err="1">
                <a:cs typeface="Cordia New"/>
              </a:rPr>
              <a:t>computer</a:t>
            </a:r>
            <a:r>
              <a:rPr lang="th-TH" sz="2800">
                <a:cs typeface="Cordia New"/>
              </a:rPr>
              <a:t>.</a:t>
            </a:r>
            <a:endParaRPr lang="en-US"/>
          </a:p>
        </p:txBody>
      </p:sp>
      <p:sp>
        <p:nvSpPr>
          <p:cNvPr id="16" name="TextBox 15">
            <a:extLst>
              <a:ext uri="{FF2B5EF4-FFF2-40B4-BE49-F238E27FC236}">
                <a16:creationId xmlns:a16="http://schemas.microsoft.com/office/drawing/2014/main" id="{A51941A8-885D-4784-A5FF-1C084C75A70F}"/>
              </a:ext>
            </a:extLst>
          </p:cNvPr>
          <p:cNvSpPr txBox="1"/>
          <p:nvPr/>
        </p:nvSpPr>
        <p:spPr>
          <a:xfrm>
            <a:off x="8346465" y="4556660"/>
            <a:ext cx="4217992" cy="523220"/>
          </a:xfrm>
          <a:prstGeom prst="rect">
            <a:avLst/>
          </a:prstGeom>
          <a:noFill/>
        </p:spPr>
        <p:txBody>
          <a:bodyPr wrap="square" lIns="91440" tIns="45720" rIns="91440" bIns="45720" rtlCol="0" anchor="t">
            <a:spAutoFit/>
          </a:bodyPr>
          <a:lstStyle/>
          <a:p>
            <a:r>
              <a:rPr lang="en-US" sz="2800"/>
              <a:t>So does the simulation.</a:t>
            </a:r>
            <a:endParaRPr lang="en-US"/>
          </a:p>
        </p:txBody>
      </p:sp>
      <p:sp>
        <p:nvSpPr>
          <p:cNvPr id="3" name="Rectangle: Rounded Corners 2">
            <a:extLst>
              <a:ext uri="{FF2B5EF4-FFF2-40B4-BE49-F238E27FC236}">
                <a16:creationId xmlns:a16="http://schemas.microsoft.com/office/drawing/2014/main" id="{42A4CAB7-9037-2865-B097-16E4D582CAC9}"/>
              </a:ext>
            </a:extLst>
          </p:cNvPr>
          <p:cNvSpPr/>
          <p:nvPr/>
        </p:nvSpPr>
        <p:spPr>
          <a:xfrm>
            <a:off x="442614" y="3258322"/>
            <a:ext cx="3290855" cy="1237293"/>
          </a:xfrm>
          <a:prstGeom prst="roundRect">
            <a:avLst/>
          </a:prstGeom>
          <a:solidFill>
            <a:schemeClr val="accent1"/>
          </a:solid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th-TH" sz="2800" err="1">
                <a:solidFill>
                  <a:schemeClr val="tx1"/>
                </a:solidFill>
                <a:cs typeface="Cordia New"/>
              </a:rPr>
              <a:t>Algorithm</a:t>
            </a:r>
            <a:endParaRPr lang="en-US" err="1"/>
          </a:p>
        </p:txBody>
      </p:sp>
      <p:sp>
        <p:nvSpPr>
          <p:cNvPr id="5" name="TextBox 4">
            <a:extLst>
              <a:ext uri="{FF2B5EF4-FFF2-40B4-BE49-F238E27FC236}">
                <a16:creationId xmlns:a16="http://schemas.microsoft.com/office/drawing/2014/main" id="{9C3AD107-676E-6D64-EACD-B8218A040A18}"/>
              </a:ext>
            </a:extLst>
          </p:cNvPr>
          <p:cNvSpPr txBox="1"/>
          <p:nvPr/>
        </p:nvSpPr>
        <p:spPr>
          <a:xfrm>
            <a:off x="2593331" y="5605195"/>
            <a:ext cx="6489500" cy="523220"/>
          </a:xfrm>
          <a:prstGeom prst="rect">
            <a:avLst/>
          </a:prstGeom>
          <a:noFill/>
        </p:spPr>
        <p:txBody>
          <a:bodyPr wrap="square" lIns="91440" tIns="45720" rIns="91440" bIns="45720" rtlCol="0" anchor="t">
            <a:spAutoFit/>
          </a:bodyPr>
          <a:lstStyle/>
          <a:p>
            <a:r>
              <a:rPr lang="en-US" sz="2800"/>
              <a:t>Q2.) </a:t>
            </a:r>
            <a:r>
              <a:rPr lang="en-US" sz="2800">
                <a:cs typeface="Calibri"/>
              </a:rPr>
              <a:t>Which one should be more powerful ?</a:t>
            </a:r>
            <a:endParaRPr lang="th-TH" sz="2800">
              <a:cs typeface="Cordia New"/>
            </a:endParaRPr>
          </a:p>
        </p:txBody>
      </p:sp>
      <p:sp>
        <p:nvSpPr>
          <p:cNvPr id="6" name="TextBox 5">
            <a:extLst>
              <a:ext uri="{FF2B5EF4-FFF2-40B4-BE49-F238E27FC236}">
                <a16:creationId xmlns:a16="http://schemas.microsoft.com/office/drawing/2014/main" id="{82B8A184-6347-C706-D2FF-7FEDA224F69E}"/>
              </a:ext>
            </a:extLst>
          </p:cNvPr>
          <p:cNvSpPr txBox="1"/>
          <p:nvPr/>
        </p:nvSpPr>
        <p:spPr>
          <a:xfrm>
            <a:off x="98612" y="6462993"/>
            <a:ext cx="2374526"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A7A010BF-BD6D-9B9E-E0B7-A7108310FFDE}"/>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862768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9"/>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latin typeface="Arial"/>
                <a:ea typeface="Arial"/>
                <a:cs typeface="Arial"/>
                <a:sym typeface="Arial"/>
              </a:rPr>
              <a:t>Introduction to ROS2</a:t>
            </a:r>
            <a:endParaRPr dirty="0"/>
          </a:p>
        </p:txBody>
      </p:sp>
      <p:sp>
        <p:nvSpPr>
          <p:cNvPr id="465" name="Google Shape;465;p39"/>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23</a:t>
            </a:fld>
            <a:endParaRPr/>
          </a:p>
        </p:txBody>
      </p:sp>
      <p:pic>
        <p:nvPicPr>
          <p:cNvPr id="466" name="Google Shape;466;p39"/>
          <p:cNvPicPr preferRelativeResize="0"/>
          <p:nvPr/>
        </p:nvPicPr>
        <p:blipFill>
          <a:blip r:embed="rId3">
            <a:alphaModFix/>
          </a:blip>
          <a:stretch>
            <a:fillRect/>
          </a:stretch>
        </p:blipFill>
        <p:spPr>
          <a:xfrm>
            <a:off x="801175" y="874075"/>
            <a:ext cx="10206774" cy="5109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0"/>
          <p:cNvSpPr txBox="1">
            <a:spLocks noGrp="1"/>
          </p:cNvSpPr>
          <p:nvPr>
            <p:ph type="ctrTitle"/>
          </p:nvPr>
        </p:nvSpPr>
        <p:spPr>
          <a:xfrm>
            <a:off x="0" y="3124200"/>
            <a:ext cx="12192000" cy="791100"/>
          </a:xfrm>
          <a:prstGeom prst="rect">
            <a:avLst/>
          </a:prstGeom>
          <a:solidFill>
            <a:schemeClr val="lt2"/>
          </a:solidFill>
          <a:ln>
            <a:noFill/>
          </a:ln>
        </p:spPr>
        <p:txBody>
          <a:bodyPr spcFirstLastPara="1" wrap="square" lIns="0" tIns="45700" rIns="91425" bIns="45700" anchor="b" anchorCtr="0">
            <a:normAutofit/>
          </a:bodyPr>
          <a:lstStyle/>
          <a:p>
            <a:pPr marL="0" lvl="0" indent="0" algn="ctr" rtl="0">
              <a:lnSpc>
                <a:spcPct val="85000"/>
              </a:lnSpc>
              <a:spcBef>
                <a:spcPts val="0"/>
              </a:spcBef>
              <a:spcAft>
                <a:spcPts val="0"/>
              </a:spcAft>
              <a:buClr>
                <a:schemeClr val="dk1"/>
              </a:buClr>
              <a:buSzPts val="4000"/>
              <a:buFont typeface="Arial"/>
              <a:buNone/>
            </a:pPr>
            <a:r>
              <a:rPr lang="en-US" sz="4000">
                <a:latin typeface="Arial"/>
                <a:ea typeface="Arial"/>
                <a:cs typeface="Arial"/>
                <a:sym typeface="Arial"/>
              </a:rPr>
              <a:t>ROS2</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1"/>
          <p:cNvSpPr txBox="1">
            <a:spLocks noGrp="1"/>
          </p:cNvSpPr>
          <p:nvPr>
            <p:ph type="title"/>
          </p:nvPr>
        </p:nvSpPr>
        <p:spPr>
          <a:xfrm>
            <a:off x="259876" y="434100"/>
            <a:ext cx="109920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Issues from using ROS(1)</a:t>
            </a:r>
            <a:endParaRPr/>
          </a:p>
        </p:txBody>
      </p:sp>
      <p:sp>
        <p:nvSpPr>
          <p:cNvPr id="477" name="Google Shape;477;p41"/>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78" name="Google Shape;478;p41"/>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25</a:t>
            </a:fld>
            <a:endParaRPr/>
          </a:p>
        </p:txBody>
      </p:sp>
      <p:sp>
        <p:nvSpPr>
          <p:cNvPr id="479" name="Google Shape;479;p41"/>
          <p:cNvSpPr/>
          <p:nvPr/>
        </p:nvSpPr>
        <p:spPr>
          <a:xfrm>
            <a:off x="815800" y="1824950"/>
            <a:ext cx="4334700" cy="184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ROS was not designed to support a system of multiple robots due to its used of a single master node.</a:t>
            </a:r>
            <a:endParaRPr sz="2200">
              <a:latin typeface="Georgia"/>
              <a:ea typeface="Georgia"/>
              <a:cs typeface="Georgia"/>
              <a:sym typeface="Georgia"/>
            </a:endParaRPr>
          </a:p>
        </p:txBody>
      </p:sp>
      <p:sp>
        <p:nvSpPr>
          <p:cNvPr id="480" name="Google Shape;480;p41"/>
          <p:cNvSpPr/>
          <p:nvPr/>
        </p:nvSpPr>
        <p:spPr>
          <a:xfrm>
            <a:off x="5965375" y="4169800"/>
            <a:ext cx="4334700" cy="184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ROS was essentially a centralized system, which is not designed to support multi-agent system.</a:t>
            </a:r>
            <a:endParaRPr sz="2200">
              <a:latin typeface="Georgia"/>
              <a:ea typeface="Georgia"/>
              <a:cs typeface="Georgia"/>
              <a:sym typeface="Georgia"/>
            </a:endParaRPr>
          </a:p>
        </p:txBody>
      </p:sp>
      <p:sp>
        <p:nvSpPr>
          <p:cNvPr id="481" name="Google Shape;481;p41"/>
          <p:cNvSpPr/>
          <p:nvPr/>
        </p:nvSpPr>
        <p:spPr>
          <a:xfrm>
            <a:off x="5965375" y="1824950"/>
            <a:ext cx="4334700" cy="184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The paradigm of communication was not design to support real time operation,</a:t>
            </a:r>
            <a:endParaRPr sz="2200">
              <a:latin typeface="Georgia"/>
              <a:ea typeface="Georgia"/>
              <a:cs typeface="Georgia"/>
              <a:sym typeface="Georgia"/>
            </a:endParaRPr>
          </a:p>
        </p:txBody>
      </p:sp>
      <p:sp>
        <p:nvSpPr>
          <p:cNvPr id="482" name="Google Shape;482;p41"/>
          <p:cNvSpPr/>
          <p:nvPr/>
        </p:nvSpPr>
        <p:spPr>
          <a:xfrm>
            <a:off x="815800" y="4169800"/>
            <a:ext cx="4334700" cy="184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ROS was designed so that the resources should be loca (contains within the computer) for optimal performance.</a:t>
            </a:r>
            <a:endParaRPr sz="2200">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2"/>
          <p:cNvSpPr txBox="1">
            <a:spLocks noGrp="1"/>
          </p:cNvSpPr>
          <p:nvPr>
            <p:ph type="title"/>
          </p:nvPr>
        </p:nvSpPr>
        <p:spPr>
          <a:xfrm>
            <a:off x="259876" y="434100"/>
            <a:ext cx="109920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ROS2</a:t>
            </a:r>
            <a:endParaRPr/>
          </a:p>
        </p:txBody>
      </p:sp>
      <p:sp>
        <p:nvSpPr>
          <p:cNvPr id="488" name="Google Shape;488;p42"/>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489" name="Google Shape;489;p42"/>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26</a:t>
            </a:fld>
            <a:endParaRPr/>
          </a:p>
        </p:txBody>
      </p:sp>
      <p:pic>
        <p:nvPicPr>
          <p:cNvPr id="490" name="Google Shape;490;p42"/>
          <p:cNvPicPr preferRelativeResize="0"/>
          <p:nvPr/>
        </p:nvPicPr>
        <p:blipFill>
          <a:blip r:embed="rId3">
            <a:alphaModFix/>
          </a:blip>
          <a:stretch>
            <a:fillRect/>
          </a:stretch>
        </p:blipFill>
        <p:spPr>
          <a:xfrm>
            <a:off x="897850" y="2638425"/>
            <a:ext cx="2495550" cy="1581150"/>
          </a:xfrm>
          <a:prstGeom prst="rect">
            <a:avLst/>
          </a:prstGeom>
          <a:noFill/>
          <a:ln>
            <a:noFill/>
          </a:ln>
        </p:spPr>
      </p:pic>
      <p:sp>
        <p:nvSpPr>
          <p:cNvPr id="491" name="Google Shape;491;p42"/>
          <p:cNvSpPr/>
          <p:nvPr/>
        </p:nvSpPr>
        <p:spPr>
          <a:xfrm>
            <a:off x="4657025" y="1425525"/>
            <a:ext cx="6801900" cy="1212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Utilize Data Distribution instead of TCPROS</a:t>
            </a:r>
            <a:endParaRPr sz="2200">
              <a:latin typeface="Georgia"/>
              <a:ea typeface="Georgia"/>
              <a:cs typeface="Georgia"/>
              <a:sym typeface="Georgia"/>
            </a:endParaRPr>
          </a:p>
        </p:txBody>
      </p:sp>
      <p:sp>
        <p:nvSpPr>
          <p:cNvPr id="492" name="Google Shape;492;p42"/>
          <p:cNvSpPr/>
          <p:nvPr/>
        </p:nvSpPr>
        <p:spPr>
          <a:xfrm>
            <a:off x="4657025" y="3082600"/>
            <a:ext cx="6801900" cy="1212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No Central Master.</a:t>
            </a:r>
            <a:endParaRPr sz="2200">
              <a:latin typeface="Georgia"/>
              <a:ea typeface="Georgia"/>
              <a:cs typeface="Georgia"/>
              <a:sym typeface="Georgia"/>
            </a:endParaRPr>
          </a:p>
        </p:txBody>
      </p:sp>
      <p:sp>
        <p:nvSpPr>
          <p:cNvPr id="493" name="Google Shape;493;p42"/>
          <p:cNvSpPr/>
          <p:nvPr/>
        </p:nvSpPr>
        <p:spPr>
          <a:xfrm>
            <a:off x="4657025" y="4739675"/>
            <a:ext cx="6801900" cy="1212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latin typeface="Georgia"/>
                <a:ea typeface="Georgia"/>
                <a:cs typeface="Georgia"/>
                <a:sym typeface="Georgia"/>
              </a:rPr>
              <a:t>Real-time Capability (deterministic execution, executor-based scheduling)</a:t>
            </a:r>
            <a:endParaRPr sz="2200">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3"/>
          <p:cNvSpPr txBox="1">
            <a:spLocks noGrp="1"/>
          </p:cNvSpPr>
          <p:nvPr>
            <p:ph type="title"/>
          </p:nvPr>
        </p:nvSpPr>
        <p:spPr>
          <a:xfrm>
            <a:off x="259876" y="434100"/>
            <a:ext cx="109920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Distribution (Distro)</a:t>
            </a:r>
            <a:endParaRPr/>
          </a:p>
        </p:txBody>
      </p:sp>
      <p:sp>
        <p:nvSpPr>
          <p:cNvPr id="499" name="Google Shape;499;p43"/>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500" name="Google Shape;500;p43"/>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27</a:t>
            </a:fld>
            <a:endParaRPr/>
          </a:p>
        </p:txBody>
      </p:sp>
      <p:sp>
        <p:nvSpPr>
          <p:cNvPr id="502" name="Google Shape;502;p43"/>
          <p:cNvSpPr txBox="1"/>
          <p:nvPr/>
        </p:nvSpPr>
        <p:spPr>
          <a:xfrm>
            <a:off x="198225" y="1438875"/>
            <a:ext cx="2321400" cy="266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solidFill>
                  <a:schemeClr val="dk1"/>
                </a:solidFill>
                <a:latin typeface="Georgia"/>
                <a:ea typeface="Georgia"/>
                <a:cs typeface="Georgia"/>
                <a:sym typeface="Georgia"/>
              </a:rPr>
              <a:t>The LTS distro is released in even number years (i.e. 2022,2024, 2026,...)</a:t>
            </a:r>
            <a:endParaRPr sz="1600" dirty="0">
              <a:solidFill>
                <a:schemeClr val="dk1"/>
              </a:solidFill>
              <a:latin typeface="Georgia"/>
              <a:ea typeface="Georgia"/>
              <a:cs typeface="Georgia"/>
              <a:sym typeface="Georgia"/>
            </a:endParaRPr>
          </a:p>
        </p:txBody>
      </p:sp>
      <p:pic>
        <p:nvPicPr>
          <p:cNvPr id="3" name="Picture 2">
            <a:extLst>
              <a:ext uri="{FF2B5EF4-FFF2-40B4-BE49-F238E27FC236}">
                <a16:creationId xmlns:a16="http://schemas.microsoft.com/office/drawing/2014/main" id="{27B96B4D-06EB-723A-1D9F-C140B55B3883}"/>
              </a:ext>
            </a:extLst>
          </p:cNvPr>
          <p:cNvPicPr>
            <a:picLocks noChangeAspect="1"/>
          </p:cNvPicPr>
          <p:nvPr/>
        </p:nvPicPr>
        <p:blipFill>
          <a:blip r:embed="rId3"/>
          <a:stretch>
            <a:fillRect/>
          </a:stretch>
        </p:blipFill>
        <p:spPr>
          <a:xfrm>
            <a:off x="3323384" y="1203949"/>
            <a:ext cx="5738320" cy="51618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8"/>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28</a:t>
            </a:fld>
            <a:endParaRPr/>
          </a:p>
        </p:txBody>
      </p:sp>
      <p:sp>
        <p:nvSpPr>
          <p:cNvPr id="566" name="Google Shape;566;p48"/>
          <p:cNvSpPr txBox="1"/>
          <p:nvPr/>
        </p:nvSpPr>
        <p:spPr>
          <a:xfrm>
            <a:off x="259875"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turtlesim_node</a:t>
            </a:r>
            <a:endParaRPr/>
          </a:p>
        </p:txBody>
      </p:sp>
      <p:sp>
        <p:nvSpPr>
          <p:cNvPr id="567" name="Google Shape;567;p48"/>
          <p:cNvSpPr txBox="1"/>
          <p:nvPr/>
        </p:nvSpPr>
        <p:spPr>
          <a:xfrm>
            <a:off x="6449050"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turtle_teleop_key</a:t>
            </a:r>
            <a:endParaRPr/>
          </a:p>
        </p:txBody>
      </p:sp>
      <p:sp>
        <p:nvSpPr>
          <p:cNvPr id="568" name="Google Shape;568;p48"/>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The Construct (Emulating ROS2 environment)</a:t>
            </a:r>
            <a:endParaRPr/>
          </a:p>
        </p:txBody>
      </p:sp>
      <p:sp>
        <p:nvSpPr>
          <p:cNvPr id="569" name="Google Shape;569;p48"/>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570" name="Google Shape;570;p48"/>
          <p:cNvSpPr txBox="1"/>
          <p:nvPr/>
        </p:nvSpPr>
        <p:spPr>
          <a:xfrm>
            <a:off x="233725" y="1396775"/>
            <a:ext cx="6102600" cy="29349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Georgia"/>
              <a:buAutoNum type="arabicPeriod"/>
            </a:pPr>
            <a:r>
              <a:rPr lang="en-US" sz="2200">
                <a:solidFill>
                  <a:schemeClr val="dk1"/>
                </a:solidFill>
                <a:latin typeface="Georgia"/>
                <a:ea typeface="Georgia"/>
                <a:cs typeface="Georgia"/>
                <a:sym typeface="Georgia"/>
              </a:rPr>
              <a:t>Go to </a:t>
            </a:r>
            <a:r>
              <a:rPr lang="en-US" sz="2200" u="sng">
                <a:solidFill>
                  <a:schemeClr val="hlink"/>
                </a:solidFill>
                <a:latin typeface="Georgia"/>
                <a:ea typeface="Georgia"/>
                <a:cs typeface="Georgia"/>
                <a:sym typeface="Georgia"/>
                <a:hlinkClick r:id="rId3"/>
              </a:rPr>
              <a:t>https://app.theconstruct.ai/</a:t>
            </a:r>
            <a:r>
              <a:rPr lang="en-US" sz="2200">
                <a:solidFill>
                  <a:schemeClr val="dk1"/>
                </a:solidFill>
                <a:latin typeface="Georgia"/>
                <a:ea typeface="Georgia"/>
                <a:cs typeface="Georgia"/>
                <a:sym typeface="Georgia"/>
              </a:rPr>
              <a:t> </a:t>
            </a:r>
            <a:endParaRPr sz="2200">
              <a:solidFill>
                <a:schemeClr val="dk1"/>
              </a:solidFill>
              <a:latin typeface="Georgia"/>
              <a:ea typeface="Georgia"/>
              <a:cs typeface="Georgia"/>
              <a:sym typeface="Georgia"/>
            </a:endParaRPr>
          </a:p>
          <a:p>
            <a:pPr marL="457200" lvl="0" indent="-368300" algn="l" rtl="0">
              <a:spcBef>
                <a:spcPts val="0"/>
              </a:spcBef>
              <a:spcAft>
                <a:spcPts val="0"/>
              </a:spcAft>
              <a:buClr>
                <a:schemeClr val="dk1"/>
              </a:buClr>
              <a:buSzPts val="2200"/>
              <a:buFont typeface="Georgia"/>
              <a:buAutoNum type="arabicPeriod"/>
            </a:pPr>
            <a:r>
              <a:rPr lang="en-US" sz="2200">
                <a:solidFill>
                  <a:schemeClr val="dk1"/>
                </a:solidFill>
                <a:latin typeface="Georgia"/>
                <a:ea typeface="Georgia"/>
                <a:cs typeface="Georgia"/>
                <a:sym typeface="Georgia"/>
              </a:rPr>
              <a:t>Register a new free account or log in with your Google account</a:t>
            </a:r>
            <a:endParaRPr sz="2200">
              <a:solidFill>
                <a:schemeClr val="dk1"/>
              </a:solidFill>
              <a:latin typeface="Georgia"/>
              <a:ea typeface="Georgia"/>
              <a:cs typeface="Georgia"/>
              <a:sym typeface="Georgia"/>
            </a:endParaRPr>
          </a:p>
          <a:p>
            <a:pPr marL="457200" lvl="0" indent="-368300" algn="l" rtl="0">
              <a:spcBef>
                <a:spcPts val="0"/>
              </a:spcBef>
              <a:spcAft>
                <a:spcPts val="0"/>
              </a:spcAft>
              <a:buClr>
                <a:schemeClr val="dk1"/>
              </a:buClr>
              <a:buSzPts val="2200"/>
              <a:buFont typeface="Georgia"/>
              <a:buAutoNum type="arabicPeriod"/>
            </a:pPr>
            <a:r>
              <a:rPr lang="en-US" sz="2200">
                <a:solidFill>
                  <a:schemeClr val="dk1"/>
                </a:solidFill>
                <a:latin typeface="Georgia"/>
                <a:ea typeface="Georgia"/>
                <a:cs typeface="Georgia"/>
                <a:sym typeface="Georgia"/>
              </a:rPr>
              <a:t>Click on “My Rosjects” folder then “Create a New Rosject”</a:t>
            </a:r>
            <a:endParaRPr sz="2200">
              <a:solidFill>
                <a:schemeClr val="dk1"/>
              </a:solidFill>
              <a:latin typeface="Georgia"/>
              <a:ea typeface="Georgia"/>
              <a:cs typeface="Georgia"/>
              <a:sym typeface="Georgia"/>
            </a:endParaRPr>
          </a:p>
          <a:p>
            <a:pPr marL="457200" lvl="0" indent="-368300" algn="l" rtl="0">
              <a:spcBef>
                <a:spcPts val="0"/>
              </a:spcBef>
              <a:spcAft>
                <a:spcPts val="0"/>
              </a:spcAft>
              <a:buClr>
                <a:schemeClr val="dk1"/>
              </a:buClr>
              <a:buSzPts val="2200"/>
              <a:buFont typeface="Georgia"/>
              <a:buAutoNum type="arabicPeriod"/>
            </a:pPr>
            <a:r>
              <a:rPr lang="en-US" sz="2200">
                <a:solidFill>
                  <a:schemeClr val="dk1"/>
                </a:solidFill>
                <a:latin typeface="Georgia"/>
                <a:ea typeface="Georgia"/>
                <a:cs typeface="Georgia"/>
                <a:sym typeface="Georgia"/>
              </a:rPr>
              <a:t>Name your Rosject, select the desired Distro (Jazzy), and select blank simulation</a:t>
            </a:r>
            <a:endParaRPr sz="2200">
              <a:solidFill>
                <a:schemeClr val="dk1"/>
              </a:solidFill>
              <a:latin typeface="Georgia"/>
              <a:ea typeface="Georgia"/>
              <a:cs typeface="Georgia"/>
              <a:sym typeface="Georgia"/>
            </a:endParaRPr>
          </a:p>
        </p:txBody>
      </p:sp>
      <p:sp>
        <p:nvSpPr>
          <p:cNvPr id="571" name="Google Shape;571;p48"/>
          <p:cNvSpPr txBox="1"/>
          <p:nvPr/>
        </p:nvSpPr>
        <p:spPr>
          <a:xfrm>
            <a:off x="244800" y="4564400"/>
            <a:ext cx="5726100" cy="64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In the first terminal, run this command</a:t>
            </a:r>
            <a:endParaRPr sz="2400">
              <a:solidFill>
                <a:schemeClr val="dk1"/>
              </a:solidFill>
              <a:latin typeface="Georgia"/>
              <a:ea typeface="Georgia"/>
              <a:cs typeface="Georgia"/>
              <a:sym typeface="Georgia"/>
            </a:endParaRPr>
          </a:p>
        </p:txBody>
      </p:sp>
      <p:sp>
        <p:nvSpPr>
          <p:cNvPr id="572" name="Google Shape;572;p48"/>
          <p:cNvSpPr txBox="1"/>
          <p:nvPr/>
        </p:nvSpPr>
        <p:spPr>
          <a:xfrm>
            <a:off x="6449050" y="4625988"/>
            <a:ext cx="5726100" cy="64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In a new terminal , run this command</a:t>
            </a:r>
            <a:endParaRPr sz="2400">
              <a:solidFill>
                <a:schemeClr val="dk1"/>
              </a:solidFill>
              <a:latin typeface="Georgia"/>
              <a:ea typeface="Georgia"/>
              <a:cs typeface="Georgia"/>
              <a:sym typeface="Georgia"/>
            </a:endParaRPr>
          </a:p>
        </p:txBody>
      </p:sp>
      <p:pic>
        <p:nvPicPr>
          <p:cNvPr id="573" name="Google Shape;573;p48"/>
          <p:cNvPicPr preferRelativeResize="0"/>
          <p:nvPr/>
        </p:nvPicPr>
        <p:blipFill>
          <a:blip r:embed="rId4">
            <a:alphaModFix/>
          </a:blip>
          <a:stretch>
            <a:fillRect/>
          </a:stretch>
        </p:blipFill>
        <p:spPr>
          <a:xfrm>
            <a:off x="6488725" y="1482300"/>
            <a:ext cx="5386140" cy="299128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778EC-4299-4DEB-97C2-435CA3940AAB}"/>
              </a:ext>
            </a:extLst>
          </p:cNvPr>
          <p:cNvSpPr>
            <a:spLocks noGrp="1"/>
          </p:cNvSpPr>
          <p:nvPr>
            <p:ph type="title"/>
          </p:nvPr>
        </p:nvSpPr>
        <p:spPr/>
        <p:txBody>
          <a:bodyPr/>
          <a:lstStyle/>
          <a:p>
            <a:r>
              <a:rPr lang="en-US" dirty="0"/>
              <a:t>Ubuntu : Common Command </a:t>
            </a:r>
            <a:endParaRPr lang="th-TH" dirty="0">
              <a:cs typeface="Angsana New"/>
            </a:endParaRPr>
          </a:p>
        </p:txBody>
      </p:sp>
      <p:pic>
        <p:nvPicPr>
          <p:cNvPr id="24" name="Google Shape;67;p15">
            <a:extLst>
              <a:ext uri="{FF2B5EF4-FFF2-40B4-BE49-F238E27FC236}">
                <a16:creationId xmlns:a16="http://schemas.microsoft.com/office/drawing/2014/main" id="{72FF546C-FCF4-46DA-8CEC-97549F82E482}"/>
              </a:ext>
            </a:extLst>
          </p:cNvPr>
          <p:cNvPicPr preferRelativeResize="0"/>
          <p:nvPr/>
        </p:nvPicPr>
        <p:blipFill rotWithShape="1">
          <a:blip r:embed="rId2">
            <a:alphaModFix/>
          </a:blip>
          <a:srcRect r="9974"/>
          <a:stretch/>
        </p:blipFill>
        <p:spPr>
          <a:xfrm>
            <a:off x="11151038" y="40772"/>
            <a:ext cx="1653550" cy="232750"/>
          </a:xfrm>
          <a:prstGeom prst="rect">
            <a:avLst/>
          </a:prstGeom>
          <a:noFill/>
          <a:ln>
            <a:noFill/>
          </a:ln>
        </p:spPr>
      </p:pic>
      <p:sp>
        <p:nvSpPr>
          <p:cNvPr id="26" name="Slide Number Placeholder 25">
            <a:extLst>
              <a:ext uri="{FF2B5EF4-FFF2-40B4-BE49-F238E27FC236}">
                <a16:creationId xmlns:a16="http://schemas.microsoft.com/office/drawing/2014/main" id="{45D7219D-8258-4277-864E-1F212BFA5F62}"/>
              </a:ext>
            </a:extLst>
          </p:cNvPr>
          <p:cNvSpPr>
            <a:spLocks noGrp="1"/>
          </p:cNvSpPr>
          <p:nvPr>
            <p:ph type="sldNum" sz="quarter" idx="12"/>
          </p:nvPr>
        </p:nvSpPr>
        <p:spPr/>
        <p:txBody>
          <a:bodyPr/>
          <a:lstStyle/>
          <a:p>
            <a:fld id="{CB38A507-EE2F-4DA2-8FD6-EA9443559B23}" type="slidenum">
              <a:rPr lang="en-US" dirty="0" smtClean="0"/>
              <a:t>29</a:t>
            </a:fld>
            <a:endParaRPr lang="en-US" dirty="0"/>
          </a:p>
        </p:txBody>
      </p:sp>
      <p:pic>
        <p:nvPicPr>
          <p:cNvPr id="5" name="Picture 4">
            <a:extLst>
              <a:ext uri="{FF2B5EF4-FFF2-40B4-BE49-F238E27FC236}">
                <a16:creationId xmlns:a16="http://schemas.microsoft.com/office/drawing/2014/main" id="{623D14AF-67C9-48D7-A744-1190400342C6}"/>
              </a:ext>
            </a:extLst>
          </p:cNvPr>
          <p:cNvPicPr>
            <a:picLocks noChangeAspect="1"/>
          </p:cNvPicPr>
          <p:nvPr/>
        </p:nvPicPr>
        <p:blipFill>
          <a:blip r:embed="rId3"/>
          <a:stretch>
            <a:fillRect/>
          </a:stretch>
        </p:blipFill>
        <p:spPr>
          <a:xfrm>
            <a:off x="1329563" y="2617368"/>
            <a:ext cx="4243528" cy="2371725"/>
          </a:xfrm>
          <a:prstGeom prst="rect">
            <a:avLst/>
          </a:prstGeom>
        </p:spPr>
      </p:pic>
      <p:sp>
        <p:nvSpPr>
          <p:cNvPr id="7" name="TextBox 6">
            <a:extLst>
              <a:ext uri="{FF2B5EF4-FFF2-40B4-BE49-F238E27FC236}">
                <a16:creationId xmlns:a16="http://schemas.microsoft.com/office/drawing/2014/main" id="{431FD44F-78C5-4EE6-8479-7177820B28BB}"/>
              </a:ext>
            </a:extLst>
          </p:cNvPr>
          <p:cNvSpPr txBox="1"/>
          <p:nvPr/>
        </p:nvSpPr>
        <p:spPr>
          <a:xfrm>
            <a:off x="7603938" y="2125114"/>
            <a:ext cx="3867150" cy="3693319"/>
          </a:xfrm>
          <a:prstGeom prst="rect">
            <a:avLst/>
          </a:prstGeom>
          <a:noFill/>
        </p:spPr>
        <p:txBody>
          <a:bodyPr wrap="square" lIns="91440" tIns="45720" rIns="91440" bIns="45720" rtlCol="0" anchor="t">
            <a:spAutoFit/>
          </a:bodyPr>
          <a:lstStyle/>
          <a:p>
            <a:r>
              <a:rPr lang="th-TH" dirty="0" err="1">
                <a:cs typeface="Cordia New"/>
              </a:rPr>
              <a:t>List</a:t>
            </a:r>
            <a:r>
              <a:rPr lang="th-TH" dirty="0">
                <a:cs typeface="Cordia New"/>
              </a:rPr>
              <a:t> </a:t>
            </a:r>
            <a:r>
              <a:rPr lang="th-TH" dirty="0" err="1">
                <a:cs typeface="Cordia New"/>
              </a:rPr>
              <a:t>all</a:t>
            </a:r>
            <a:r>
              <a:rPr lang="th-TH" dirty="0">
                <a:cs typeface="Cordia New"/>
              </a:rPr>
              <a:t> </a:t>
            </a:r>
            <a:r>
              <a:rPr lang="th-TH" dirty="0" err="1">
                <a:cs typeface="Cordia New"/>
              </a:rPr>
              <a:t>installed</a:t>
            </a:r>
            <a:r>
              <a:rPr lang="th-TH" dirty="0">
                <a:cs typeface="Cordia New"/>
              </a:rPr>
              <a:t> ROS </a:t>
            </a:r>
            <a:r>
              <a:rPr lang="th-TH" dirty="0" err="1">
                <a:cs typeface="Cordia New"/>
              </a:rPr>
              <a:t>package</a:t>
            </a:r>
          </a:p>
          <a:p>
            <a:r>
              <a:rPr lang="en-US" dirty="0"/>
              <a:t>&gt;&gt; apt list </a:t>
            </a:r>
            <a:r>
              <a:rPr lang="en-US" dirty="0" err="1"/>
              <a:t>ros</a:t>
            </a:r>
            <a:r>
              <a:rPr lang="en-US" dirty="0"/>
              <a:t>-humble* --installed</a:t>
            </a:r>
            <a:br>
              <a:rPr lang="en-US"/>
            </a:br>
            <a:endParaRPr lang="th-TH"/>
          </a:p>
          <a:p>
            <a:r>
              <a:rPr lang="th-TH" dirty="0" err="1">
                <a:cs typeface="Cordia New"/>
              </a:rPr>
              <a:t>Install</a:t>
            </a:r>
            <a:r>
              <a:rPr lang="th-TH" dirty="0">
                <a:cs typeface="Cordia New"/>
              </a:rPr>
              <a:t> a ROS </a:t>
            </a:r>
            <a:r>
              <a:rPr lang="th-TH" dirty="0" err="1">
                <a:cs typeface="Cordia New"/>
              </a:rPr>
              <a:t>package</a:t>
            </a:r>
            <a:endParaRPr lang="en-US" err="1"/>
          </a:p>
          <a:p>
            <a:r>
              <a:rPr lang="en-US" dirty="0"/>
              <a:t>&gt;&gt; </a:t>
            </a:r>
            <a:r>
              <a:rPr lang="en-US" dirty="0" err="1"/>
              <a:t>sudo</a:t>
            </a:r>
            <a:r>
              <a:rPr lang="en-US" dirty="0"/>
              <a:t> apt install </a:t>
            </a:r>
            <a:r>
              <a:rPr lang="en-US" dirty="0" err="1"/>
              <a:t>ros</a:t>
            </a:r>
            <a:r>
              <a:rPr lang="en-US" dirty="0"/>
              <a:t>-humble-[PACKAGE]</a:t>
            </a:r>
            <a:br>
              <a:rPr lang="th-TH"/>
            </a:br>
            <a:endParaRPr lang="en-US">
              <a:cs typeface="Calibri"/>
            </a:endParaRPr>
          </a:p>
          <a:p>
            <a:r>
              <a:rPr lang="th-TH" dirty="0" err="1">
                <a:cs typeface="Cordia New"/>
              </a:rPr>
              <a:t>Open</a:t>
            </a:r>
            <a:r>
              <a:rPr lang="th-TH" dirty="0">
                <a:cs typeface="Cordia New"/>
              </a:rPr>
              <a:t> </a:t>
            </a:r>
            <a:r>
              <a:rPr lang="th-TH" dirty="0" err="1">
                <a:cs typeface="Cordia New"/>
              </a:rPr>
              <a:t>file</a:t>
            </a:r>
            <a:r>
              <a:rPr lang="th-TH" dirty="0">
                <a:cs typeface="Cordia New"/>
              </a:rPr>
              <a:t> </a:t>
            </a:r>
            <a:r>
              <a:rPr lang="th-TH" dirty="0" err="1">
                <a:cs typeface="Cordia New"/>
              </a:rPr>
              <a:t>explorer</a:t>
            </a:r>
            <a:r>
              <a:rPr lang="th-TH" dirty="0">
                <a:cs typeface="Cordia New"/>
              </a:rPr>
              <a:t> </a:t>
            </a:r>
            <a:r>
              <a:rPr lang="th-TH" dirty="0" err="1">
                <a:cs typeface="Cordia New"/>
              </a:rPr>
              <a:t>from</a:t>
            </a:r>
            <a:r>
              <a:rPr lang="th-TH" dirty="0">
                <a:cs typeface="Cordia New"/>
              </a:rPr>
              <a:t> </a:t>
            </a:r>
            <a:r>
              <a:rPr lang="th-TH" dirty="0" err="1">
                <a:cs typeface="Cordia New"/>
              </a:rPr>
              <a:t>the</a:t>
            </a:r>
            <a:r>
              <a:rPr lang="th-TH" dirty="0">
                <a:cs typeface="Cordia New"/>
              </a:rPr>
              <a:t> </a:t>
            </a:r>
            <a:r>
              <a:rPr lang="th-TH" dirty="0" err="1">
                <a:cs typeface="Cordia New"/>
              </a:rPr>
              <a:t>current</a:t>
            </a:r>
            <a:r>
              <a:rPr lang="th-TH" dirty="0">
                <a:cs typeface="Cordia New"/>
              </a:rPr>
              <a:t>  </a:t>
            </a:r>
            <a:r>
              <a:rPr lang="th-TH" dirty="0" err="1">
                <a:cs typeface="Cordia New"/>
              </a:rPr>
              <a:t>working</a:t>
            </a:r>
            <a:r>
              <a:rPr lang="th-TH" dirty="0">
                <a:cs typeface="Cordia New"/>
              </a:rPr>
              <a:t> </a:t>
            </a:r>
            <a:r>
              <a:rPr lang="th-TH" dirty="0" err="1">
                <a:cs typeface="Cordia New"/>
              </a:rPr>
              <a:t>direcrtory</a:t>
            </a:r>
            <a:endParaRPr lang="en-US" err="1">
              <a:cs typeface="Cordia New"/>
            </a:endParaRPr>
          </a:p>
          <a:p>
            <a:r>
              <a:rPr lang="en-US" dirty="0"/>
              <a:t>&gt;&gt; nautilus . </a:t>
            </a:r>
            <a:endParaRPr lang="en-US">
              <a:cs typeface="Cordia New"/>
            </a:endParaRPr>
          </a:p>
          <a:p>
            <a:endParaRPr lang="en-US"/>
          </a:p>
          <a:p>
            <a:r>
              <a:rPr lang="en-US" dirty="0">
                <a:cs typeface="Calibri"/>
              </a:rPr>
              <a:t>Modify </a:t>
            </a:r>
            <a:r>
              <a:rPr lang="en-US" dirty="0" err="1">
                <a:cs typeface="Calibri"/>
              </a:rPr>
              <a:t>bashrc</a:t>
            </a:r>
            <a:endParaRPr lang="en-US" err="1"/>
          </a:p>
          <a:p>
            <a:r>
              <a:rPr lang="en-US" dirty="0"/>
              <a:t>&gt;&gt; code ~/.</a:t>
            </a:r>
            <a:r>
              <a:rPr lang="en-US" dirty="0" err="1"/>
              <a:t>bashrc</a:t>
            </a:r>
            <a:endParaRPr lang="en-US" dirty="0"/>
          </a:p>
        </p:txBody>
      </p:sp>
      <p:sp>
        <p:nvSpPr>
          <p:cNvPr id="4" name="TextBox 3">
            <a:extLst>
              <a:ext uri="{FF2B5EF4-FFF2-40B4-BE49-F238E27FC236}">
                <a16:creationId xmlns:a16="http://schemas.microsoft.com/office/drawing/2014/main" id="{40B5FDFE-CF78-048C-F0A1-50140231255E}"/>
              </a:ext>
            </a:extLst>
          </p:cNvPr>
          <p:cNvSpPr txBox="1"/>
          <p:nvPr/>
        </p:nvSpPr>
        <p:spPr>
          <a:xfrm>
            <a:off x="98612" y="6462993"/>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Navigating Linux Terminal</a:t>
            </a:r>
          </a:p>
        </p:txBody>
      </p:sp>
      <p:sp>
        <p:nvSpPr>
          <p:cNvPr id="6" name="TextBox 2">
            <a:extLst>
              <a:ext uri="{FF2B5EF4-FFF2-40B4-BE49-F238E27FC236}">
                <a16:creationId xmlns:a16="http://schemas.microsoft.com/office/drawing/2014/main" id="{D8765C4B-F6C3-AE15-1A75-E5C1E2573B04}"/>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66081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44"/>
          <p:cNvSpPr txBox="1">
            <a:spLocks noGrp="1"/>
          </p:cNvSpPr>
          <p:nvPr>
            <p:ph type="ctrTitle"/>
          </p:nvPr>
        </p:nvSpPr>
        <p:spPr>
          <a:xfrm>
            <a:off x="0" y="3124200"/>
            <a:ext cx="12192000" cy="791100"/>
          </a:xfrm>
          <a:prstGeom prst="rect">
            <a:avLst/>
          </a:prstGeom>
          <a:solidFill>
            <a:schemeClr val="lt2"/>
          </a:solidFill>
          <a:ln>
            <a:noFill/>
          </a:ln>
        </p:spPr>
        <p:txBody>
          <a:bodyPr spcFirstLastPara="1" wrap="square" lIns="0" tIns="45700" rIns="91425" bIns="45700" anchor="b" anchorCtr="0">
            <a:normAutofit/>
          </a:bodyPr>
          <a:lstStyle/>
          <a:p>
            <a:pPr marL="0" lvl="0" indent="0" algn="ctr" rtl="0">
              <a:lnSpc>
                <a:spcPct val="85000"/>
              </a:lnSpc>
              <a:spcBef>
                <a:spcPts val="0"/>
              </a:spcBef>
              <a:spcAft>
                <a:spcPts val="0"/>
              </a:spcAft>
              <a:buClr>
                <a:schemeClr val="dk1"/>
              </a:buClr>
              <a:buSzPts val="4000"/>
              <a:buFont typeface="Arial"/>
              <a:buNone/>
            </a:pPr>
            <a:r>
              <a:rPr lang="en-US" sz="4000">
                <a:latin typeface="Arial"/>
                <a:ea typeface="Arial"/>
                <a:cs typeface="Arial"/>
                <a:sym typeface="Arial"/>
              </a:rPr>
              <a:t>Nodes &amp; Topics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45"/>
          <p:cNvSpPr txBox="1">
            <a:spLocks noGrp="1"/>
          </p:cNvSpPr>
          <p:nvPr>
            <p:ph type="title"/>
          </p:nvPr>
        </p:nvSpPr>
        <p:spPr>
          <a:xfrm>
            <a:off x="259873" y="434100"/>
            <a:ext cx="65307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The concept of Nodes and Topics</a:t>
            </a:r>
            <a:endParaRPr/>
          </a:p>
        </p:txBody>
      </p:sp>
      <p:sp>
        <p:nvSpPr>
          <p:cNvPr id="513" name="Google Shape;513;p45"/>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31</a:t>
            </a:fld>
            <a:endParaRPr/>
          </a:p>
        </p:txBody>
      </p:sp>
      <p:sp>
        <p:nvSpPr>
          <p:cNvPr id="514" name="Google Shape;514;p45"/>
          <p:cNvSpPr/>
          <p:nvPr/>
        </p:nvSpPr>
        <p:spPr>
          <a:xfrm>
            <a:off x="610291" y="2018098"/>
            <a:ext cx="23259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/node_name</a:t>
            </a:r>
            <a:endParaRPr sz="1800">
              <a:latin typeface="Georgia"/>
              <a:ea typeface="Georgia"/>
              <a:cs typeface="Georgia"/>
              <a:sym typeface="Georgia"/>
            </a:endParaRPr>
          </a:p>
        </p:txBody>
      </p:sp>
      <p:sp>
        <p:nvSpPr>
          <p:cNvPr id="515" name="Google Shape;515;p45"/>
          <p:cNvSpPr/>
          <p:nvPr/>
        </p:nvSpPr>
        <p:spPr>
          <a:xfrm>
            <a:off x="709966" y="35908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/topic_name</a:t>
            </a:r>
            <a:endParaRPr sz="1800">
              <a:latin typeface="Georgia"/>
              <a:ea typeface="Georgia"/>
              <a:cs typeface="Georgia"/>
              <a:sym typeface="Georgia"/>
            </a:endParaRPr>
          </a:p>
        </p:txBody>
      </p:sp>
      <p:sp>
        <p:nvSpPr>
          <p:cNvPr id="516" name="Google Shape;516;p45"/>
          <p:cNvSpPr txBox="1"/>
          <p:nvPr/>
        </p:nvSpPr>
        <p:spPr>
          <a:xfrm>
            <a:off x="4730416" y="2095627"/>
            <a:ext cx="1663200" cy="52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a:solidFill>
                  <a:schemeClr val="dk1"/>
                </a:solidFill>
                <a:latin typeface="Georgia"/>
                <a:ea typeface="Georgia"/>
                <a:cs typeface="Georgia"/>
                <a:sym typeface="Georgia"/>
              </a:rPr>
              <a:t>process</a:t>
            </a:r>
            <a:endParaRPr sz="2200">
              <a:solidFill>
                <a:schemeClr val="dk1"/>
              </a:solidFill>
              <a:latin typeface="Georgia"/>
              <a:ea typeface="Georgia"/>
              <a:cs typeface="Georgia"/>
              <a:sym typeface="Georgia"/>
            </a:endParaRPr>
          </a:p>
        </p:txBody>
      </p:sp>
      <p:sp>
        <p:nvSpPr>
          <p:cNvPr id="517" name="Google Shape;517;p45"/>
          <p:cNvSpPr txBox="1"/>
          <p:nvPr/>
        </p:nvSpPr>
        <p:spPr>
          <a:xfrm>
            <a:off x="4729016" y="3572623"/>
            <a:ext cx="2170800" cy="52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a:solidFill>
                  <a:schemeClr val="dk1"/>
                </a:solidFill>
                <a:latin typeface="Georgia"/>
                <a:ea typeface="Georgia"/>
                <a:cs typeface="Georgia"/>
                <a:sym typeface="Georgia"/>
              </a:rPr>
              <a:t>communication channel</a:t>
            </a:r>
            <a:endParaRPr sz="2200">
              <a:solidFill>
                <a:schemeClr val="dk1"/>
              </a:solidFill>
              <a:latin typeface="Georgia"/>
              <a:ea typeface="Georgia"/>
              <a:cs typeface="Georgia"/>
              <a:sym typeface="Georgia"/>
            </a:endParaRPr>
          </a:p>
        </p:txBody>
      </p:sp>
      <p:sp>
        <p:nvSpPr>
          <p:cNvPr id="518" name="Google Shape;518;p45"/>
          <p:cNvSpPr/>
          <p:nvPr/>
        </p:nvSpPr>
        <p:spPr>
          <a:xfrm>
            <a:off x="3268416" y="2206373"/>
            <a:ext cx="1118700" cy="4404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519" name="Google Shape;519;p45"/>
          <p:cNvSpPr/>
          <p:nvPr/>
        </p:nvSpPr>
        <p:spPr>
          <a:xfrm>
            <a:off x="3311991" y="3792723"/>
            <a:ext cx="1118700" cy="4404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521" name="Google Shape;521;p45"/>
          <p:cNvSpPr txBox="1"/>
          <p:nvPr/>
        </p:nvSpPr>
        <p:spPr>
          <a:xfrm>
            <a:off x="664550" y="4808225"/>
            <a:ext cx="617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Node can have a publisher that publish a message to a topic.</a:t>
            </a:r>
            <a:endParaRPr/>
          </a:p>
          <a:p>
            <a:pPr marL="0" lvl="0" indent="0" algn="l" rtl="0">
              <a:spcBef>
                <a:spcPts val="0"/>
              </a:spcBef>
              <a:spcAft>
                <a:spcPts val="0"/>
              </a:spcAft>
              <a:buNone/>
            </a:pPr>
            <a:r>
              <a:rPr lang="en-US"/>
              <a:t>Node can also have a subscription that subscribe a message from a topic.</a:t>
            </a:r>
            <a:endParaRPr/>
          </a:p>
        </p:txBody>
      </p:sp>
      <p:sp>
        <p:nvSpPr>
          <p:cNvPr id="522" name="Google Shape;522;p45"/>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pic>
        <p:nvPicPr>
          <p:cNvPr id="2" name="Picture 2">
            <a:extLst>
              <a:ext uri="{FF2B5EF4-FFF2-40B4-BE49-F238E27FC236}">
                <a16:creationId xmlns:a16="http://schemas.microsoft.com/office/drawing/2014/main" id="{FFF8BFF1-4209-0231-D064-1AF831972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816" y="2152539"/>
            <a:ext cx="5235147" cy="29424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a:cs typeface="Angsana New"/>
              </a:rPr>
              <a:t>The </a:t>
            </a:r>
            <a:r>
              <a:rPr lang="th-TH" err="1">
                <a:cs typeface="Angsana New"/>
              </a:rPr>
              <a:t>concept</a:t>
            </a:r>
            <a:r>
              <a:rPr lang="th-TH">
                <a:cs typeface="Angsana New"/>
              </a:rPr>
              <a:t> of </a:t>
            </a:r>
            <a:r>
              <a:rPr lang="th-TH" err="1">
                <a:cs typeface="Angsana New"/>
              </a:rPr>
              <a:t>Nodes</a:t>
            </a:r>
            <a:r>
              <a:rPr lang="th-TH">
                <a:cs typeface="Angsana New"/>
              </a:rPr>
              <a:t> and </a:t>
            </a:r>
            <a:r>
              <a:rPr lang="th-TH" err="1">
                <a:cs typeface="Angsana New"/>
              </a:rPr>
              <a:t>Topics</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32</a:t>
            </a:fld>
            <a:endParaRPr lang="en-US"/>
          </a:p>
        </p:txBody>
      </p:sp>
      <p:sp>
        <p:nvSpPr>
          <p:cNvPr id="15" name="Oval 14">
            <a:extLst>
              <a:ext uri="{FF2B5EF4-FFF2-40B4-BE49-F238E27FC236}">
                <a16:creationId xmlns:a16="http://schemas.microsoft.com/office/drawing/2014/main" id="{E53BBFF2-2705-4135-9160-966ED435187A}"/>
              </a:ext>
            </a:extLst>
          </p:cNvPr>
          <p:cNvSpPr/>
          <p:nvPr/>
        </p:nvSpPr>
        <p:spPr>
          <a:xfrm>
            <a:off x="1039482" y="2610824"/>
            <a:ext cx="1762125" cy="923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a:solidFill>
                  <a:schemeClr val="tx1"/>
                </a:solidFill>
              </a:rPr>
              <a:t>NODE</a:t>
            </a:r>
            <a:endParaRPr lang="en-US" b="1" i="1">
              <a:solidFill>
                <a:schemeClr val="tx1"/>
              </a:solidFill>
            </a:endParaRPr>
          </a:p>
        </p:txBody>
      </p:sp>
      <p:sp>
        <p:nvSpPr>
          <p:cNvPr id="16" name="Rectangle 15">
            <a:extLst>
              <a:ext uri="{FF2B5EF4-FFF2-40B4-BE49-F238E27FC236}">
                <a16:creationId xmlns:a16="http://schemas.microsoft.com/office/drawing/2014/main" id="{F3BC1543-B7E5-4A2E-81DD-4CB10CE2C676}"/>
              </a:ext>
            </a:extLst>
          </p:cNvPr>
          <p:cNvSpPr/>
          <p:nvPr/>
        </p:nvSpPr>
        <p:spPr>
          <a:xfrm>
            <a:off x="1039482" y="4209101"/>
            <a:ext cx="1762124" cy="62484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400" b="1" i="1">
                <a:solidFill>
                  <a:schemeClr val="tx1"/>
                </a:solidFill>
              </a:rPr>
              <a:t>TOPIC</a:t>
            </a:r>
          </a:p>
        </p:txBody>
      </p:sp>
      <p:sp>
        <p:nvSpPr>
          <p:cNvPr id="17" name="TextBox 16">
            <a:extLst>
              <a:ext uri="{FF2B5EF4-FFF2-40B4-BE49-F238E27FC236}">
                <a16:creationId xmlns:a16="http://schemas.microsoft.com/office/drawing/2014/main" id="{AC4043C1-0F38-4903-ADAD-775FF658B1F2}"/>
              </a:ext>
            </a:extLst>
          </p:cNvPr>
          <p:cNvSpPr txBox="1"/>
          <p:nvPr/>
        </p:nvSpPr>
        <p:spPr>
          <a:xfrm>
            <a:off x="4227586" y="2844514"/>
            <a:ext cx="1762125" cy="461665"/>
          </a:xfrm>
          <a:prstGeom prst="rect">
            <a:avLst/>
          </a:prstGeom>
          <a:noFill/>
        </p:spPr>
        <p:txBody>
          <a:bodyPr wrap="square" lIns="91440" tIns="45720" rIns="91440" bIns="45720" rtlCol="0" anchor="t">
            <a:spAutoFit/>
          </a:bodyPr>
          <a:lstStyle/>
          <a:p>
            <a:r>
              <a:rPr lang="th-TH" sz="2400">
                <a:cs typeface="Cordia New"/>
              </a:rPr>
              <a:t> </a:t>
            </a:r>
            <a:r>
              <a:rPr lang="th-TH" sz="2400" err="1">
                <a:cs typeface="Cordia New"/>
              </a:rPr>
              <a:t>process</a:t>
            </a:r>
            <a:endParaRPr lang="en-US" sz="2400">
              <a:cs typeface="Calibri"/>
            </a:endParaRPr>
          </a:p>
        </p:txBody>
      </p:sp>
      <p:sp>
        <p:nvSpPr>
          <p:cNvPr id="18" name="TextBox 17">
            <a:extLst>
              <a:ext uri="{FF2B5EF4-FFF2-40B4-BE49-F238E27FC236}">
                <a16:creationId xmlns:a16="http://schemas.microsoft.com/office/drawing/2014/main" id="{E65F80C8-1538-4C2B-AC19-26B8170A3095}"/>
              </a:ext>
            </a:extLst>
          </p:cNvPr>
          <p:cNvSpPr txBox="1"/>
          <p:nvPr/>
        </p:nvSpPr>
        <p:spPr>
          <a:xfrm>
            <a:off x="4141860" y="4259911"/>
            <a:ext cx="2105027" cy="707886"/>
          </a:xfrm>
          <a:prstGeom prst="rect">
            <a:avLst/>
          </a:prstGeom>
          <a:noFill/>
        </p:spPr>
        <p:txBody>
          <a:bodyPr wrap="square" lIns="91440" tIns="45720" rIns="91440" bIns="45720" rtlCol="0" anchor="t">
            <a:spAutoFit/>
          </a:bodyPr>
          <a:lstStyle/>
          <a:p>
            <a:r>
              <a:rPr lang="th-TH" sz="2000" err="1">
                <a:cs typeface="Cordia New"/>
              </a:rPr>
              <a:t>Communication</a:t>
            </a:r>
            <a:r>
              <a:rPr lang="th-TH" sz="2000">
                <a:cs typeface="Cordia New"/>
              </a:rPr>
              <a:t> </a:t>
            </a:r>
            <a:r>
              <a:rPr lang="th-TH" sz="2000" err="1">
                <a:cs typeface="Cordia New"/>
              </a:rPr>
              <a:t>Channel</a:t>
            </a:r>
            <a:endParaRPr lang="en-US" sz="2000" err="1"/>
          </a:p>
        </p:txBody>
      </p:sp>
      <p:sp>
        <p:nvSpPr>
          <p:cNvPr id="19" name="TextBox 18">
            <a:extLst>
              <a:ext uri="{FF2B5EF4-FFF2-40B4-BE49-F238E27FC236}">
                <a16:creationId xmlns:a16="http://schemas.microsoft.com/office/drawing/2014/main" id="{009432C9-30F5-48E0-9824-7858D2FE87AB}"/>
              </a:ext>
            </a:extLst>
          </p:cNvPr>
          <p:cNvSpPr txBox="1"/>
          <p:nvPr/>
        </p:nvSpPr>
        <p:spPr>
          <a:xfrm>
            <a:off x="2278380" y="5393118"/>
            <a:ext cx="7770495" cy="369332"/>
          </a:xfrm>
          <a:prstGeom prst="rect">
            <a:avLst/>
          </a:prstGeom>
          <a:noFill/>
        </p:spPr>
        <p:txBody>
          <a:bodyPr wrap="square" lIns="91440" tIns="45720" rIns="91440" bIns="45720" rtlCol="0" anchor="t">
            <a:spAutoFit/>
          </a:bodyPr>
          <a:lstStyle/>
          <a:p>
            <a:r>
              <a:rPr lang="en-US"/>
              <a:t>Q1.) Can a node have both a publisher and a subscription to the same topic ?</a:t>
            </a:r>
          </a:p>
        </p:txBody>
      </p:sp>
      <p:pic>
        <p:nvPicPr>
          <p:cNvPr id="33794" name="Picture 2">
            <a:extLst>
              <a:ext uri="{FF2B5EF4-FFF2-40B4-BE49-F238E27FC236}">
                <a16:creationId xmlns:a16="http://schemas.microsoft.com/office/drawing/2014/main" id="{F3AB5FE0-00EF-42D4-9592-E58896F369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887" y="2054542"/>
            <a:ext cx="5578920" cy="3135693"/>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67;p15">
            <a:extLst>
              <a:ext uri="{FF2B5EF4-FFF2-40B4-BE49-F238E27FC236}">
                <a16:creationId xmlns:a16="http://schemas.microsoft.com/office/drawing/2014/main" id="{F7230877-02E8-E648-400E-E58842501CCC}"/>
              </a:ext>
            </a:extLst>
          </p:cNvPr>
          <p:cNvPicPr preferRelativeResize="0"/>
          <p:nvPr/>
        </p:nvPicPr>
        <p:blipFill rotWithShape="1">
          <a:blip r:embed="rId4">
            <a:alphaModFix/>
          </a:blip>
          <a:srcRect r="9974"/>
          <a:stretch/>
        </p:blipFill>
        <p:spPr>
          <a:xfrm>
            <a:off x="11151038" y="40772"/>
            <a:ext cx="1653550" cy="232750"/>
          </a:xfrm>
          <a:prstGeom prst="rect">
            <a:avLst/>
          </a:prstGeom>
          <a:noFill/>
          <a:ln>
            <a:noFill/>
          </a:ln>
        </p:spPr>
      </p:pic>
      <p:sp>
        <p:nvSpPr>
          <p:cNvPr id="7" name="Arrow: Right 6">
            <a:extLst>
              <a:ext uri="{FF2B5EF4-FFF2-40B4-BE49-F238E27FC236}">
                <a16:creationId xmlns:a16="http://schemas.microsoft.com/office/drawing/2014/main" id="{899CD63D-8219-3995-33D1-8E23B3BAF981}"/>
              </a:ext>
            </a:extLst>
          </p:cNvPr>
          <p:cNvSpPr/>
          <p:nvPr/>
        </p:nvSpPr>
        <p:spPr>
          <a:xfrm>
            <a:off x="3124200" y="2943225"/>
            <a:ext cx="933450" cy="266700"/>
          </a:xfrm>
          <a:prstGeom prst="right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9144215E-BC04-9B44-7633-21EDDB54CA20}"/>
              </a:ext>
            </a:extLst>
          </p:cNvPr>
          <p:cNvSpPr/>
          <p:nvPr/>
        </p:nvSpPr>
        <p:spPr>
          <a:xfrm>
            <a:off x="3124199" y="4391025"/>
            <a:ext cx="933450" cy="266700"/>
          </a:xfrm>
          <a:prstGeom prst="right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A1E1F8B-F075-599D-E6AF-DAA4363D8DBE}"/>
              </a:ext>
            </a:extLst>
          </p:cNvPr>
          <p:cNvSpPr txBox="1"/>
          <p:nvPr/>
        </p:nvSpPr>
        <p:spPr>
          <a:xfrm>
            <a:off x="98612" y="6462993"/>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9" name="TextBox 2">
            <a:extLst>
              <a:ext uri="{FF2B5EF4-FFF2-40B4-BE49-F238E27FC236}">
                <a16:creationId xmlns:a16="http://schemas.microsoft.com/office/drawing/2014/main" id="{3A43C044-2C52-5F33-CBAC-CFFBCE2D9040}"/>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
        <p:nvSpPr>
          <p:cNvPr id="3" name="TextBox 2">
            <a:extLst>
              <a:ext uri="{FF2B5EF4-FFF2-40B4-BE49-F238E27FC236}">
                <a16:creationId xmlns:a16="http://schemas.microsoft.com/office/drawing/2014/main" id="{18D66E6F-B42B-A1B7-DB33-D4DD4D7C19B6}"/>
              </a:ext>
            </a:extLst>
          </p:cNvPr>
          <p:cNvSpPr txBox="1"/>
          <p:nvPr/>
        </p:nvSpPr>
        <p:spPr>
          <a:xfrm>
            <a:off x="2278379" y="5727833"/>
            <a:ext cx="7770495" cy="369332"/>
          </a:xfrm>
          <a:prstGeom prst="rect">
            <a:avLst/>
          </a:prstGeom>
          <a:noFill/>
        </p:spPr>
        <p:txBody>
          <a:bodyPr wrap="square" lIns="91440" tIns="45720" rIns="91440" bIns="45720" rtlCol="0" anchor="t">
            <a:spAutoFit/>
          </a:bodyPr>
          <a:lstStyle/>
          <a:p>
            <a:r>
              <a:rPr lang="en-US" dirty="0"/>
              <a:t>Q2.) Should a node have both a publisher and a subscription to the same topic ?</a:t>
            </a:r>
          </a:p>
        </p:txBody>
      </p:sp>
    </p:spTree>
    <p:extLst>
      <p:ext uri="{BB962C8B-B14F-4D97-AF65-F5344CB8AC3E}">
        <p14:creationId xmlns:p14="http://schemas.microsoft.com/office/powerpoint/2010/main" val="78748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6"/>
          <p:cNvSpPr txBox="1">
            <a:spLocks noGrp="1"/>
          </p:cNvSpPr>
          <p:nvPr>
            <p:ph type="title"/>
          </p:nvPr>
        </p:nvSpPr>
        <p:spPr>
          <a:xfrm>
            <a:off x="259873" y="434100"/>
            <a:ext cx="65307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Example: Turtlesim Simulation</a:t>
            </a:r>
            <a:endParaRPr/>
          </a:p>
        </p:txBody>
      </p:sp>
      <p:sp>
        <p:nvSpPr>
          <p:cNvPr id="528" name="Google Shape;528;p46"/>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33</a:t>
            </a:fld>
            <a:endParaRPr/>
          </a:p>
        </p:txBody>
      </p:sp>
      <p:sp>
        <p:nvSpPr>
          <p:cNvPr id="529" name="Google Shape;529;p46"/>
          <p:cNvSpPr/>
          <p:nvPr/>
        </p:nvSpPr>
        <p:spPr>
          <a:xfrm>
            <a:off x="156191" y="2749073"/>
            <a:ext cx="23259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/turtlesim</a:t>
            </a:r>
            <a:endParaRPr sz="1800">
              <a:latin typeface="Georgia"/>
              <a:ea typeface="Georgia"/>
              <a:cs typeface="Georgia"/>
              <a:sym typeface="Georgia"/>
            </a:endParaRPr>
          </a:p>
        </p:txBody>
      </p:sp>
      <p:sp>
        <p:nvSpPr>
          <p:cNvPr id="530" name="Google Shape;530;p46"/>
          <p:cNvSpPr/>
          <p:nvPr/>
        </p:nvSpPr>
        <p:spPr>
          <a:xfrm>
            <a:off x="3792291" y="18187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/turtle1/pose</a:t>
            </a:r>
            <a:endParaRPr sz="1800">
              <a:latin typeface="Georgia"/>
              <a:ea typeface="Georgia"/>
              <a:cs typeface="Georgia"/>
              <a:sym typeface="Georgia"/>
            </a:endParaRPr>
          </a:p>
        </p:txBody>
      </p:sp>
      <p:sp>
        <p:nvSpPr>
          <p:cNvPr id="531" name="Google Shape;531;p46"/>
          <p:cNvSpPr/>
          <p:nvPr/>
        </p:nvSpPr>
        <p:spPr>
          <a:xfrm>
            <a:off x="3792291" y="3931498"/>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/turtle1/cmd_vel</a:t>
            </a:r>
            <a:endParaRPr sz="1800">
              <a:latin typeface="Georgia"/>
              <a:ea typeface="Georgia"/>
              <a:cs typeface="Georgia"/>
              <a:sym typeface="Georgia"/>
            </a:endParaRPr>
          </a:p>
        </p:txBody>
      </p:sp>
      <p:sp>
        <p:nvSpPr>
          <p:cNvPr id="532" name="Google Shape;532;p46"/>
          <p:cNvSpPr/>
          <p:nvPr/>
        </p:nvSpPr>
        <p:spPr>
          <a:xfrm>
            <a:off x="1850700" y="2847775"/>
            <a:ext cx="454200" cy="250200"/>
          </a:xfrm>
          <a:prstGeom prst="ellipse">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P</a:t>
            </a:r>
            <a:endParaRPr>
              <a:latin typeface="Georgia"/>
              <a:ea typeface="Georgia"/>
              <a:cs typeface="Georgia"/>
              <a:sym typeface="Georgia"/>
            </a:endParaRPr>
          </a:p>
        </p:txBody>
      </p:sp>
      <p:sp>
        <p:nvSpPr>
          <p:cNvPr id="533" name="Google Shape;533;p46"/>
          <p:cNvSpPr/>
          <p:nvPr/>
        </p:nvSpPr>
        <p:spPr>
          <a:xfrm>
            <a:off x="1850700" y="3303900"/>
            <a:ext cx="454200" cy="250200"/>
          </a:xfrm>
          <a:prstGeom prst="ellipse">
            <a:avLst/>
          </a:prstGeom>
          <a:solidFill>
            <a:srgbClr val="6D9EE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S</a:t>
            </a:r>
            <a:endParaRPr>
              <a:latin typeface="Georgia"/>
              <a:ea typeface="Georgia"/>
              <a:cs typeface="Georgia"/>
              <a:sym typeface="Georgia"/>
            </a:endParaRPr>
          </a:p>
        </p:txBody>
      </p:sp>
      <p:cxnSp>
        <p:nvCxnSpPr>
          <p:cNvPr id="534" name="Google Shape;534;p46"/>
          <p:cNvCxnSpPr>
            <a:stCxn id="532" idx="7"/>
            <a:endCxn id="530" idx="1"/>
          </p:cNvCxnSpPr>
          <p:nvPr/>
        </p:nvCxnSpPr>
        <p:spPr>
          <a:xfrm rot="10800000" flipH="1">
            <a:off x="2238384" y="2139816"/>
            <a:ext cx="1554000" cy="744600"/>
          </a:xfrm>
          <a:prstGeom prst="straightConnector1">
            <a:avLst/>
          </a:prstGeom>
          <a:noFill/>
          <a:ln w="38100" cap="flat" cmpd="sng">
            <a:solidFill>
              <a:schemeClr val="dk2"/>
            </a:solidFill>
            <a:prstDash val="solid"/>
            <a:round/>
            <a:headEnd type="none" w="med" len="med"/>
            <a:tailEnd type="triangle" w="med" len="med"/>
          </a:ln>
        </p:spPr>
      </p:cxnSp>
      <p:cxnSp>
        <p:nvCxnSpPr>
          <p:cNvPr id="535" name="Google Shape;535;p46"/>
          <p:cNvCxnSpPr>
            <a:endCxn id="533" idx="5"/>
          </p:cNvCxnSpPr>
          <p:nvPr/>
        </p:nvCxnSpPr>
        <p:spPr>
          <a:xfrm rot="10800000">
            <a:off x="2238384" y="3517459"/>
            <a:ext cx="1554000" cy="781200"/>
          </a:xfrm>
          <a:prstGeom prst="straightConnector1">
            <a:avLst/>
          </a:prstGeom>
          <a:noFill/>
          <a:ln w="38100" cap="flat" cmpd="sng">
            <a:solidFill>
              <a:schemeClr val="dk2"/>
            </a:solidFill>
            <a:prstDash val="solid"/>
            <a:round/>
            <a:headEnd type="none" w="med" len="med"/>
            <a:tailEnd type="triangle" w="med" len="med"/>
          </a:ln>
        </p:spPr>
      </p:cxnSp>
      <p:sp>
        <p:nvSpPr>
          <p:cNvPr id="536" name="Google Shape;536;p46"/>
          <p:cNvSpPr txBox="1"/>
          <p:nvPr/>
        </p:nvSpPr>
        <p:spPr>
          <a:xfrm>
            <a:off x="6790575" y="2376925"/>
            <a:ext cx="5083800" cy="16401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2200">
                <a:solidFill>
                  <a:schemeClr val="dk1"/>
                </a:solidFill>
                <a:latin typeface="Georgia"/>
                <a:ea typeface="Georgia"/>
                <a:cs typeface="Georgia"/>
                <a:sym typeface="Georgia"/>
              </a:rPr>
              <a:t>ros2 run [package_name] [executable]</a:t>
            </a:r>
            <a:endParaRPr sz="2200">
              <a:solidFill>
                <a:schemeClr val="dk1"/>
              </a:solidFill>
              <a:latin typeface="Georgia"/>
              <a:ea typeface="Georgia"/>
              <a:cs typeface="Georgia"/>
              <a:sym typeface="Georgia"/>
            </a:endParaRPr>
          </a:p>
          <a:p>
            <a:pPr marL="0" lvl="0" indent="0" algn="l" rtl="0">
              <a:spcBef>
                <a:spcPts val="0"/>
              </a:spcBef>
              <a:spcAft>
                <a:spcPts val="0"/>
              </a:spcAft>
              <a:buNone/>
            </a:pPr>
            <a:r>
              <a:rPr lang="en-US" sz="2200">
                <a:solidFill>
                  <a:schemeClr val="dk1"/>
                </a:solidFill>
                <a:latin typeface="Georgia"/>
                <a:ea typeface="Georgia"/>
                <a:cs typeface="Georgia"/>
                <a:sym typeface="Georgia"/>
              </a:rPr>
              <a:t>ros2 node list</a:t>
            </a:r>
            <a:endParaRPr sz="2200">
              <a:solidFill>
                <a:schemeClr val="dk1"/>
              </a:solidFill>
              <a:latin typeface="Georgia"/>
              <a:ea typeface="Georgia"/>
              <a:cs typeface="Georgia"/>
              <a:sym typeface="Georgia"/>
            </a:endParaRPr>
          </a:p>
          <a:p>
            <a:pPr marL="0" lvl="0" indent="0" algn="l" rtl="0">
              <a:spcBef>
                <a:spcPts val="0"/>
              </a:spcBef>
              <a:spcAft>
                <a:spcPts val="0"/>
              </a:spcAft>
              <a:buNone/>
            </a:pPr>
            <a:r>
              <a:rPr lang="en-US" sz="2200">
                <a:solidFill>
                  <a:schemeClr val="dk1"/>
                </a:solidFill>
                <a:latin typeface="Georgia"/>
                <a:ea typeface="Georgia"/>
                <a:cs typeface="Georgia"/>
                <a:sym typeface="Georgia"/>
              </a:rPr>
              <a:t>ros2 node info [node_name] –verbose</a:t>
            </a:r>
            <a:endParaRPr sz="2200">
              <a:solidFill>
                <a:schemeClr val="dk1"/>
              </a:solidFill>
              <a:latin typeface="Georgia"/>
              <a:ea typeface="Georgia"/>
              <a:cs typeface="Georgia"/>
              <a:sym typeface="Georgia"/>
            </a:endParaRPr>
          </a:p>
          <a:p>
            <a:pPr marL="0" lvl="0" indent="0" algn="l" rtl="0">
              <a:spcBef>
                <a:spcPts val="0"/>
              </a:spcBef>
              <a:spcAft>
                <a:spcPts val="0"/>
              </a:spcAft>
              <a:buNone/>
            </a:pPr>
            <a:r>
              <a:rPr lang="en-US" sz="2200">
                <a:solidFill>
                  <a:schemeClr val="dk1"/>
                </a:solidFill>
                <a:latin typeface="Georgia"/>
                <a:ea typeface="Georgia"/>
                <a:cs typeface="Georgia"/>
                <a:sym typeface="Georgia"/>
              </a:rPr>
              <a:t>ros2 topic list</a:t>
            </a:r>
            <a:endParaRPr sz="2200">
              <a:solidFill>
                <a:schemeClr val="dk1"/>
              </a:solidFill>
              <a:latin typeface="Georgia"/>
              <a:ea typeface="Georgia"/>
              <a:cs typeface="Georgia"/>
              <a:sym typeface="Georgia"/>
            </a:endParaRPr>
          </a:p>
        </p:txBody>
      </p:sp>
      <p:sp>
        <p:nvSpPr>
          <p:cNvPr id="537" name="Google Shape;537;p46"/>
          <p:cNvSpPr txBox="1"/>
          <p:nvPr/>
        </p:nvSpPr>
        <p:spPr>
          <a:xfrm>
            <a:off x="6712925" y="1564025"/>
            <a:ext cx="3865500" cy="575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Command lines for nodes:</a:t>
            </a:r>
            <a:endParaRPr sz="2400">
              <a:solidFill>
                <a:schemeClr val="dk1"/>
              </a:solidFill>
              <a:latin typeface="Georgia"/>
              <a:ea typeface="Georgia"/>
              <a:cs typeface="Georgia"/>
              <a:sym typeface="Georgia"/>
            </a:endParaRPr>
          </a:p>
        </p:txBody>
      </p:sp>
      <p:sp>
        <p:nvSpPr>
          <p:cNvPr id="538" name="Google Shape;538;p46"/>
          <p:cNvSpPr txBox="1"/>
          <p:nvPr/>
        </p:nvSpPr>
        <p:spPr>
          <a:xfrm>
            <a:off x="3607975" y="511425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turtlesim_node</a:t>
            </a:r>
            <a:endParaRPr/>
          </a:p>
        </p:txBody>
      </p:sp>
      <p:sp>
        <p:nvSpPr>
          <p:cNvPr id="539" name="Google Shape;539;p46"/>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pic>
        <p:nvPicPr>
          <p:cNvPr id="540" name="Google Shape;540;p46"/>
          <p:cNvPicPr preferRelativeResize="0"/>
          <p:nvPr/>
        </p:nvPicPr>
        <p:blipFill>
          <a:blip r:embed="rId3">
            <a:alphaModFix/>
          </a:blip>
          <a:stretch>
            <a:fillRect/>
          </a:stretch>
        </p:blipFill>
        <p:spPr>
          <a:xfrm>
            <a:off x="640725" y="3961550"/>
            <a:ext cx="1962850" cy="2057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47"/>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34</a:t>
            </a:fld>
            <a:endParaRPr/>
          </a:p>
        </p:txBody>
      </p:sp>
      <p:sp>
        <p:nvSpPr>
          <p:cNvPr id="546" name="Google Shape;546;p47"/>
          <p:cNvSpPr/>
          <p:nvPr/>
        </p:nvSpPr>
        <p:spPr>
          <a:xfrm>
            <a:off x="156191" y="2749073"/>
            <a:ext cx="23259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/turtlesim</a:t>
            </a:r>
            <a:endParaRPr sz="1800">
              <a:latin typeface="Georgia"/>
              <a:ea typeface="Georgia"/>
              <a:cs typeface="Georgia"/>
              <a:sym typeface="Georgia"/>
            </a:endParaRPr>
          </a:p>
        </p:txBody>
      </p:sp>
      <p:sp>
        <p:nvSpPr>
          <p:cNvPr id="547" name="Google Shape;547;p47"/>
          <p:cNvSpPr/>
          <p:nvPr/>
        </p:nvSpPr>
        <p:spPr>
          <a:xfrm>
            <a:off x="3792291" y="18187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/turtle1/pose</a:t>
            </a:r>
            <a:endParaRPr sz="1800">
              <a:latin typeface="Georgia"/>
              <a:ea typeface="Georgia"/>
              <a:cs typeface="Georgia"/>
              <a:sym typeface="Georgia"/>
            </a:endParaRPr>
          </a:p>
        </p:txBody>
      </p:sp>
      <p:sp>
        <p:nvSpPr>
          <p:cNvPr id="548" name="Google Shape;548;p47"/>
          <p:cNvSpPr/>
          <p:nvPr/>
        </p:nvSpPr>
        <p:spPr>
          <a:xfrm>
            <a:off x="3792291" y="3931498"/>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/turtle1/cmd_vel</a:t>
            </a:r>
            <a:endParaRPr sz="1800">
              <a:latin typeface="Georgia"/>
              <a:ea typeface="Georgia"/>
              <a:cs typeface="Georgia"/>
              <a:sym typeface="Georgia"/>
            </a:endParaRPr>
          </a:p>
        </p:txBody>
      </p:sp>
      <p:sp>
        <p:nvSpPr>
          <p:cNvPr id="549" name="Google Shape;549;p47"/>
          <p:cNvSpPr/>
          <p:nvPr/>
        </p:nvSpPr>
        <p:spPr>
          <a:xfrm>
            <a:off x="1850700" y="2847775"/>
            <a:ext cx="454200" cy="250200"/>
          </a:xfrm>
          <a:prstGeom prst="ellipse">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P</a:t>
            </a:r>
            <a:endParaRPr>
              <a:latin typeface="Georgia"/>
              <a:ea typeface="Georgia"/>
              <a:cs typeface="Georgia"/>
              <a:sym typeface="Georgia"/>
            </a:endParaRPr>
          </a:p>
        </p:txBody>
      </p:sp>
      <p:sp>
        <p:nvSpPr>
          <p:cNvPr id="550" name="Google Shape;550;p47"/>
          <p:cNvSpPr/>
          <p:nvPr/>
        </p:nvSpPr>
        <p:spPr>
          <a:xfrm>
            <a:off x="1850700" y="3303900"/>
            <a:ext cx="454200" cy="250200"/>
          </a:xfrm>
          <a:prstGeom prst="ellipse">
            <a:avLst/>
          </a:prstGeom>
          <a:solidFill>
            <a:srgbClr val="6D9EE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S</a:t>
            </a:r>
            <a:endParaRPr>
              <a:latin typeface="Georgia"/>
              <a:ea typeface="Georgia"/>
              <a:cs typeface="Georgia"/>
              <a:sym typeface="Georgia"/>
            </a:endParaRPr>
          </a:p>
        </p:txBody>
      </p:sp>
      <p:cxnSp>
        <p:nvCxnSpPr>
          <p:cNvPr id="551" name="Google Shape;551;p47"/>
          <p:cNvCxnSpPr>
            <a:stCxn id="549" idx="7"/>
            <a:endCxn id="547" idx="1"/>
          </p:cNvCxnSpPr>
          <p:nvPr/>
        </p:nvCxnSpPr>
        <p:spPr>
          <a:xfrm rot="10800000" flipH="1">
            <a:off x="2238384" y="2139816"/>
            <a:ext cx="1554000" cy="744600"/>
          </a:xfrm>
          <a:prstGeom prst="straightConnector1">
            <a:avLst/>
          </a:prstGeom>
          <a:noFill/>
          <a:ln w="38100" cap="flat" cmpd="sng">
            <a:solidFill>
              <a:schemeClr val="dk2"/>
            </a:solidFill>
            <a:prstDash val="solid"/>
            <a:round/>
            <a:headEnd type="none" w="med" len="med"/>
            <a:tailEnd type="triangle" w="med" len="med"/>
          </a:ln>
        </p:spPr>
      </p:cxnSp>
      <p:cxnSp>
        <p:nvCxnSpPr>
          <p:cNvPr id="552" name="Google Shape;552;p47"/>
          <p:cNvCxnSpPr>
            <a:endCxn id="550" idx="5"/>
          </p:cNvCxnSpPr>
          <p:nvPr/>
        </p:nvCxnSpPr>
        <p:spPr>
          <a:xfrm rot="10800000">
            <a:off x="2238384" y="3517459"/>
            <a:ext cx="1554000" cy="781200"/>
          </a:xfrm>
          <a:prstGeom prst="straightConnector1">
            <a:avLst/>
          </a:prstGeom>
          <a:noFill/>
          <a:ln w="38100" cap="flat" cmpd="sng">
            <a:solidFill>
              <a:schemeClr val="dk2"/>
            </a:solidFill>
            <a:prstDash val="solid"/>
            <a:round/>
            <a:headEnd type="none" w="med" len="med"/>
            <a:tailEnd type="triangle" w="med" len="med"/>
          </a:ln>
        </p:spPr>
      </p:cxnSp>
      <p:sp>
        <p:nvSpPr>
          <p:cNvPr id="553" name="Google Shape;553;p47"/>
          <p:cNvSpPr txBox="1"/>
          <p:nvPr/>
        </p:nvSpPr>
        <p:spPr>
          <a:xfrm>
            <a:off x="259875"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turtlesim_node</a:t>
            </a:r>
            <a:endParaRPr/>
          </a:p>
        </p:txBody>
      </p:sp>
      <p:sp>
        <p:nvSpPr>
          <p:cNvPr id="554" name="Google Shape;554;p47"/>
          <p:cNvSpPr/>
          <p:nvPr/>
        </p:nvSpPr>
        <p:spPr>
          <a:xfrm>
            <a:off x="7604541" y="2749073"/>
            <a:ext cx="23259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/turtle_teleop</a:t>
            </a:r>
            <a:endParaRPr sz="1800">
              <a:latin typeface="Georgia"/>
              <a:ea typeface="Georgia"/>
              <a:cs typeface="Georgia"/>
              <a:sym typeface="Georgia"/>
            </a:endParaRPr>
          </a:p>
        </p:txBody>
      </p:sp>
      <p:sp>
        <p:nvSpPr>
          <p:cNvPr id="555" name="Google Shape;555;p47"/>
          <p:cNvSpPr/>
          <p:nvPr/>
        </p:nvSpPr>
        <p:spPr>
          <a:xfrm>
            <a:off x="7859225" y="3303900"/>
            <a:ext cx="454200" cy="250200"/>
          </a:xfrm>
          <a:prstGeom prst="ellipse">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P</a:t>
            </a:r>
            <a:endParaRPr>
              <a:latin typeface="Georgia"/>
              <a:ea typeface="Georgia"/>
              <a:cs typeface="Georgia"/>
              <a:sym typeface="Georgia"/>
            </a:endParaRPr>
          </a:p>
        </p:txBody>
      </p:sp>
      <p:cxnSp>
        <p:nvCxnSpPr>
          <p:cNvPr id="556" name="Google Shape;556;p47"/>
          <p:cNvCxnSpPr>
            <a:stCxn id="555" idx="3"/>
            <a:endCxn id="548" idx="3"/>
          </p:cNvCxnSpPr>
          <p:nvPr/>
        </p:nvCxnSpPr>
        <p:spPr>
          <a:xfrm flipH="1">
            <a:off x="6096041" y="3517459"/>
            <a:ext cx="1829700" cy="735300"/>
          </a:xfrm>
          <a:prstGeom prst="straightConnector1">
            <a:avLst/>
          </a:prstGeom>
          <a:noFill/>
          <a:ln w="38100" cap="flat" cmpd="sng">
            <a:solidFill>
              <a:schemeClr val="dk2"/>
            </a:solidFill>
            <a:prstDash val="solid"/>
            <a:round/>
            <a:headEnd type="none" w="med" len="med"/>
            <a:tailEnd type="triangle" w="med" len="med"/>
          </a:ln>
        </p:spPr>
      </p:cxnSp>
      <p:sp>
        <p:nvSpPr>
          <p:cNvPr id="557" name="Google Shape;557;p47"/>
          <p:cNvSpPr txBox="1"/>
          <p:nvPr/>
        </p:nvSpPr>
        <p:spPr>
          <a:xfrm>
            <a:off x="6449050"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turtle_teleop_key</a:t>
            </a:r>
            <a:endParaRPr/>
          </a:p>
        </p:txBody>
      </p:sp>
      <p:pic>
        <p:nvPicPr>
          <p:cNvPr id="558" name="Google Shape;558;p47"/>
          <p:cNvPicPr preferRelativeResize="0"/>
          <p:nvPr/>
        </p:nvPicPr>
        <p:blipFill rotWithShape="1">
          <a:blip r:embed="rId3">
            <a:alphaModFix/>
          </a:blip>
          <a:srcRect t="17312" b="13441"/>
          <a:stretch/>
        </p:blipFill>
        <p:spPr>
          <a:xfrm>
            <a:off x="7925750" y="1329895"/>
            <a:ext cx="1554000" cy="1076081"/>
          </a:xfrm>
          <a:prstGeom prst="rect">
            <a:avLst/>
          </a:prstGeom>
          <a:noFill/>
          <a:ln>
            <a:noFill/>
          </a:ln>
        </p:spPr>
      </p:pic>
      <p:sp>
        <p:nvSpPr>
          <p:cNvPr id="559" name="Google Shape;559;p47"/>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Example: Turtlesim Simulation +Teleoperation</a:t>
            </a:r>
            <a:endParaRPr/>
          </a:p>
        </p:txBody>
      </p:sp>
      <p:sp>
        <p:nvSpPr>
          <p:cNvPr id="560" name="Google Shape;560;p47"/>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35</a:t>
            </a:fld>
            <a:endParaRPr/>
          </a:p>
        </p:txBody>
      </p:sp>
      <p:sp>
        <p:nvSpPr>
          <p:cNvPr id="579" name="Google Shape;579;p49"/>
          <p:cNvSpPr/>
          <p:nvPr/>
        </p:nvSpPr>
        <p:spPr>
          <a:xfrm>
            <a:off x="156191" y="2749073"/>
            <a:ext cx="23259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/turtlesim</a:t>
            </a:r>
            <a:endParaRPr sz="1800">
              <a:latin typeface="Georgia"/>
              <a:ea typeface="Georgia"/>
              <a:cs typeface="Georgia"/>
              <a:sym typeface="Georgia"/>
            </a:endParaRPr>
          </a:p>
        </p:txBody>
      </p:sp>
      <p:sp>
        <p:nvSpPr>
          <p:cNvPr id="580" name="Google Shape;580;p49"/>
          <p:cNvSpPr/>
          <p:nvPr/>
        </p:nvSpPr>
        <p:spPr>
          <a:xfrm>
            <a:off x="3792291" y="18187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/turtle1/pose</a:t>
            </a:r>
            <a:endParaRPr sz="1800">
              <a:latin typeface="Georgia"/>
              <a:ea typeface="Georgia"/>
              <a:cs typeface="Georgia"/>
              <a:sym typeface="Georgia"/>
            </a:endParaRPr>
          </a:p>
        </p:txBody>
      </p:sp>
      <p:sp>
        <p:nvSpPr>
          <p:cNvPr id="581" name="Google Shape;581;p49"/>
          <p:cNvSpPr/>
          <p:nvPr/>
        </p:nvSpPr>
        <p:spPr>
          <a:xfrm>
            <a:off x="3792291" y="3931498"/>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/turtle1/cmd_vel</a:t>
            </a:r>
            <a:endParaRPr sz="1800">
              <a:latin typeface="Georgia"/>
              <a:ea typeface="Georgia"/>
              <a:cs typeface="Georgia"/>
              <a:sym typeface="Georgia"/>
            </a:endParaRPr>
          </a:p>
        </p:txBody>
      </p:sp>
      <p:sp>
        <p:nvSpPr>
          <p:cNvPr id="582" name="Google Shape;582;p49"/>
          <p:cNvSpPr/>
          <p:nvPr/>
        </p:nvSpPr>
        <p:spPr>
          <a:xfrm>
            <a:off x="1850700" y="2847775"/>
            <a:ext cx="454200" cy="250200"/>
          </a:xfrm>
          <a:prstGeom prst="ellipse">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P</a:t>
            </a:r>
            <a:endParaRPr>
              <a:latin typeface="Georgia"/>
              <a:ea typeface="Georgia"/>
              <a:cs typeface="Georgia"/>
              <a:sym typeface="Georgia"/>
            </a:endParaRPr>
          </a:p>
        </p:txBody>
      </p:sp>
      <p:sp>
        <p:nvSpPr>
          <p:cNvPr id="583" name="Google Shape;583;p49"/>
          <p:cNvSpPr/>
          <p:nvPr/>
        </p:nvSpPr>
        <p:spPr>
          <a:xfrm>
            <a:off x="1850700" y="3303900"/>
            <a:ext cx="454200" cy="250200"/>
          </a:xfrm>
          <a:prstGeom prst="ellipse">
            <a:avLst/>
          </a:prstGeom>
          <a:solidFill>
            <a:srgbClr val="6D9EE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S</a:t>
            </a:r>
            <a:endParaRPr>
              <a:latin typeface="Georgia"/>
              <a:ea typeface="Georgia"/>
              <a:cs typeface="Georgia"/>
              <a:sym typeface="Georgia"/>
            </a:endParaRPr>
          </a:p>
        </p:txBody>
      </p:sp>
      <p:cxnSp>
        <p:nvCxnSpPr>
          <p:cNvPr id="584" name="Google Shape;584;p49"/>
          <p:cNvCxnSpPr>
            <a:stCxn id="582" idx="7"/>
            <a:endCxn id="580" idx="1"/>
          </p:cNvCxnSpPr>
          <p:nvPr/>
        </p:nvCxnSpPr>
        <p:spPr>
          <a:xfrm rot="10800000" flipH="1">
            <a:off x="2238384" y="2139816"/>
            <a:ext cx="1554000" cy="744600"/>
          </a:xfrm>
          <a:prstGeom prst="straightConnector1">
            <a:avLst/>
          </a:prstGeom>
          <a:noFill/>
          <a:ln w="38100" cap="flat" cmpd="sng">
            <a:solidFill>
              <a:schemeClr val="dk2"/>
            </a:solidFill>
            <a:prstDash val="solid"/>
            <a:round/>
            <a:headEnd type="none" w="med" len="med"/>
            <a:tailEnd type="triangle" w="med" len="med"/>
          </a:ln>
        </p:spPr>
      </p:cxnSp>
      <p:cxnSp>
        <p:nvCxnSpPr>
          <p:cNvPr id="585" name="Google Shape;585;p49"/>
          <p:cNvCxnSpPr>
            <a:endCxn id="583" idx="5"/>
          </p:cNvCxnSpPr>
          <p:nvPr/>
        </p:nvCxnSpPr>
        <p:spPr>
          <a:xfrm rot="10800000">
            <a:off x="2238384" y="3517459"/>
            <a:ext cx="1554000" cy="781200"/>
          </a:xfrm>
          <a:prstGeom prst="straightConnector1">
            <a:avLst/>
          </a:prstGeom>
          <a:noFill/>
          <a:ln w="38100" cap="flat" cmpd="sng">
            <a:solidFill>
              <a:schemeClr val="dk2"/>
            </a:solidFill>
            <a:prstDash val="solid"/>
            <a:round/>
            <a:headEnd type="none" w="med" len="med"/>
            <a:tailEnd type="triangle" w="med" len="med"/>
          </a:ln>
        </p:spPr>
      </p:cxnSp>
      <p:sp>
        <p:nvSpPr>
          <p:cNvPr id="586" name="Google Shape;586;p49"/>
          <p:cNvSpPr txBox="1"/>
          <p:nvPr/>
        </p:nvSpPr>
        <p:spPr>
          <a:xfrm>
            <a:off x="259875"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turtlesim_node</a:t>
            </a:r>
            <a:endParaRPr/>
          </a:p>
        </p:txBody>
      </p:sp>
      <p:sp>
        <p:nvSpPr>
          <p:cNvPr id="587" name="Google Shape;587;p49"/>
          <p:cNvSpPr/>
          <p:nvPr/>
        </p:nvSpPr>
        <p:spPr>
          <a:xfrm>
            <a:off x="7604541" y="2749073"/>
            <a:ext cx="23259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/go_to_goal</a:t>
            </a:r>
            <a:endParaRPr sz="1800">
              <a:latin typeface="Georgia"/>
              <a:ea typeface="Georgia"/>
              <a:cs typeface="Georgia"/>
              <a:sym typeface="Georgia"/>
            </a:endParaRPr>
          </a:p>
        </p:txBody>
      </p:sp>
      <p:sp>
        <p:nvSpPr>
          <p:cNvPr id="588" name="Google Shape;588;p49"/>
          <p:cNvSpPr/>
          <p:nvPr/>
        </p:nvSpPr>
        <p:spPr>
          <a:xfrm>
            <a:off x="7859225" y="3303900"/>
            <a:ext cx="454200" cy="250200"/>
          </a:xfrm>
          <a:prstGeom prst="ellipse">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P</a:t>
            </a:r>
            <a:endParaRPr>
              <a:latin typeface="Georgia"/>
              <a:ea typeface="Georgia"/>
              <a:cs typeface="Georgia"/>
              <a:sym typeface="Georgia"/>
            </a:endParaRPr>
          </a:p>
        </p:txBody>
      </p:sp>
      <p:cxnSp>
        <p:nvCxnSpPr>
          <p:cNvPr id="589" name="Google Shape;589;p49"/>
          <p:cNvCxnSpPr>
            <a:stCxn id="588" idx="3"/>
            <a:endCxn id="581" idx="3"/>
          </p:cNvCxnSpPr>
          <p:nvPr/>
        </p:nvCxnSpPr>
        <p:spPr>
          <a:xfrm flipH="1">
            <a:off x="6096041" y="3517459"/>
            <a:ext cx="1829700" cy="735300"/>
          </a:xfrm>
          <a:prstGeom prst="straightConnector1">
            <a:avLst/>
          </a:prstGeom>
          <a:noFill/>
          <a:ln w="38100" cap="flat" cmpd="sng">
            <a:solidFill>
              <a:schemeClr val="dk2"/>
            </a:solidFill>
            <a:prstDash val="solid"/>
            <a:round/>
            <a:headEnd type="none" w="med" len="med"/>
            <a:tailEnd type="triangle" w="med" len="med"/>
          </a:ln>
        </p:spPr>
      </p:cxnSp>
      <p:sp>
        <p:nvSpPr>
          <p:cNvPr id="590" name="Google Shape;590;p49"/>
          <p:cNvSpPr txBox="1"/>
          <p:nvPr/>
        </p:nvSpPr>
        <p:spPr>
          <a:xfrm>
            <a:off x="5937650" y="5268300"/>
            <a:ext cx="5826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turtlesim_control go_to_goal.py </a:t>
            </a:r>
            <a:endParaRPr/>
          </a:p>
        </p:txBody>
      </p:sp>
      <p:sp>
        <p:nvSpPr>
          <p:cNvPr id="591" name="Google Shape;591;p49"/>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Example: Turtlesim Simulation +Feedback Control</a:t>
            </a:r>
            <a:endParaRPr/>
          </a:p>
        </p:txBody>
      </p:sp>
      <p:sp>
        <p:nvSpPr>
          <p:cNvPr id="592" name="Google Shape;592;p49"/>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593" name="Google Shape;593;p49"/>
          <p:cNvSpPr/>
          <p:nvPr/>
        </p:nvSpPr>
        <p:spPr>
          <a:xfrm>
            <a:off x="7859225" y="2836613"/>
            <a:ext cx="454200" cy="250200"/>
          </a:xfrm>
          <a:prstGeom prst="ellipse">
            <a:avLst/>
          </a:prstGeom>
          <a:solidFill>
            <a:srgbClr val="6D9EE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S</a:t>
            </a:r>
            <a:endParaRPr>
              <a:latin typeface="Georgia"/>
              <a:ea typeface="Georgia"/>
              <a:cs typeface="Georgia"/>
              <a:sym typeface="Georgia"/>
            </a:endParaRPr>
          </a:p>
        </p:txBody>
      </p:sp>
      <p:cxnSp>
        <p:nvCxnSpPr>
          <p:cNvPr id="594" name="Google Shape;594;p49"/>
          <p:cNvCxnSpPr>
            <a:stCxn id="580" idx="3"/>
            <a:endCxn id="593" idx="1"/>
          </p:cNvCxnSpPr>
          <p:nvPr/>
        </p:nvCxnSpPr>
        <p:spPr>
          <a:xfrm>
            <a:off x="6095991" y="2139873"/>
            <a:ext cx="1829700" cy="733500"/>
          </a:xfrm>
          <a:prstGeom prst="straightConnector1">
            <a:avLst/>
          </a:prstGeom>
          <a:noFill/>
          <a:ln w="38100" cap="flat" cmpd="sng">
            <a:solidFill>
              <a:schemeClr val="dk2"/>
            </a:solidFill>
            <a:prstDash val="solid"/>
            <a:round/>
            <a:headEnd type="none" w="med" len="med"/>
            <a:tailEnd type="triangle" w="med" len="med"/>
          </a:ln>
        </p:spPr>
      </p:cxnSp>
      <p:sp>
        <p:nvSpPr>
          <p:cNvPr id="595" name="Google Shape;595;p49"/>
          <p:cNvSpPr/>
          <p:nvPr/>
        </p:nvSpPr>
        <p:spPr>
          <a:xfrm>
            <a:off x="9589841" y="18187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/turtle1/goal</a:t>
            </a:r>
            <a:endParaRPr sz="1800">
              <a:latin typeface="Georgia"/>
              <a:ea typeface="Georgia"/>
              <a:cs typeface="Georgia"/>
              <a:sym typeface="Georgia"/>
            </a:endParaRPr>
          </a:p>
        </p:txBody>
      </p:sp>
      <p:cxnSp>
        <p:nvCxnSpPr>
          <p:cNvPr id="596" name="Google Shape;596;p49"/>
          <p:cNvCxnSpPr>
            <a:stCxn id="595" idx="2"/>
            <a:endCxn id="587" idx="7"/>
          </p:cNvCxnSpPr>
          <p:nvPr/>
        </p:nvCxnSpPr>
        <p:spPr>
          <a:xfrm flipH="1">
            <a:off x="9589691" y="2461023"/>
            <a:ext cx="1152000" cy="419100"/>
          </a:xfrm>
          <a:prstGeom prst="straightConnector1">
            <a:avLst/>
          </a:prstGeom>
          <a:noFill/>
          <a:ln w="38100" cap="flat" cmpd="sng">
            <a:solidFill>
              <a:schemeClr val="dk2"/>
            </a:solidFill>
            <a:prstDash val="solid"/>
            <a:round/>
            <a:headEnd type="none" w="med" len="med"/>
            <a:tailEnd type="triangle" w="med" len="med"/>
          </a:ln>
        </p:spPr>
      </p:cxnSp>
      <p:sp>
        <p:nvSpPr>
          <p:cNvPr id="597" name="Google Shape;597;p49"/>
          <p:cNvSpPr/>
          <p:nvPr/>
        </p:nvSpPr>
        <p:spPr>
          <a:xfrm>
            <a:off x="9185625" y="2836613"/>
            <a:ext cx="454200" cy="250200"/>
          </a:xfrm>
          <a:prstGeom prst="ellipse">
            <a:avLst/>
          </a:prstGeom>
          <a:solidFill>
            <a:srgbClr val="6D9EE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S</a:t>
            </a:r>
            <a:endParaRPr>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0"/>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36</a:t>
            </a:fld>
            <a:endParaRPr/>
          </a:p>
        </p:txBody>
      </p:sp>
      <p:sp>
        <p:nvSpPr>
          <p:cNvPr id="603" name="Google Shape;603;p50"/>
          <p:cNvSpPr/>
          <p:nvPr/>
        </p:nvSpPr>
        <p:spPr>
          <a:xfrm>
            <a:off x="156191" y="2749073"/>
            <a:ext cx="2325900" cy="895800"/>
          </a:xfrm>
          <a:prstGeom prst="ellipse">
            <a:avLst/>
          </a:prstGeom>
          <a:solidFill>
            <a:srgbClr val="DFDFDF">
              <a:alpha val="15189"/>
            </a:srgbClr>
          </a:solidFill>
          <a:ln w="9525" cap="flat" cmpd="sng">
            <a:solidFill>
              <a:srgbClr val="DFDFD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solidFill>
                  <a:srgbClr val="DFDFDF"/>
                </a:solidFill>
                <a:latin typeface="Georgia"/>
                <a:ea typeface="Georgia"/>
                <a:cs typeface="Georgia"/>
                <a:sym typeface="Georgia"/>
              </a:rPr>
              <a:t>/turtlesim</a:t>
            </a:r>
            <a:endParaRPr sz="1800">
              <a:solidFill>
                <a:srgbClr val="DFDFDF"/>
              </a:solidFill>
              <a:latin typeface="Georgia"/>
              <a:ea typeface="Georgia"/>
              <a:cs typeface="Georgia"/>
              <a:sym typeface="Georgia"/>
            </a:endParaRPr>
          </a:p>
        </p:txBody>
      </p:sp>
      <p:sp>
        <p:nvSpPr>
          <p:cNvPr id="604" name="Google Shape;604;p50"/>
          <p:cNvSpPr/>
          <p:nvPr/>
        </p:nvSpPr>
        <p:spPr>
          <a:xfrm>
            <a:off x="3792291" y="18187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/turtle1/pose</a:t>
            </a:r>
            <a:endParaRPr sz="1800">
              <a:latin typeface="Georgia"/>
              <a:ea typeface="Georgia"/>
              <a:cs typeface="Georgia"/>
              <a:sym typeface="Georgia"/>
            </a:endParaRPr>
          </a:p>
        </p:txBody>
      </p:sp>
      <p:sp>
        <p:nvSpPr>
          <p:cNvPr id="605" name="Google Shape;605;p50"/>
          <p:cNvSpPr/>
          <p:nvPr/>
        </p:nvSpPr>
        <p:spPr>
          <a:xfrm>
            <a:off x="3792291" y="3931498"/>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/turtle1/cmd_vel</a:t>
            </a:r>
            <a:endParaRPr sz="1800">
              <a:latin typeface="Georgia"/>
              <a:ea typeface="Georgia"/>
              <a:cs typeface="Georgia"/>
              <a:sym typeface="Georgia"/>
            </a:endParaRPr>
          </a:p>
        </p:txBody>
      </p:sp>
      <p:cxnSp>
        <p:nvCxnSpPr>
          <p:cNvPr id="606" name="Google Shape;606;p50"/>
          <p:cNvCxnSpPr>
            <a:stCxn id="607" idx="7"/>
            <a:endCxn id="604" idx="1"/>
          </p:cNvCxnSpPr>
          <p:nvPr/>
        </p:nvCxnSpPr>
        <p:spPr>
          <a:xfrm rot="10800000" flipH="1">
            <a:off x="2238291" y="2139873"/>
            <a:ext cx="1554000" cy="744600"/>
          </a:xfrm>
          <a:prstGeom prst="straightConnector1">
            <a:avLst/>
          </a:prstGeom>
          <a:noFill/>
          <a:ln w="38100" cap="flat" cmpd="sng">
            <a:solidFill>
              <a:srgbClr val="DFDFDF"/>
            </a:solidFill>
            <a:prstDash val="solid"/>
            <a:round/>
            <a:headEnd type="none" w="med" len="med"/>
            <a:tailEnd type="triangle" w="med" len="med"/>
          </a:ln>
        </p:spPr>
      </p:cxnSp>
      <p:cxnSp>
        <p:nvCxnSpPr>
          <p:cNvPr id="608" name="Google Shape;608;p50"/>
          <p:cNvCxnSpPr>
            <a:endCxn id="609" idx="5"/>
          </p:cNvCxnSpPr>
          <p:nvPr/>
        </p:nvCxnSpPr>
        <p:spPr>
          <a:xfrm rot="10800000">
            <a:off x="2238384" y="3517459"/>
            <a:ext cx="1554000" cy="781200"/>
          </a:xfrm>
          <a:prstGeom prst="straightConnector1">
            <a:avLst/>
          </a:prstGeom>
          <a:noFill/>
          <a:ln w="38100" cap="flat" cmpd="sng">
            <a:solidFill>
              <a:srgbClr val="DFDFDF"/>
            </a:solidFill>
            <a:prstDash val="solid"/>
            <a:round/>
            <a:headEnd type="none" w="med" len="med"/>
            <a:tailEnd type="triangle" w="med" len="med"/>
          </a:ln>
        </p:spPr>
      </p:cxnSp>
      <p:sp>
        <p:nvSpPr>
          <p:cNvPr id="610" name="Google Shape;610;p50"/>
          <p:cNvSpPr txBox="1"/>
          <p:nvPr/>
        </p:nvSpPr>
        <p:spPr>
          <a:xfrm>
            <a:off x="988675" y="5243325"/>
            <a:ext cx="8834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chemeClr val="dk1"/>
                </a:solidFill>
                <a:latin typeface="Georgia"/>
                <a:ea typeface="Georgia"/>
                <a:cs typeface="Georgia"/>
                <a:sym typeface="Georgia"/>
              </a:rPr>
              <a:t>A topic must be consistent throughout the network. Its type can be based on a message type from an existing package or a custom message type.</a:t>
            </a:r>
            <a:endParaRPr sz="1100"/>
          </a:p>
        </p:txBody>
      </p:sp>
      <p:sp>
        <p:nvSpPr>
          <p:cNvPr id="611" name="Google Shape;611;p50"/>
          <p:cNvSpPr/>
          <p:nvPr/>
        </p:nvSpPr>
        <p:spPr>
          <a:xfrm>
            <a:off x="7604541" y="2749073"/>
            <a:ext cx="2325900" cy="895800"/>
          </a:xfrm>
          <a:prstGeom prst="ellipse">
            <a:avLst/>
          </a:prstGeom>
          <a:solidFill>
            <a:srgbClr val="DFDFDF">
              <a:alpha val="15189"/>
            </a:srgbClr>
          </a:solidFill>
          <a:ln w="9525" cap="flat" cmpd="sng">
            <a:solidFill>
              <a:srgbClr val="DFDFD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solidFill>
                  <a:srgbClr val="DFDFDF"/>
                </a:solidFill>
                <a:latin typeface="Georgia"/>
                <a:ea typeface="Georgia"/>
                <a:cs typeface="Georgia"/>
                <a:sym typeface="Georgia"/>
              </a:rPr>
              <a:t>/go_to_goal</a:t>
            </a:r>
            <a:endParaRPr sz="1800">
              <a:solidFill>
                <a:srgbClr val="DFDFDF"/>
              </a:solidFill>
              <a:latin typeface="Georgia"/>
              <a:ea typeface="Georgia"/>
              <a:cs typeface="Georgia"/>
              <a:sym typeface="Georgia"/>
            </a:endParaRPr>
          </a:p>
        </p:txBody>
      </p:sp>
      <p:cxnSp>
        <p:nvCxnSpPr>
          <p:cNvPr id="612" name="Google Shape;612;p50"/>
          <p:cNvCxnSpPr>
            <a:stCxn id="613" idx="3"/>
            <a:endCxn id="605" idx="3"/>
          </p:cNvCxnSpPr>
          <p:nvPr/>
        </p:nvCxnSpPr>
        <p:spPr>
          <a:xfrm flipH="1">
            <a:off x="6095991" y="3517348"/>
            <a:ext cx="1829700" cy="735300"/>
          </a:xfrm>
          <a:prstGeom prst="straightConnector1">
            <a:avLst/>
          </a:prstGeom>
          <a:noFill/>
          <a:ln w="38100" cap="flat" cmpd="sng">
            <a:solidFill>
              <a:srgbClr val="DFDFDF"/>
            </a:solidFill>
            <a:prstDash val="solid"/>
            <a:round/>
            <a:headEnd type="none" w="med" len="med"/>
            <a:tailEnd type="triangle" w="med" len="med"/>
          </a:ln>
        </p:spPr>
      </p:cxnSp>
      <p:sp>
        <p:nvSpPr>
          <p:cNvPr id="614" name="Google Shape;614;p50"/>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dirty="0"/>
              <a:t>Message Type</a:t>
            </a:r>
            <a:endParaRPr dirty="0"/>
          </a:p>
        </p:txBody>
      </p:sp>
      <p:sp>
        <p:nvSpPr>
          <p:cNvPr id="615" name="Google Shape;615;p50"/>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cxnSp>
        <p:nvCxnSpPr>
          <p:cNvPr id="616" name="Google Shape;616;p50"/>
          <p:cNvCxnSpPr>
            <a:stCxn id="604" idx="3"/>
            <a:endCxn id="617" idx="1"/>
          </p:cNvCxnSpPr>
          <p:nvPr/>
        </p:nvCxnSpPr>
        <p:spPr>
          <a:xfrm>
            <a:off x="6095991" y="2139873"/>
            <a:ext cx="1829700" cy="733500"/>
          </a:xfrm>
          <a:prstGeom prst="straightConnector1">
            <a:avLst/>
          </a:prstGeom>
          <a:noFill/>
          <a:ln w="38100" cap="flat" cmpd="sng">
            <a:solidFill>
              <a:srgbClr val="DFDFDF"/>
            </a:solidFill>
            <a:prstDash val="solid"/>
            <a:round/>
            <a:headEnd type="none" w="med" len="med"/>
            <a:tailEnd type="triangle" w="med" len="med"/>
          </a:ln>
        </p:spPr>
      </p:cxnSp>
      <p:sp>
        <p:nvSpPr>
          <p:cNvPr id="618" name="Google Shape;618;p50"/>
          <p:cNvSpPr/>
          <p:nvPr/>
        </p:nvSpPr>
        <p:spPr>
          <a:xfrm>
            <a:off x="9589841" y="1818723"/>
            <a:ext cx="23037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/turtle1/goal</a:t>
            </a:r>
            <a:endParaRPr sz="1800">
              <a:latin typeface="Georgia"/>
              <a:ea typeface="Georgia"/>
              <a:cs typeface="Georgia"/>
              <a:sym typeface="Georgia"/>
            </a:endParaRPr>
          </a:p>
        </p:txBody>
      </p:sp>
      <p:cxnSp>
        <p:nvCxnSpPr>
          <p:cNvPr id="619" name="Google Shape;619;p50"/>
          <p:cNvCxnSpPr>
            <a:stCxn id="618" idx="2"/>
            <a:endCxn id="611" idx="7"/>
          </p:cNvCxnSpPr>
          <p:nvPr/>
        </p:nvCxnSpPr>
        <p:spPr>
          <a:xfrm flipH="1">
            <a:off x="9589691" y="2461023"/>
            <a:ext cx="1152000" cy="419100"/>
          </a:xfrm>
          <a:prstGeom prst="straightConnector1">
            <a:avLst/>
          </a:prstGeom>
          <a:noFill/>
          <a:ln w="38100" cap="flat" cmpd="sng">
            <a:solidFill>
              <a:srgbClr val="DFDFDF"/>
            </a:solidFill>
            <a:prstDash val="solid"/>
            <a:round/>
            <a:headEnd type="none" w="med" len="med"/>
            <a:tailEnd type="triangle" w="med" len="med"/>
          </a:ln>
        </p:spPr>
      </p:cxnSp>
      <p:sp>
        <p:nvSpPr>
          <p:cNvPr id="620" name="Google Shape;620;p50"/>
          <p:cNvSpPr txBox="1"/>
          <p:nvPr/>
        </p:nvSpPr>
        <p:spPr>
          <a:xfrm>
            <a:off x="3612450" y="2558275"/>
            <a:ext cx="2663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rgbClr val="569CD6"/>
                </a:solidFill>
                <a:latin typeface="Georgia"/>
                <a:ea typeface="Georgia"/>
                <a:cs typeface="Georgia"/>
                <a:sym typeface="Georgia"/>
              </a:rPr>
              <a:t>turtlesim/msg/Pose</a:t>
            </a:r>
            <a:endParaRPr sz="1100">
              <a:solidFill>
                <a:srgbClr val="569CD6"/>
              </a:solidFill>
            </a:endParaRPr>
          </a:p>
        </p:txBody>
      </p:sp>
      <p:sp>
        <p:nvSpPr>
          <p:cNvPr id="621" name="Google Shape;621;p50"/>
          <p:cNvSpPr txBox="1"/>
          <p:nvPr/>
        </p:nvSpPr>
        <p:spPr>
          <a:xfrm>
            <a:off x="3294900" y="4573800"/>
            <a:ext cx="3632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dirty="0" err="1">
                <a:solidFill>
                  <a:srgbClr val="569CD6"/>
                </a:solidFill>
                <a:latin typeface="Georgia"/>
                <a:ea typeface="Georgia"/>
                <a:cs typeface="Georgia"/>
                <a:sym typeface="Georgia"/>
              </a:rPr>
              <a:t>geometry_msgs</a:t>
            </a:r>
            <a:r>
              <a:rPr lang="en-US" sz="2100" dirty="0">
                <a:solidFill>
                  <a:srgbClr val="569CD6"/>
                </a:solidFill>
                <a:latin typeface="Georgia"/>
                <a:ea typeface="Georgia"/>
                <a:cs typeface="Georgia"/>
                <a:sym typeface="Georgia"/>
              </a:rPr>
              <a:t>/msg/Twist</a:t>
            </a:r>
            <a:endParaRPr sz="1100" dirty="0">
              <a:solidFill>
                <a:srgbClr val="569CD6"/>
              </a:solidFill>
            </a:endParaRPr>
          </a:p>
        </p:txBody>
      </p:sp>
      <p:sp>
        <p:nvSpPr>
          <p:cNvPr id="622" name="Google Shape;622;p50"/>
          <p:cNvSpPr txBox="1"/>
          <p:nvPr/>
        </p:nvSpPr>
        <p:spPr>
          <a:xfrm>
            <a:off x="8695850" y="1329900"/>
            <a:ext cx="3545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dirty="0" err="1">
                <a:solidFill>
                  <a:srgbClr val="569CD6"/>
                </a:solidFill>
                <a:latin typeface="Georgia"/>
                <a:ea typeface="Georgia"/>
                <a:cs typeface="Georgia"/>
                <a:sym typeface="Georgia"/>
              </a:rPr>
              <a:t>geometry_msgs</a:t>
            </a:r>
            <a:r>
              <a:rPr lang="en-US" sz="2100" dirty="0">
                <a:solidFill>
                  <a:srgbClr val="569CD6"/>
                </a:solidFill>
                <a:latin typeface="Georgia"/>
                <a:ea typeface="Georgia"/>
                <a:cs typeface="Georgia"/>
                <a:sym typeface="Georgia"/>
              </a:rPr>
              <a:t>/msg/Point</a:t>
            </a:r>
            <a:endParaRPr sz="1100" dirty="0">
              <a:solidFill>
                <a:srgbClr val="569CD6"/>
              </a:solidFill>
            </a:endParaRPr>
          </a:p>
        </p:txBody>
      </p:sp>
      <p:sp>
        <p:nvSpPr>
          <p:cNvPr id="623" name="Google Shape;623;p50"/>
          <p:cNvSpPr txBox="1"/>
          <p:nvPr/>
        </p:nvSpPr>
        <p:spPr>
          <a:xfrm>
            <a:off x="8448750" y="3756000"/>
            <a:ext cx="3204000" cy="1231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700">
                <a:solidFill>
                  <a:srgbClr val="FF0000"/>
                </a:solidFill>
                <a:latin typeface="Georgia"/>
                <a:ea typeface="Georgia"/>
                <a:cs typeface="Georgia"/>
                <a:sym typeface="Georgia"/>
              </a:rPr>
              <a:t>The type of a message being published by a publisher must be the same as the one being subscribed by a subscriber.</a:t>
            </a:r>
            <a:endParaRPr sz="150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1"/>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37</a:t>
            </a:fld>
            <a:endParaRPr/>
          </a:p>
        </p:txBody>
      </p:sp>
      <p:sp>
        <p:nvSpPr>
          <p:cNvPr id="629" name="Google Shape;629;p51"/>
          <p:cNvSpPr txBox="1"/>
          <p:nvPr/>
        </p:nvSpPr>
        <p:spPr>
          <a:xfrm>
            <a:off x="694050" y="4987500"/>
            <a:ext cx="88341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chemeClr val="dk1"/>
                </a:solidFill>
                <a:latin typeface="Georgia"/>
                <a:ea typeface="Georgia"/>
                <a:cs typeface="Georgia"/>
                <a:sym typeface="Georgia"/>
              </a:rPr>
              <a:t>ros2 topic echo [topic name]</a:t>
            </a:r>
            <a:endParaRPr sz="2100">
              <a:solidFill>
                <a:schemeClr val="dk1"/>
              </a:solidFill>
              <a:latin typeface="Georgia"/>
              <a:ea typeface="Georgia"/>
              <a:cs typeface="Georgia"/>
              <a:sym typeface="Georgia"/>
            </a:endParaRPr>
          </a:p>
          <a:p>
            <a:pPr marL="0" lvl="0" indent="0" algn="l" rtl="0">
              <a:spcBef>
                <a:spcPts val="0"/>
              </a:spcBef>
              <a:spcAft>
                <a:spcPts val="0"/>
              </a:spcAft>
              <a:buNone/>
            </a:pPr>
            <a:r>
              <a:rPr lang="en-US" sz="2100">
                <a:solidFill>
                  <a:schemeClr val="dk1"/>
                </a:solidFill>
                <a:latin typeface="Georgia"/>
                <a:ea typeface="Georgia"/>
                <a:cs typeface="Georgia"/>
                <a:sym typeface="Georgia"/>
              </a:rPr>
              <a:t>ros2 topic info [topic name]</a:t>
            </a:r>
            <a:endParaRPr sz="2100">
              <a:solidFill>
                <a:schemeClr val="dk1"/>
              </a:solidFill>
              <a:latin typeface="Georgia"/>
              <a:ea typeface="Georgia"/>
              <a:cs typeface="Georgia"/>
              <a:sym typeface="Georgia"/>
            </a:endParaRPr>
          </a:p>
          <a:p>
            <a:pPr marL="0" lvl="0" indent="0" algn="l" rtl="0">
              <a:spcBef>
                <a:spcPts val="0"/>
              </a:spcBef>
              <a:spcAft>
                <a:spcPts val="0"/>
              </a:spcAft>
              <a:buNone/>
            </a:pPr>
            <a:r>
              <a:rPr lang="en-US" sz="2100">
                <a:solidFill>
                  <a:schemeClr val="dk1"/>
                </a:solidFill>
                <a:latin typeface="Georgia"/>
                <a:ea typeface="Georgia"/>
                <a:cs typeface="Georgia"/>
                <a:sym typeface="Georgia"/>
              </a:rPr>
              <a:t>ros2 topic pub -r [rate] [message type] [topic_name] [message info]</a:t>
            </a:r>
            <a:endParaRPr sz="2100">
              <a:solidFill>
                <a:schemeClr val="dk1"/>
              </a:solidFill>
              <a:latin typeface="Georgia"/>
              <a:ea typeface="Georgia"/>
              <a:cs typeface="Georgia"/>
              <a:sym typeface="Georgia"/>
            </a:endParaRPr>
          </a:p>
        </p:txBody>
      </p:sp>
      <p:sp>
        <p:nvSpPr>
          <p:cNvPr id="630" name="Google Shape;630;p51"/>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Message Type</a:t>
            </a:r>
            <a:endParaRPr/>
          </a:p>
        </p:txBody>
      </p:sp>
      <p:sp>
        <p:nvSpPr>
          <p:cNvPr id="631" name="Google Shape;631;p51"/>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632" name="Google Shape;632;p51"/>
          <p:cNvSpPr txBox="1"/>
          <p:nvPr/>
        </p:nvSpPr>
        <p:spPr>
          <a:xfrm>
            <a:off x="3023550" y="1182850"/>
            <a:ext cx="5584200" cy="300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rgbClr val="569CD6"/>
                </a:solidFill>
                <a:latin typeface="Georgia"/>
                <a:ea typeface="Georgia"/>
                <a:cs typeface="Georgia"/>
                <a:sym typeface="Georgia"/>
              </a:rPr>
              <a:t>cmd_vel: geometry_msgs/msg/Twist:</a:t>
            </a:r>
            <a:endParaRPr sz="21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linear: </a:t>
            </a:r>
            <a:r>
              <a:rPr lang="en-US" sz="2100">
                <a:solidFill>
                  <a:srgbClr val="569CD6"/>
                </a:solidFill>
                <a:latin typeface="Georgia"/>
                <a:ea typeface="Georgia"/>
                <a:cs typeface="Georgia"/>
                <a:sym typeface="Georgia"/>
              </a:rPr>
              <a:t>geometry_msgs/msg/Vector3</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x :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y: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z: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angular: g</a:t>
            </a:r>
            <a:r>
              <a:rPr lang="en-US" sz="2100">
                <a:solidFill>
                  <a:srgbClr val="569CD6"/>
                </a:solidFill>
                <a:latin typeface="Georgia"/>
                <a:ea typeface="Georgia"/>
                <a:cs typeface="Georgia"/>
                <a:sym typeface="Georgia"/>
              </a:rPr>
              <a:t>eometry_msgs/msg/Vector3</a:t>
            </a:r>
            <a:endParaRPr sz="2000">
              <a:solidFill>
                <a:srgbClr val="569CD6"/>
              </a:solidFill>
              <a:latin typeface="Georgia"/>
              <a:ea typeface="Georgia"/>
              <a:cs typeface="Georgia"/>
              <a:sym typeface="Georgia"/>
            </a:endParaRPr>
          </a:p>
          <a:p>
            <a:pPr marL="457200" lvl="0" indent="457200" algn="l" rtl="0">
              <a:spcBef>
                <a:spcPts val="0"/>
              </a:spcBef>
              <a:spcAft>
                <a:spcPts val="0"/>
              </a:spcAft>
              <a:buNone/>
            </a:pPr>
            <a:r>
              <a:rPr lang="en-US" sz="2000">
                <a:solidFill>
                  <a:srgbClr val="569CD6"/>
                </a:solidFill>
                <a:latin typeface="Georgia"/>
                <a:ea typeface="Georgia"/>
                <a:cs typeface="Georgia"/>
                <a:sym typeface="Georgia"/>
              </a:rPr>
              <a:t>x :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y: float</a:t>
            </a:r>
            <a:endParaRPr sz="2000">
              <a:solidFill>
                <a:srgbClr val="569CD6"/>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r>
              <a:rPr lang="en-US" sz="2000">
                <a:solidFill>
                  <a:srgbClr val="569CD6"/>
                </a:solidFill>
                <a:latin typeface="Georgia"/>
                <a:ea typeface="Georgia"/>
                <a:cs typeface="Georgia"/>
                <a:sym typeface="Georgia"/>
              </a:rPr>
              <a:t> 		z: float</a:t>
            </a:r>
            <a:endParaRPr sz="2000">
              <a:solidFill>
                <a:srgbClr val="569CD6"/>
              </a:solidFill>
              <a:latin typeface="Georgia"/>
              <a:ea typeface="Georgia"/>
              <a:cs typeface="Georgia"/>
              <a:sym typeface="Georgia"/>
            </a:endParaRPr>
          </a:p>
        </p:txBody>
      </p:sp>
      <p:sp>
        <p:nvSpPr>
          <p:cNvPr id="633" name="Google Shape;633;p51"/>
          <p:cNvSpPr txBox="1"/>
          <p:nvPr/>
        </p:nvSpPr>
        <p:spPr>
          <a:xfrm>
            <a:off x="694050" y="4355225"/>
            <a:ext cx="3865500" cy="575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Command lines for topics:</a:t>
            </a:r>
            <a:endParaRPr sz="2400">
              <a:solidFill>
                <a:schemeClr val="dk1"/>
              </a:solidFill>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52"/>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38</a:t>
            </a:fld>
            <a:endParaRPr/>
          </a:p>
        </p:txBody>
      </p:sp>
      <p:sp>
        <p:nvSpPr>
          <p:cNvPr id="639" name="Google Shape;639;p52"/>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Example Message: Pose</a:t>
            </a:r>
            <a:endParaRPr/>
          </a:p>
        </p:txBody>
      </p:sp>
      <p:sp>
        <p:nvSpPr>
          <p:cNvPr id="640" name="Google Shape;640;p52"/>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641" name="Google Shape;641;p52"/>
          <p:cNvSpPr txBox="1"/>
          <p:nvPr/>
        </p:nvSpPr>
        <p:spPr>
          <a:xfrm>
            <a:off x="1842700" y="1329900"/>
            <a:ext cx="8184300" cy="361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rgbClr val="569CD6"/>
                </a:solidFill>
                <a:latin typeface="Georgia"/>
                <a:ea typeface="Georgia"/>
                <a:cs typeface="Georgia"/>
                <a:sym typeface="Georgia"/>
              </a:rPr>
              <a:t>pose: geometry_msgs/msg/Pose:</a:t>
            </a:r>
            <a:endParaRPr sz="2100">
              <a:solidFill>
                <a:srgbClr val="569CD6"/>
              </a:solidFill>
              <a:latin typeface="Georgia"/>
              <a:ea typeface="Georgia"/>
              <a:cs typeface="Georgia"/>
              <a:sym typeface="Georgia"/>
            </a:endParaRPr>
          </a:p>
          <a:p>
            <a:pPr marL="0" lvl="0" indent="457200" algn="l" rtl="0">
              <a:spcBef>
                <a:spcPts val="0"/>
              </a:spcBef>
              <a:spcAft>
                <a:spcPts val="0"/>
              </a:spcAft>
              <a:buClr>
                <a:schemeClr val="dk1"/>
              </a:buClr>
              <a:buSzPts val="1100"/>
              <a:buFont typeface="Arial"/>
              <a:buNone/>
            </a:pPr>
            <a:r>
              <a:rPr lang="en-US" sz="2000">
                <a:solidFill>
                  <a:srgbClr val="569CD6"/>
                </a:solidFill>
                <a:latin typeface="Georgia"/>
                <a:ea typeface="Georgia"/>
                <a:cs typeface="Georgia"/>
                <a:sym typeface="Georgia"/>
              </a:rPr>
              <a:t>orientation: g</a:t>
            </a:r>
            <a:r>
              <a:rPr lang="en-US" sz="2100">
                <a:solidFill>
                  <a:srgbClr val="569CD6"/>
                </a:solidFill>
                <a:latin typeface="Georgia"/>
                <a:ea typeface="Georgia"/>
                <a:cs typeface="Georgia"/>
                <a:sym typeface="Georgia"/>
              </a:rPr>
              <a:t>eometry_msgs/msg/Quaternion</a:t>
            </a:r>
            <a:endParaRPr sz="2000">
              <a:solidFill>
                <a:srgbClr val="569CD6"/>
              </a:solidFill>
              <a:latin typeface="Georgia"/>
              <a:ea typeface="Georgia"/>
              <a:cs typeface="Georgia"/>
              <a:sym typeface="Georgia"/>
            </a:endParaRPr>
          </a:p>
          <a:p>
            <a:pPr marL="457200" lvl="0" indent="457200" algn="l" rtl="0">
              <a:spcBef>
                <a:spcPts val="0"/>
              </a:spcBef>
              <a:spcAft>
                <a:spcPts val="0"/>
              </a:spcAft>
              <a:buClr>
                <a:schemeClr val="dk1"/>
              </a:buClr>
              <a:buSzPts val="1100"/>
              <a:buFont typeface="Arial"/>
              <a:buNone/>
            </a:pPr>
            <a:r>
              <a:rPr lang="en-US" sz="2000">
                <a:solidFill>
                  <a:srgbClr val="569CD6"/>
                </a:solidFill>
                <a:latin typeface="Georgia"/>
                <a:ea typeface="Georgia"/>
                <a:cs typeface="Georgia"/>
                <a:sym typeface="Georgia"/>
              </a:rPr>
              <a:t>x : float</a:t>
            </a:r>
            <a:endParaRPr sz="2000">
              <a:solidFill>
                <a:srgbClr val="569CD6"/>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r>
              <a:rPr lang="en-US" sz="2000">
                <a:solidFill>
                  <a:srgbClr val="569CD6"/>
                </a:solidFill>
                <a:latin typeface="Georgia"/>
                <a:ea typeface="Georgia"/>
                <a:cs typeface="Georgia"/>
                <a:sym typeface="Georgia"/>
              </a:rPr>
              <a:t>		y: float</a:t>
            </a:r>
            <a:endParaRPr sz="2000">
              <a:solidFill>
                <a:srgbClr val="569CD6"/>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r>
              <a:rPr lang="en-US" sz="2000">
                <a:solidFill>
                  <a:srgbClr val="569CD6"/>
                </a:solidFill>
                <a:latin typeface="Georgia"/>
                <a:ea typeface="Georgia"/>
                <a:cs typeface="Georgia"/>
                <a:sym typeface="Georgia"/>
              </a:rPr>
              <a:t> 		z: float</a:t>
            </a:r>
            <a:endParaRPr sz="2000">
              <a:solidFill>
                <a:srgbClr val="569CD6"/>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r>
              <a:rPr lang="en-US" sz="2000">
                <a:solidFill>
                  <a:srgbClr val="569CD6"/>
                </a:solidFill>
                <a:latin typeface="Georgia"/>
                <a:ea typeface="Georgia"/>
                <a:cs typeface="Georgia"/>
                <a:sym typeface="Georgia"/>
              </a:rPr>
              <a:t> 		w: float</a:t>
            </a:r>
            <a:endParaRPr sz="21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position: </a:t>
            </a:r>
            <a:r>
              <a:rPr lang="en-US" sz="2100">
                <a:solidFill>
                  <a:srgbClr val="569CD6"/>
                </a:solidFill>
                <a:latin typeface="Georgia"/>
                <a:ea typeface="Georgia"/>
                <a:cs typeface="Georgia"/>
                <a:sym typeface="Georgia"/>
              </a:rPr>
              <a:t>geometry_msgs/msg/Vector3</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x :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y: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z: float</a:t>
            </a:r>
            <a:endParaRPr sz="2000">
              <a:solidFill>
                <a:srgbClr val="569CD6"/>
              </a:solidFill>
              <a:latin typeface="Georgia"/>
              <a:ea typeface="Georgia"/>
              <a:cs typeface="Georgia"/>
              <a:sym typeface="Georgia"/>
            </a:endParaRPr>
          </a:p>
          <a:p>
            <a:pPr marL="0" lvl="0" indent="0" algn="l" rtl="0">
              <a:spcBef>
                <a:spcPts val="0"/>
              </a:spcBef>
              <a:spcAft>
                <a:spcPts val="0"/>
              </a:spcAft>
              <a:buNone/>
            </a:pPr>
            <a:r>
              <a:rPr lang="en-US" sz="2000">
                <a:solidFill>
                  <a:srgbClr val="569CD6"/>
                </a:solidFill>
                <a:latin typeface="Georgia"/>
                <a:ea typeface="Georgia"/>
                <a:cs typeface="Georgia"/>
                <a:sym typeface="Georgia"/>
              </a:rPr>
              <a:t>	</a:t>
            </a:r>
            <a:endParaRPr sz="2000">
              <a:solidFill>
                <a:srgbClr val="569CD6"/>
              </a:solidFill>
              <a:latin typeface="Georgia"/>
              <a:ea typeface="Georgia"/>
              <a:cs typeface="Georgia"/>
              <a:sym typeface="Georgia"/>
            </a:endParaRPr>
          </a:p>
        </p:txBody>
      </p:sp>
      <p:pic>
        <p:nvPicPr>
          <p:cNvPr id="642" name="Google Shape;642;p52" descr="\mathbf{T}=\begin{bmatrix}\mathbf{R} &amp; \mathbf{p} \\ \mathbf{0}^\top &amp; 1\end{bmatrix}\rightarrow (\mathbf{q},\mathbf{p})=\left(\begin{bmatrix}q_w\\q_x\\q_y\\q_z\end{bmatrix},\begin{bmatrix}p_x\\p_y\\p_z\end{bmatrix}\right)&#10;%f0f99ee1-5091-4848-bf28-c7a1d8d7507d"/>
          <p:cNvPicPr preferRelativeResize="0"/>
          <p:nvPr/>
        </p:nvPicPr>
        <p:blipFill>
          <a:blip r:embed="rId3">
            <a:alphaModFix/>
          </a:blip>
          <a:stretch>
            <a:fillRect/>
          </a:stretch>
        </p:blipFill>
        <p:spPr>
          <a:xfrm>
            <a:off x="2987900" y="4556250"/>
            <a:ext cx="4905375" cy="14097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a:cs typeface="Angsana New"/>
              </a:rPr>
              <a:t>The </a:t>
            </a:r>
            <a:r>
              <a:rPr lang="th-TH" err="1">
                <a:cs typeface="Angsana New"/>
              </a:rPr>
              <a:t>concept</a:t>
            </a:r>
            <a:r>
              <a:rPr lang="th-TH">
                <a:cs typeface="Angsana New"/>
              </a:rPr>
              <a:t> of </a:t>
            </a:r>
            <a:r>
              <a:rPr lang="th-TH" err="1">
                <a:cs typeface="Angsana New"/>
              </a:rPr>
              <a:t>message</a:t>
            </a:r>
            <a:endParaRPr lang="en-US" err="1"/>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39</a:t>
            </a:fld>
            <a:endParaRPr lang="en-US"/>
          </a:p>
        </p:txBody>
      </p:sp>
      <p:sp>
        <p:nvSpPr>
          <p:cNvPr id="5" name="Oval 4">
            <a:extLst>
              <a:ext uri="{FF2B5EF4-FFF2-40B4-BE49-F238E27FC236}">
                <a16:creationId xmlns:a16="http://schemas.microsoft.com/office/drawing/2014/main" id="{AC723246-9AF0-4758-9A22-4205D91E43C1}"/>
              </a:ext>
            </a:extLst>
          </p:cNvPr>
          <p:cNvSpPr/>
          <p:nvPr/>
        </p:nvSpPr>
        <p:spPr>
          <a:xfrm>
            <a:off x="2019300" y="3228974"/>
            <a:ext cx="1762125" cy="923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r>
              <a:rPr lang="en-US" err="1">
                <a:solidFill>
                  <a:schemeClr val="tx1"/>
                </a:solidFill>
              </a:rPr>
              <a:t>turtlesim</a:t>
            </a:r>
            <a:endParaRPr lang="en-US">
              <a:solidFill>
                <a:schemeClr val="tx1"/>
              </a:solidFill>
            </a:endParaRPr>
          </a:p>
        </p:txBody>
      </p:sp>
      <p:sp>
        <p:nvSpPr>
          <p:cNvPr id="6" name="Rectangle 5">
            <a:extLst>
              <a:ext uri="{FF2B5EF4-FFF2-40B4-BE49-F238E27FC236}">
                <a16:creationId xmlns:a16="http://schemas.microsoft.com/office/drawing/2014/main" id="{4FCA084E-953B-4424-8E8C-C939DE19E5C7}"/>
              </a:ext>
            </a:extLst>
          </p:cNvPr>
          <p:cNvSpPr/>
          <p:nvPr/>
        </p:nvSpPr>
        <p:spPr>
          <a:xfrm>
            <a:off x="4733924" y="4495800"/>
            <a:ext cx="2238375" cy="62484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tx1"/>
                </a:solidFill>
              </a:rPr>
              <a:t>/turtle1/</a:t>
            </a:r>
            <a:r>
              <a:rPr lang="en-US" err="1">
                <a:solidFill>
                  <a:schemeClr val="tx1"/>
                </a:solidFill>
              </a:rPr>
              <a:t>cmd_vel</a:t>
            </a:r>
            <a:endParaRPr lang="en-US">
              <a:solidFill>
                <a:schemeClr val="tx1"/>
              </a:solidFill>
            </a:endParaRPr>
          </a:p>
        </p:txBody>
      </p:sp>
      <p:sp>
        <p:nvSpPr>
          <p:cNvPr id="7" name="Rectangle 6">
            <a:extLst>
              <a:ext uri="{FF2B5EF4-FFF2-40B4-BE49-F238E27FC236}">
                <a16:creationId xmlns:a16="http://schemas.microsoft.com/office/drawing/2014/main" id="{5F7A38D0-0DA2-4C68-95F6-4D0686BCB595}"/>
              </a:ext>
            </a:extLst>
          </p:cNvPr>
          <p:cNvSpPr/>
          <p:nvPr/>
        </p:nvSpPr>
        <p:spPr>
          <a:xfrm>
            <a:off x="4733923" y="2362200"/>
            <a:ext cx="2238375" cy="62484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tx1"/>
                </a:solidFill>
              </a:rPr>
              <a:t>/turtle1/pose</a:t>
            </a:r>
          </a:p>
        </p:txBody>
      </p:sp>
      <p:cxnSp>
        <p:nvCxnSpPr>
          <p:cNvPr id="9" name="Straight Arrow Connector 8">
            <a:extLst>
              <a:ext uri="{FF2B5EF4-FFF2-40B4-BE49-F238E27FC236}">
                <a16:creationId xmlns:a16="http://schemas.microsoft.com/office/drawing/2014/main" id="{981D0867-2A63-4AA0-AAC4-F5A1D3362516}"/>
              </a:ext>
            </a:extLst>
          </p:cNvPr>
          <p:cNvCxnSpPr>
            <a:stCxn id="5" idx="7"/>
            <a:endCxn id="7" idx="1"/>
          </p:cNvCxnSpPr>
          <p:nvPr/>
        </p:nvCxnSpPr>
        <p:spPr>
          <a:xfrm flipV="1">
            <a:off x="3523368" y="2674621"/>
            <a:ext cx="1210555" cy="6896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F2D28EC-835F-4C70-AB26-3C241561CD94}"/>
              </a:ext>
            </a:extLst>
          </p:cNvPr>
          <p:cNvCxnSpPr>
            <a:cxnSpLocks/>
            <a:stCxn id="6" idx="1"/>
            <a:endCxn id="5" idx="5"/>
          </p:cNvCxnSpPr>
          <p:nvPr/>
        </p:nvCxnSpPr>
        <p:spPr>
          <a:xfrm flipH="1" flipV="1">
            <a:off x="3523368" y="4017593"/>
            <a:ext cx="1210556" cy="790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FD35C27-A3B1-4068-8675-5F205A97B521}"/>
              </a:ext>
            </a:extLst>
          </p:cNvPr>
          <p:cNvSpPr txBox="1"/>
          <p:nvPr/>
        </p:nvSpPr>
        <p:spPr>
          <a:xfrm>
            <a:off x="4967286" y="3556681"/>
            <a:ext cx="1771648" cy="830997"/>
          </a:xfrm>
          <a:prstGeom prst="rect">
            <a:avLst/>
          </a:prstGeom>
          <a:noFill/>
        </p:spPr>
        <p:txBody>
          <a:bodyPr wrap="square" lIns="91440" tIns="45720" rIns="91440" bIns="45720" rtlCol="0" anchor="t">
            <a:spAutoFit/>
          </a:bodyPr>
          <a:lstStyle/>
          <a:p>
            <a:r>
              <a:rPr lang="th-TH" sz="2400" err="1">
                <a:cs typeface="Cordia New"/>
              </a:rPr>
              <a:t>Type</a:t>
            </a:r>
            <a:r>
              <a:rPr lang="th-TH" sz="2400">
                <a:cs typeface="Cordia New"/>
              </a:rPr>
              <a:t> of </a:t>
            </a:r>
            <a:r>
              <a:rPr lang="th-TH" sz="2400" err="1">
                <a:cs typeface="Cordia New"/>
              </a:rPr>
              <a:t>message</a:t>
            </a:r>
            <a:endParaRPr lang="en-US" err="1"/>
          </a:p>
        </p:txBody>
      </p:sp>
      <p:sp>
        <p:nvSpPr>
          <p:cNvPr id="12" name="TextBox 11">
            <a:extLst>
              <a:ext uri="{FF2B5EF4-FFF2-40B4-BE49-F238E27FC236}">
                <a16:creationId xmlns:a16="http://schemas.microsoft.com/office/drawing/2014/main" id="{16557766-EA2D-4AE0-A8A3-45BB20E1257D}"/>
              </a:ext>
            </a:extLst>
          </p:cNvPr>
          <p:cNvSpPr txBox="1"/>
          <p:nvPr/>
        </p:nvSpPr>
        <p:spPr>
          <a:xfrm>
            <a:off x="5057774" y="1902632"/>
            <a:ext cx="1762126" cy="307777"/>
          </a:xfrm>
          <a:prstGeom prst="rect">
            <a:avLst/>
          </a:prstGeom>
          <a:noFill/>
        </p:spPr>
        <p:txBody>
          <a:bodyPr wrap="square" rtlCol="0">
            <a:spAutoFit/>
          </a:bodyPr>
          <a:lstStyle/>
          <a:p>
            <a:r>
              <a:rPr lang="en-US" dirty="0" err="1"/>
              <a:t>turtlesim</a:t>
            </a:r>
            <a:r>
              <a:rPr lang="en-US" dirty="0"/>
              <a:t>/msg/Pose</a:t>
            </a:r>
          </a:p>
        </p:txBody>
      </p:sp>
      <p:sp>
        <p:nvSpPr>
          <p:cNvPr id="13" name="TextBox 12">
            <a:extLst>
              <a:ext uri="{FF2B5EF4-FFF2-40B4-BE49-F238E27FC236}">
                <a16:creationId xmlns:a16="http://schemas.microsoft.com/office/drawing/2014/main" id="{82812B69-1723-4A43-9355-752F643A1954}"/>
              </a:ext>
            </a:extLst>
          </p:cNvPr>
          <p:cNvSpPr txBox="1"/>
          <p:nvPr/>
        </p:nvSpPr>
        <p:spPr>
          <a:xfrm>
            <a:off x="914399" y="5377861"/>
            <a:ext cx="4600575" cy="369332"/>
          </a:xfrm>
          <a:prstGeom prst="rect">
            <a:avLst/>
          </a:prstGeom>
          <a:noFill/>
        </p:spPr>
        <p:txBody>
          <a:bodyPr wrap="square" rtlCol="0">
            <a:spAutoFit/>
          </a:bodyPr>
          <a:lstStyle/>
          <a:p>
            <a:r>
              <a:rPr lang="en-US"/>
              <a:t>ros2 run </a:t>
            </a:r>
            <a:r>
              <a:rPr lang="en-US" err="1"/>
              <a:t>turtlesim</a:t>
            </a:r>
            <a:r>
              <a:rPr lang="en-US"/>
              <a:t> </a:t>
            </a:r>
            <a:r>
              <a:rPr lang="en-US" err="1"/>
              <a:t>turtlesim_node</a:t>
            </a:r>
            <a:endParaRPr lang="en-US"/>
          </a:p>
        </p:txBody>
      </p:sp>
      <p:sp>
        <p:nvSpPr>
          <p:cNvPr id="15" name="TextBox 14">
            <a:extLst>
              <a:ext uri="{FF2B5EF4-FFF2-40B4-BE49-F238E27FC236}">
                <a16:creationId xmlns:a16="http://schemas.microsoft.com/office/drawing/2014/main" id="{679CA32D-3BD6-4E44-8E88-F45182A80CBA}"/>
              </a:ext>
            </a:extLst>
          </p:cNvPr>
          <p:cNvSpPr txBox="1"/>
          <p:nvPr/>
        </p:nvSpPr>
        <p:spPr>
          <a:xfrm>
            <a:off x="7930443" y="2113835"/>
            <a:ext cx="3809118" cy="1200329"/>
          </a:xfrm>
          <a:prstGeom prst="rect">
            <a:avLst/>
          </a:prstGeom>
          <a:noFill/>
          <a:ln>
            <a:solidFill>
              <a:schemeClr val="accent1"/>
            </a:solidFill>
          </a:ln>
        </p:spPr>
        <p:txBody>
          <a:bodyPr wrap="square" rtlCol="0">
            <a:spAutoFit/>
          </a:bodyPr>
          <a:lstStyle/>
          <a:p>
            <a:r>
              <a:rPr lang="en-US"/>
              <a:t>ros2 topic echo [</a:t>
            </a:r>
            <a:r>
              <a:rPr lang="en-US" err="1"/>
              <a:t>topic_name</a:t>
            </a:r>
            <a:r>
              <a:rPr lang="en-US"/>
              <a:t>]</a:t>
            </a:r>
            <a:br>
              <a:rPr lang="en-US"/>
            </a:br>
            <a:r>
              <a:rPr lang="en-US"/>
              <a:t>ros2 topic info [</a:t>
            </a:r>
            <a:r>
              <a:rPr lang="en-US" err="1"/>
              <a:t>topic_name</a:t>
            </a:r>
            <a:r>
              <a:rPr lang="en-US"/>
              <a:t>]</a:t>
            </a:r>
            <a:br>
              <a:rPr lang="en-US"/>
            </a:br>
            <a:r>
              <a:rPr lang="en-US"/>
              <a:t>ros2 interface show [</a:t>
            </a:r>
            <a:r>
              <a:rPr lang="en-US" err="1"/>
              <a:t>message_type</a:t>
            </a:r>
            <a:r>
              <a:rPr lang="en-US"/>
              <a:t>]</a:t>
            </a:r>
          </a:p>
          <a:p>
            <a:endParaRPr lang="en-US"/>
          </a:p>
        </p:txBody>
      </p:sp>
      <p:sp>
        <p:nvSpPr>
          <p:cNvPr id="17" name="TextBox 16">
            <a:extLst>
              <a:ext uri="{FF2B5EF4-FFF2-40B4-BE49-F238E27FC236}">
                <a16:creationId xmlns:a16="http://schemas.microsoft.com/office/drawing/2014/main" id="{17312272-12F9-4F2B-9EBE-0E6C5303CCB0}"/>
              </a:ext>
            </a:extLst>
          </p:cNvPr>
          <p:cNvSpPr txBox="1"/>
          <p:nvPr/>
        </p:nvSpPr>
        <p:spPr>
          <a:xfrm>
            <a:off x="4733923" y="5157773"/>
            <a:ext cx="2490784" cy="307777"/>
          </a:xfrm>
          <a:prstGeom prst="rect">
            <a:avLst/>
          </a:prstGeom>
          <a:noFill/>
        </p:spPr>
        <p:txBody>
          <a:bodyPr wrap="square" rtlCol="0">
            <a:spAutoFit/>
          </a:bodyPr>
          <a:lstStyle/>
          <a:p>
            <a:r>
              <a:rPr lang="en-US" dirty="0" err="1"/>
              <a:t>geometry_msgs</a:t>
            </a:r>
            <a:r>
              <a:rPr lang="en-US" dirty="0"/>
              <a:t>/msg/Twist</a:t>
            </a:r>
          </a:p>
        </p:txBody>
      </p:sp>
      <p:pic>
        <p:nvPicPr>
          <p:cNvPr id="11" name="Google Shape;67;p15">
            <a:extLst>
              <a:ext uri="{FF2B5EF4-FFF2-40B4-BE49-F238E27FC236}">
                <a16:creationId xmlns:a16="http://schemas.microsoft.com/office/drawing/2014/main" id="{6974604C-F4F6-A12F-8191-BD1AE02B2FF7}"/>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6" name="TextBox 15">
            <a:extLst>
              <a:ext uri="{FF2B5EF4-FFF2-40B4-BE49-F238E27FC236}">
                <a16:creationId xmlns:a16="http://schemas.microsoft.com/office/drawing/2014/main" id="{5CEE7681-0C08-D1D9-402B-8D5D9D384E52}"/>
              </a:ext>
            </a:extLst>
          </p:cNvPr>
          <p:cNvSpPr txBox="1"/>
          <p:nvPr/>
        </p:nvSpPr>
        <p:spPr>
          <a:xfrm>
            <a:off x="7930442" y="3399709"/>
            <a:ext cx="3809118" cy="2862322"/>
          </a:xfrm>
          <a:prstGeom prst="rect">
            <a:avLst/>
          </a:prstGeom>
          <a:noFill/>
          <a:ln>
            <a:solidFill>
              <a:schemeClr val="accent1"/>
            </a:solidFill>
          </a:ln>
        </p:spPr>
        <p:txBody>
          <a:bodyPr wrap="square" lIns="91440" tIns="45720" rIns="91440" bIns="45720" rtlCol="0" anchor="t">
            <a:spAutoFit/>
          </a:bodyPr>
          <a:lstStyle/>
          <a:p>
            <a:r>
              <a:rPr lang="en-US"/>
              <a:t>Twist :</a:t>
            </a:r>
          </a:p>
          <a:p>
            <a:pPr marL="285750" indent="-285750">
              <a:buFont typeface="Calibri"/>
              <a:buChar char="-"/>
            </a:pPr>
            <a:r>
              <a:rPr lang="en-US">
                <a:cs typeface="Calibri"/>
              </a:rPr>
              <a:t>linear:</a:t>
            </a:r>
          </a:p>
          <a:p>
            <a:pPr marL="742950" lvl="1" indent="-285750">
              <a:buFont typeface="Calibri"/>
              <a:buChar char="-"/>
            </a:pPr>
            <a:r>
              <a:rPr lang="en-US">
                <a:cs typeface="Calibri"/>
              </a:rPr>
              <a:t>x</a:t>
            </a:r>
          </a:p>
          <a:p>
            <a:pPr marL="742950" lvl="1" indent="-285750">
              <a:buFont typeface="Calibri"/>
              <a:buChar char="-"/>
            </a:pPr>
            <a:r>
              <a:rPr lang="en-US">
                <a:cs typeface="Calibri"/>
              </a:rPr>
              <a:t>y</a:t>
            </a:r>
          </a:p>
          <a:p>
            <a:pPr marL="742950" lvl="1" indent="-285750">
              <a:buFont typeface="Calibri"/>
              <a:buChar char="-"/>
            </a:pPr>
            <a:r>
              <a:rPr lang="en-US">
                <a:cs typeface="Calibri"/>
              </a:rPr>
              <a:t>z</a:t>
            </a:r>
          </a:p>
          <a:p>
            <a:pPr marL="285750" indent="-285750">
              <a:buFont typeface="Calibri,Sans-Serif"/>
              <a:buChar char="-"/>
            </a:pPr>
            <a:r>
              <a:rPr lang="en-US">
                <a:cs typeface="Calibri"/>
              </a:rPr>
              <a:t>angular</a:t>
            </a:r>
            <a:r>
              <a:rPr lang="en-US">
                <a:ea typeface="+mn-lt"/>
                <a:cs typeface="+mn-lt"/>
              </a:rPr>
              <a:t>:</a:t>
            </a:r>
          </a:p>
          <a:p>
            <a:pPr marL="742950" lvl="1" indent="-285750">
              <a:buFont typeface="Calibri,Sans-Serif"/>
              <a:buChar char="-"/>
            </a:pPr>
            <a:r>
              <a:rPr lang="en-US">
                <a:ea typeface="+mn-lt"/>
                <a:cs typeface="+mn-lt"/>
              </a:rPr>
              <a:t>x</a:t>
            </a:r>
          </a:p>
          <a:p>
            <a:pPr marL="742950" lvl="1" indent="-285750">
              <a:buFont typeface="Calibri,Sans-Serif"/>
              <a:buChar char="-"/>
            </a:pPr>
            <a:r>
              <a:rPr lang="en-US">
                <a:ea typeface="+mn-lt"/>
                <a:cs typeface="+mn-lt"/>
              </a:rPr>
              <a:t>y</a:t>
            </a:r>
          </a:p>
          <a:p>
            <a:pPr marL="742950" lvl="1" indent="-285750">
              <a:buFont typeface="Calibri,Sans-Serif"/>
              <a:buChar char="-"/>
            </a:pPr>
            <a:r>
              <a:rPr lang="en-US">
                <a:ea typeface="+mn-lt"/>
                <a:cs typeface="+mn-lt"/>
              </a:rPr>
              <a:t>z</a:t>
            </a:r>
            <a:endParaRPr lang="en-US"/>
          </a:p>
          <a:p>
            <a:endParaRPr lang="en-US">
              <a:cs typeface="Calibri" panose="020F0502020204030204"/>
            </a:endParaRPr>
          </a:p>
        </p:txBody>
      </p:sp>
      <p:sp>
        <p:nvSpPr>
          <p:cNvPr id="19" name="TextBox 18">
            <a:extLst>
              <a:ext uri="{FF2B5EF4-FFF2-40B4-BE49-F238E27FC236}">
                <a16:creationId xmlns:a16="http://schemas.microsoft.com/office/drawing/2014/main" id="{DB630D7F-0F47-34A2-A040-B86D19C7776D}"/>
              </a:ext>
            </a:extLst>
          </p:cNvPr>
          <p:cNvSpPr txBox="1"/>
          <p:nvPr/>
        </p:nvSpPr>
        <p:spPr>
          <a:xfrm>
            <a:off x="98612" y="6462993"/>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8" name="TextBox 2">
            <a:extLst>
              <a:ext uri="{FF2B5EF4-FFF2-40B4-BE49-F238E27FC236}">
                <a16:creationId xmlns:a16="http://schemas.microsoft.com/office/drawing/2014/main" id="{CF56FB17-8CF6-B1AF-0716-F05F999834FC}"/>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480652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en-US" err="1">
                <a:cs typeface="Calibri Light"/>
              </a:rPr>
              <a:t>Publising</a:t>
            </a:r>
            <a:r>
              <a:rPr lang="en-US">
                <a:cs typeface="Calibri Light"/>
              </a:rPr>
              <a:t> messages from the terminal</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40</a:t>
            </a:fld>
            <a:endParaRPr lang="en-US"/>
          </a:p>
        </p:txBody>
      </p:sp>
      <p:sp>
        <p:nvSpPr>
          <p:cNvPr id="5" name="Oval 4">
            <a:extLst>
              <a:ext uri="{FF2B5EF4-FFF2-40B4-BE49-F238E27FC236}">
                <a16:creationId xmlns:a16="http://schemas.microsoft.com/office/drawing/2014/main" id="{AC723246-9AF0-4758-9A22-4205D91E43C1}"/>
              </a:ext>
            </a:extLst>
          </p:cNvPr>
          <p:cNvSpPr/>
          <p:nvPr/>
        </p:nvSpPr>
        <p:spPr>
          <a:xfrm>
            <a:off x="714375" y="3076476"/>
            <a:ext cx="1762125" cy="923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r>
              <a:rPr lang="en-US" err="1">
                <a:solidFill>
                  <a:schemeClr val="tx1"/>
                </a:solidFill>
              </a:rPr>
              <a:t>turtlesim</a:t>
            </a:r>
            <a:endParaRPr lang="en-US">
              <a:solidFill>
                <a:schemeClr val="tx1"/>
              </a:solidFill>
            </a:endParaRPr>
          </a:p>
        </p:txBody>
      </p:sp>
      <p:sp>
        <p:nvSpPr>
          <p:cNvPr id="6" name="Rectangle 5">
            <a:extLst>
              <a:ext uri="{FF2B5EF4-FFF2-40B4-BE49-F238E27FC236}">
                <a16:creationId xmlns:a16="http://schemas.microsoft.com/office/drawing/2014/main" id="{4FCA084E-953B-4424-8E8C-C939DE19E5C7}"/>
              </a:ext>
            </a:extLst>
          </p:cNvPr>
          <p:cNvSpPr/>
          <p:nvPr/>
        </p:nvSpPr>
        <p:spPr>
          <a:xfrm>
            <a:off x="3428999" y="4343302"/>
            <a:ext cx="2238375" cy="62484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tx1"/>
                </a:solidFill>
              </a:rPr>
              <a:t>/turtle1/</a:t>
            </a:r>
            <a:r>
              <a:rPr lang="en-US" err="1">
                <a:solidFill>
                  <a:schemeClr val="tx1"/>
                </a:solidFill>
              </a:rPr>
              <a:t>cmd_vel</a:t>
            </a:r>
            <a:endParaRPr lang="en-US">
              <a:solidFill>
                <a:schemeClr val="tx1"/>
              </a:solidFill>
            </a:endParaRPr>
          </a:p>
        </p:txBody>
      </p:sp>
      <p:sp>
        <p:nvSpPr>
          <p:cNvPr id="7" name="Rectangle 6">
            <a:extLst>
              <a:ext uri="{FF2B5EF4-FFF2-40B4-BE49-F238E27FC236}">
                <a16:creationId xmlns:a16="http://schemas.microsoft.com/office/drawing/2014/main" id="{5F7A38D0-0DA2-4C68-95F6-4D0686BCB595}"/>
              </a:ext>
            </a:extLst>
          </p:cNvPr>
          <p:cNvSpPr/>
          <p:nvPr/>
        </p:nvSpPr>
        <p:spPr>
          <a:xfrm>
            <a:off x="3428998" y="2209702"/>
            <a:ext cx="2238375" cy="62484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tx1"/>
                </a:solidFill>
              </a:rPr>
              <a:t>/turtle1/pose</a:t>
            </a:r>
          </a:p>
        </p:txBody>
      </p:sp>
      <p:cxnSp>
        <p:nvCxnSpPr>
          <p:cNvPr id="9" name="Straight Arrow Connector 8">
            <a:extLst>
              <a:ext uri="{FF2B5EF4-FFF2-40B4-BE49-F238E27FC236}">
                <a16:creationId xmlns:a16="http://schemas.microsoft.com/office/drawing/2014/main" id="{981D0867-2A63-4AA0-AAC4-F5A1D3362516}"/>
              </a:ext>
            </a:extLst>
          </p:cNvPr>
          <p:cNvCxnSpPr>
            <a:stCxn id="5" idx="7"/>
            <a:endCxn id="7" idx="1"/>
          </p:cNvCxnSpPr>
          <p:nvPr/>
        </p:nvCxnSpPr>
        <p:spPr>
          <a:xfrm flipV="1">
            <a:off x="2218443" y="2522123"/>
            <a:ext cx="1210555" cy="6896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F2D28EC-835F-4C70-AB26-3C241561CD94}"/>
              </a:ext>
            </a:extLst>
          </p:cNvPr>
          <p:cNvCxnSpPr>
            <a:cxnSpLocks/>
            <a:stCxn id="6" idx="1"/>
            <a:endCxn id="5" idx="5"/>
          </p:cNvCxnSpPr>
          <p:nvPr/>
        </p:nvCxnSpPr>
        <p:spPr>
          <a:xfrm flipH="1" flipV="1">
            <a:off x="2218443" y="3865095"/>
            <a:ext cx="1210556" cy="790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79CA32D-3BD6-4E44-8E88-F45182A80CBA}"/>
              </a:ext>
            </a:extLst>
          </p:cNvPr>
          <p:cNvSpPr txBox="1"/>
          <p:nvPr/>
        </p:nvSpPr>
        <p:spPr>
          <a:xfrm>
            <a:off x="4852989" y="3122878"/>
            <a:ext cx="7339011" cy="369332"/>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rgbClr val="333333"/>
                </a:solidFill>
                <a:effectLst/>
                <a:latin typeface="SFMono-Regular"/>
              </a:rPr>
              <a:t>ros2 topic pub –r [rate in Hz] [</a:t>
            </a:r>
            <a:r>
              <a:rPr kumimoji="0" lang="en-US" altLang="en-US" sz="1800" b="0" i="0" u="none" strike="noStrike" cap="none" normalizeH="0" baseline="0" err="1">
                <a:ln>
                  <a:noFill/>
                </a:ln>
                <a:solidFill>
                  <a:srgbClr val="333333"/>
                </a:solidFill>
                <a:effectLst/>
                <a:latin typeface="SFMono-Regular"/>
              </a:rPr>
              <a:t>topic_name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message_type</a:t>
            </a:r>
            <a:r>
              <a:rPr kumimoji="0" lang="en-US" altLang="en-US" sz="1800" b="0" i="0" u="none" strike="noStrike" cap="none" normalizeH="0" baseline="0">
                <a:ln>
                  <a:noFill/>
                </a:ln>
                <a:solidFill>
                  <a:srgbClr val="333333"/>
                </a:solidFill>
                <a:effectLst/>
                <a:latin typeface="SFMono-Regular"/>
              </a:rPr>
              <a:t>] “[data]"</a:t>
            </a:r>
            <a:r>
              <a:rPr kumimoji="0" lang="en-US" altLang="en-US" sz="1800" b="0" i="0" u="none" strike="noStrike" cap="none" normalizeH="0" baseline="0">
                <a:ln>
                  <a:noFill/>
                </a:ln>
                <a:solidFill>
                  <a:srgbClr val="404040"/>
                </a:solidFill>
                <a:effectLst/>
                <a:latin typeface="SFMono-Regular"/>
              </a:rPr>
              <a:t> </a:t>
            </a:r>
            <a:endParaRPr kumimoji="0" lang="en-US" altLang="en-US" sz="1800" b="0" i="0" u="none" strike="noStrike" cap="none" normalizeH="0" baseline="0">
              <a:ln>
                <a:noFill/>
              </a:ln>
              <a:solidFill>
                <a:schemeClr val="tx1"/>
              </a:solidFill>
              <a:effectLst/>
            </a:endParaRPr>
          </a:p>
        </p:txBody>
      </p:sp>
      <p:sp>
        <p:nvSpPr>
          <p:cNvPr id="16" name="Rectangle 3">
            <a:extLst>
              <a:ext uri="{FF2B5EF4-FFF2-40B4-BE49-F238E27FC236}">
                <a16:creationId xmlns:a16="http://schemas.microsoft.com/office/drawing/2014/main" id="{17BE8F77-653A-496C-9115-99B873FE9970}"/>
              </a:ext>
            </a:extLst>
          </p:cNvPr>
          <p:cNvSpPr>
            <a:spLocks noChangeArrowheads="1"/>
          </p:cNvSpPr>
          <p:nvPr/>
        </p:nvSpPr>
        <p:spPr bwMode="auto">
          <a:xfrm>
            <a:off x="0" y="512391"/>
            <a:ext cx="65" cy="553998"/>
          </a:xfrm>
          <a:prstGeom prst="rect">
            <a:avLst/>
          </a:prstGeom>
          <a:solidFill>
            <a:srgbClr val="EE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43723E1F-8C7E-45F9-9A47-D732A1B5B4DE}"/>
              </a:ext>
            </a:extLst>
          </p:cNvPr>
          <p:cNvSpPr txBox="1"/>
          <p:nvPr/>
        </p:nvSpPr>
        <p:spPr>
          <a:xfrm>
            <a:off x="304800" y="5498837"/>
            <a:ext cx="12001500" cy="338554"/>
          </a:xfrm>
          <a:prstGeom prst="rect">
            <a:avLst/>
          </a:prstGeom>
          <a:noFill/>
        </p:spPr>
        <p:txBody>
          <a:bodyPr wrap="square" lIns="91440" tIns="45720" rIns="91440" bIns="45720" anchor="t">
            <a:spAutoFit/>
          </a:bodyPr>
          <a:lstStyle/>
          <a:p>
            <a:r>
              <a:rPr kumimoji="0" lang="en-US" altLang="en-US" sz="1600" b="0" i="0" u="none" strike="noStrike" cap="none" normalizeH="0" baseline="0" dirty="0">
                <a:ln>
                  <a:noFill/>
                </a:ln>
                <a:solidFill>
                  <a:srgbClr val="333333"/>
                </a:solidFill>
                <a:effectLst/>
                <a:latin typeface="SFMono-Regular"/>
              </a:rPr>
              <a:t>ros2 topic pub –r 10 /turtle1/</a:t>
            </a:r>
            <a:r>
              <a:rPr kumimoji="0" lang="en-US" altLang="en-US" sz="1600" b="0" i="0" u="none" strike="noStrike" cap="none" normalizeH="0" baseline="0" dirty="0" err="1">
                <a:ln>
                  <a:noFill/>
                </a:ln>
                <a:solidFill>
                  <a:srgbClr val="333333"/>
                </a:solidFill>
                <a:effectLst/>
                <a:latin typeface="SFMono-Regular"/>
              </a:rPr>
              <a:t>cmd_vel</a:t>
            </a:r>
            <a:r>
              <a:rPr kumimoji="0" lang="en-US" altLang="en-US" sz="1600" b="0" i="0" u="none" strike="noStrike" cap="none" normalizeH="0" baseline="0" dirty="0">
                <a:ln>
                  <a:noFill/>
                </a:ln>
                <a:solidFill>
                  <a:srgbClr val="333333"/>
                </a:solidFill>
                <a:effectLst/>
                <a:latin typeface="SFMono-Regular"/>
              </a:rPr>
              <a:t> </a:t>
            </a:r>
            <a:r>
              <a:rPr kumimoji="0" lang="en-US" altLang="en-US" sz="1600" b="0" i="0" u="none" strike="noStrike" cap="none" normalizeH="0" baseline="0" dirty="0" err="1">
                <a:ln>
                  <a:noFill/>
                </a:ln>
                <a:solidFill>
                  <a:srgbClr val="333333"/>
                </a:solidFill>
                <a:effectLst/>
                <a:latin typeface="SFMono-Regular"/>
              </a:rPr>
              <a:t>geometry_msgs</a:t>
            </a:r>
            <a:r>
              <a:rPr kumimoji="0" lang="en-US" altLang="en-US" sz="1600" b="0" i="0" u="none" strike="noStrike" cap="none" normalizeH="0" baseline="0" dirty="0">
                <a:ln>
                  <a:noFill/>
                </a:ln>
                <a:solidFill>
                  <a:srgbClr val="333333"/>
                </a:solidFill>
                <a:effectLst/>
                <a:latin typeface="SFMono-Regular"/>
              </a:rPr>
              <a:t>/msg/Twist {linear: {x: 2.0, y: 0.0, z: 0.0}, angular: {x: 0.0, y: 0.0, z: 1.8}}</a:t>
            </a:r>
            <a:endParaRPr lang="en-US" sz="1600" dirty="0">
              <a:cs typeface="Calibri"/>
            </a:endParaRPr>
          </a:p>
        </p:txBody>
      </p:sp>
      <p:sp>
        <p:nvSpPr>
          <p:cNvPr id="18" name="TextBox 17">
            <a:extLst>
              <a:ext uri="{FF2B5EF4-FFF2-40B4-BE49-F238E27FC236}">
                <a16:creationId xmlns:a16="http://schemas.microsoft.com/office/drawing/2014/main" id="{8AEC9979-58DC-4FB8-AC22-874F9561DDC4}"/>
              </a:ext>
            </a:extLst>
          </p:cNvPr>
          <p:cNvSpPr txBox="1"/>
          <p:nvPr/>
        </p:nvSpPr>
        <p:spPr>
          <a:xfrm>
            <a:off x="8722519" y="4380287"/>
            <a:ext cx="1485901" cy="369332"/>
          </a:xfrm>
          <a:prstGeom prst="rect">
            <a:avLst/>
          </a:prstGeom>
          <a:noFill/>
        </p:spPr>
        <p:txBody>
          <a:bodyPr wrap="square">
            <a:spAutoFit/>
          </a:bodyPr>
          <a:lstStyle/>
          <a:p>
            <a:r>
              <a:rPr kumimoji="0" lang="en-US" altLang="en-US" sz="1800" b="0" i="0" u="none" strike="noStrike" cap="none" normalizeH="0" baseline="0">
                <a:ln>
                  <a:noFill/>
                </a:ln>
                <a:solidFill>
                  <a:srgbClr val="333333"/>
                </a:solidFill>
                <a:effectLst/>
                <a:latin typeface="SFMono-Regular"/>
              </a:rPr>
              <a:t>YAML format</a:t>
            </a:r>
            <a:endParaRPr lang="en-US"/>
          </a:p>
        </p:txBody>
      </p:sp>
      <p:cxnSp>
        <p:nvCxnSpPr>
          <p:cNvPr id="14" name="Straight Arrow Connector 13">
            <a:extLst>
              <a:ext uri="{FF2B5EF4-FFF2-40B4-BE49-F238E27FC236}">
                <a16:creationId xmlns:a16="http://schemas.microsoft.com/office/drawing/2014/main" id="{F16EC107-0BA2-43D7-A4BB-828226BC7649}"/>
              </a:ext>
            </a:extLst>
          </p:cNvPr>
          <p:cNvCxnSpPr>
            <a:stCxn id="18" idx="2"/>
          </p:cNvCxnSpPr>
          <p:nvPr/>
        </p:nvCxnSpPr>
        <p:spPr>
          <a:xfrm flipH="1">
            <a:off x="9296400" y="4749619"/>
            <a:ext cx="169070" cy="641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Google Shape;67;p15">
            <a:extLst>
              <a:ext uri="{FF2B5EF4-FFF2-40B4-BE49-F238E27FC236}">
                <a16:creationId xmlns:a16="http://schemas.microsoft.com/office/drawing/2014/main" id="{95678203-2336-9866-A124-AA108F995D51}"/>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1" name="TextBox 10">
            <a:extLst>
              <a:ext uri="{FF2B5EF4-FFF2-40B4-BE49-F238E27FC236}">
                <a16:creationId xmlns:a16="http://schemas.microsoft.com/office/drawing/2014/main" id="{0D82EA2E-A4D8-03F8-93B2-BCCAB3B3DA3C}"/>
              </a:ext>
            </a:extLst>
          </p:cNvPr>
          <p:cNvSpPr txBox="1"/>
          <p:nvPr/>
        </p:nvSpPr>
        <p:spPr>
          <a:xfrm>
            <a:off x="174811" y="6400980"/>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2" name="TextBox 2">
            <a:extLst>
              <a:ext uri="{FF2B5EF4-FFF2-40B4-BE49-F238E27FC236}">
                <a16:creationId xmlns:a16="http://schemas.microsoft.com/office/drawing/2014/main" id="{BF46418B-3CC3-DF01-7460-3A8936283D54}"/>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73604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en-US">
                <a:cs typeface="Calibri Light"/>
              </a:rPr>
              <a:t>The concept of service</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41</a:t>
            </a:fld>
            <a:endParaRPr lang="en-US"/>
          </a:p>
        </p:txBody>
      </p:sp>
      <p:sp>
        <p:nvSpPr>
          <p:cNvPr id="19" name="TextBox 18">
            <a:extLst>
              <a:ext uri="{FF2B5EF4-FFF2-40B4-BE49-F238E27FC236}">
                <a16:creationId xmlns:a16="http://schemas.microsoft.com/office/drawing/2014/main" id="{009432C9-30F5-48E0-9824-7858D2FE87AB}"/>
              </a:ext>
            </a:extLst>
          </p:cNvPr>
          <p:cNvSpPr txBox="1"/>
          <p:nvPr/>
        </p:nvSpPr>
        <p:spPr>
          <a:xfrm>
            <a:off x="2316480" y="5530297"/>
            <a:ext cx="8475345" cy="369332"/>
          </a:xfrm>
          <a:prstGeom prst="rect">
            <a:avLst/>
          </a:prstGeom>
          <a:noFill/>
        </p:spPr>
        <p:txBody>
          <a:bodyPr wrap="square" lIns="91440" tIns="45720" rIns="91440" bIns="45720" rtlCol="0" anchor="t">
            <a:spAutoFit/>
          </a:bodyPr>
          <a:lstStyle/>
          <a:p>
            <a:r>
              <a:rPr lang="en-US"/>
              <a:t>Node </a:t>
            </a:r>
            <a:r>
              <a:rPr lang="en-US">
                <a:cs typeface="Calibri"/>
              </a:rPr>
              <a:t>can have a service server that provides service to a service client from other nodes.</a:t>
            </a:r>
            <a:endParaRPr lang="th-TH">
              <a:cs typeface="Cordia New"/>
            </a:endParaRPr>
          </a:p>
        </p:txBody>
      </p:sp>
      <p:pic>
        <p:nvPicPr>
          <p:cNvPr id="36866" name="Picture 2">
            <a:extLst>
              <a:ext uri="{FF2B5EF4-FFF2-40B4-BE49-F238E27FC236}">
                <a16:creationId xmlns:a16="http://schemas.microsoft.com/office/drawing/2014/main" id="{12333ED8-B224-4917-87B2-BE0C74402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76" y="2319774"/>
            <a:ext cx="5059379" cy="28445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70DA8A9-13BA-481B-A8AB-BDD0D5DD365D}"/>
              </a:ext>
            </a:extLst>
          </p:cNvPr>
          <p:cNvSpPr txBox="1"/>
          <p:nvPr/>
        </p:nvSpPr>
        <p:spPr>
          <a:xfrm>
            <a:off x="6128558" y="3640268"/>
            <a:ext cx="4457700" cy="1200329"/>
          </a:xfrm>
          <a:prstGeom prst="rect">
            <a:avLst/>
          </a:prstGeom>
          <a:noFill/>
        </p:spPr>
        <p:txBody>
          <a:bodyPr wrap="square" lIns="91440" tIns="45720" rIns="91440" bIns="45720" rtlCol="0" anchor="t">
            <a:spAutoFit/>
          </a:bodyPr>
          <a:lstStyle/>
          <a:p>
            <a:endParaRPr lang="th-TH">
              <a:cs typeface="Cordia New"/>
            </a:endParaRPr>
          </a:p>
          <a:p>
            <a:pPr marL="285750" indent="-285750">
              <a:buFont typeface="Arial" panose="020B0604020202020204" pitchFamily="34" charset="0"/>
              <a:buChar char="•"/>
            </a:pPr>
            <a:r>
              <a:rPr lang="th-TH">
                <a:cs typeface="Cordia New"/>
              </a:rPr>
              <a:t>1-1 </a:t>
            </a:r>
            <a:r>
              <a:rPr lang="th-TH" err="1">
                <a:cs typeface="Cordia New"/>
              </a:rPr>
              <a:t>communication</a:t>
            </a:r>
            <a:r>
              <a:rPr lang="th-TH">
                <a:cs typeface="Cordia New"/>
              </a:rPr>
              <a:t> </a:t>
            </a:r>
            <a:endParaRPr lang="en-US">
              <a:cs typeface="Calibri"/>
            </a:endParaRPr>
          </a:p>
          <a:p>
            <a:pPr marL="285750" indent="-285750">
              <a:buFont typeface="Arial" panose="020B0604020202020204" pitchFamily="34" charset="0"/>
              <a:buChar char="•"/>
            </a:pPr>
            <a:r>
              <a:rPr lang="th-TH" err="1">
                <a:cs typeface="Cordia New"/>
              </a:rPr>
              <a:t>Suitable</a:t>
            </a:r>
            <a:r>
              <a:rPr lang="th-TH">
                <a:cs typeface="Cordia New"/>
              </a:rPr>
              <a:t> </a:t>
            </a:r>
            <a:r>
              <a:rPr lang="th-TH" err="1">
                <a:cs typeface="Cordia New"/>
              </a:rPr>
              <a:t>for</a:t>
            </a:r>
            <a:r>
              <a:rPr lang="th-TH">
                <a:cs typeface="Cordia New"/>
              </a:rPr>
              <a:t> </a:t>
            </a:r>
            <a:r>
              <a:rPr lang="th-TH" err="1">
                <a:cs typeface="Cordia New"/>
              </a:rPr>
              <a:t>more</a:t>
            </a:r>
            <a:r>
              <a:rPr lang="th-TH">
                <a:cs typeface="Cordia New"/>
              </a:rPr>
              <a:t> </a:t>
            </a:r>
            <a:r>
              <a:rPr lang="th-TH" err="1">
                <a:cs typeface="Cordia New"/>
              </a:rPr>
              <a:t>private</a:t>
            </a:r>
            <a:r>
              <a:rPr lang="th-TH">
                <a:cs typeface="Cordia New"/>
              </a:rPr>
              <a:t> </a:t>
            </a:r>
            <a:r>
              <a:rPr lang="th-TH" err="1">
                <a:cs typeface="Cordia New"/>
              </a:rPr>
              <a:t>communication</a:t>
            </a:r>
            <a:r>
              <a:rPr lang="th-TH">
                <a:cs typeface="Cordia New"/>
              </a:rPr>
              <a:t> </a:t>
            </a:r>
            <a:r>
              <a:rPr lang="th-TH" err="1">
                <a:cs typeface="Cordia New"/>
              </a:rPr>
              <a:t>that</a:t>
            </a:r>
            <a:r>
              <a:rPr lang="th-TH">
                <a:cs typeface="Cordia New"/>
              </a:rPr>
              <a:t> </a:t>
            </a:r>
            <a:r>
              <a:rPr lang="th-TH" err="1">
                <a:cs typeface="Cordia New"/>
              </a:rPr>
              <a:t>happens</a:t>
            </a:r>
            <a:r>
              <a:rPr lang="th-TH">
                <a:cs typeface="Cordia New"/>
              </a:rPr>
              <a:t> </a:t>
            </a:r>
            <a:r>
              <a:rPr lang="th-TH" err="1">
                <a:cs typeface="Cordia New"/>
              </a:rPr>
              <a:t>once</a:t>
            </a:r>
            <a:r>
              <a:rPr lang="th-TH">
                <a:cs typeface="Cordia New"/>
              </a:rPr>
              <a:t> </a:t>
            </a:r>
            <a:r>
              <a:rPr lang="th-TH" err="1">
                <a:cs typeface="Cordia New"/>
              </a:rPr>
              <a:t>in</a:t>
            </a:r>
            <a:r>
              <a:rPr lang="th-TH">
                <a:cs typeface="Cordia New"/>
              </a:rPr>
              <a:t> a </a:t>
            </a:r>
            <a:r>
              <a:rPr lang="th-TH" err="1">
                <a:cs typeface="Cordia New"/>
              </a:rPr>
              <a:t>while</a:t>
            </a:r>
            <a:endParaRPr lang="en-US" err="1">
              <a:cs typeface="Calibri"/>
            </a:endParaRPr>
          </a:p>
        </p:txBody>
      </p:sp>
      <p:sp>
        <p:nvSpPr>
          <p:cNvPr id="13" name="TextBox 12">
            <a:extLst>
              <a:ext uri="{FF2B5EF4-FFF2-40B4-BE49-F238E27FC236}">
                <a16:creationId xmlns:a16="http://schemas.microsoft.com/office/drawing/2014/main" id="{66EF0498-EB3F-41D9-8641-403C4A80ED74}"/>
              </a:ext>
            </a:extLst>
          </p:cNvPr>
          <p:cNvSpPr txBox="1"/>
          <p:nvPr/>
        </p:nvSpPr>
        <p:spPr>
          <a:xfrm>
            <a:off x="5601652" y="2075999"/>
            <a:ext cx="6523673" cy="1200329"/>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rgbClr val="333333"/>
                </a:solidFill>
                <a:effectLst/>
                <a:latin typeface="SFMono-Regular"/>
              </a:rPr>
              <a:t>ros2 service list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service info [</a:t>
            </a:r>
            <a:r>
              <a:rPr kumimoji="0" lang="en-US" altLang="en-US" sz="1800" b="0" i="0" u="none" strike="noStrike" cap="none" normalizeH="0" baseline="0" err="1">
                <a:ln>
                  <a:noFill/>
                </a:ln>
                <a:solidFill>
                  <a:srgbClr val="333333"/>
                </a:solidFill>
                <a:effectLst/>
                <a:latin typeface="SFMono-Regular"/>
              </a:rPr>
              <a:t>service_name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interface show [</a:t>
            </a:r>
            <a:r>
              <a:rPr kumimoji="0" lang="en-US" altLang="en-US" sz="1800" b="0" i="0" u="none" strike="noStrike" cap="none" normalizeH="0" baseline="0" err="1">
                <a:ln>
                  <a:noFill/>
                </a:ln>
                <a:solidFill>
                  <a:srgbClr val="333333"/>
                </a:solidFill>
                <a:effectLst/>
                <a:latin typeface="SFMono-Regular"/>
              </a:rPr>
              <a:t>service_type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service call [</a:t>
            </a:r>
            <a:r>
              <a:rPr kumimoji="0" lang="en-US" altLang="en-US" sz="1800" b="0" i="0" u="none" strike="noStrike" cap="none" normalizeH="0" baseline="0" err="1">
                <a:ln>
                  <a:noFill/>
                </a:ln>
                <a:solidFill>
                  <a:srgbClr val="333333"/>
                </a:solidFill>
                <a:effectLst/>
                <a:latin typeface="SFMono-Regular"/>
              </a:rPr>
              <a:t>service_name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service_type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request_data</a:t>
            </a:r>
            <a:r>
              <a:rPr kumimoji="0" lang="en-US" altLang="en-US" sz="1800" b="0" i="0" u="none" strike="noStrike" cap="none" normalizeH="0" baseline="0">
                <a:ln>
                  <a:noFill/>
                </a:ln>
                <a:solidFill>
                  <a:srgbClr val="333333"/>
                </a:solidFill>
                <a:effectLst/>
                <a:latin typeface="SFMono-Regular"/>
              </a:rPr>
              <a:t>]</a:t>
            </a:r>
            <a:endParaRPr kumimoji="0" lang="en-US" altLang="en-US" sz="1800" b="0" i="0" u="none" strike="noStrike" cap="none" normalizeH="0" baseline="0">
              <a:ln>
                <a:noFill/>
              </a:ln>
              <a:solidFill>
                <a:schemeClr val="tx1"/>
              </a:solidFill>
              <a:effectLst/>
            </a:endParaRPr>
          </a:p>
        </p:txBody>
      </p:sp>
      <p:pic>
        <p:nvPicPr>
          <p:cNvPr id="5" name="Google Shape;67;p15">
            <a:extLst>
              <a:ext uri="{FF2B5EF4-FFF2-40B4-BE49-F238E27FC236}">
                <a16:creationId xmlns:a16="http://schemas.microsoft.com/office/drawing/2014/main" id="{74A8992F-978E-C60F-22DA-40B066BCB98E}"/>
              </a:ext>
            </a:extLst>
          </p:cNvPr>
          <p:cNvPicPr preferRelativeResize="0"/>
          <p:nvPr/>
        </p:nvPicPr>
        <p:blipFill rotWithShape="1">
          <a:blip r:embed="rId4">
            <a:alphaModFix/>
          </a:blip>
          <a:srcRect r="9974"/>
          <a:stretch/>
        </p:blipFill>
        <p:spPr>
          <a:xfrm>
            <a:off x="11151038" y="40772"/>
            <a:ext cx="1653550" cy="232750"/>
          </a:xfrm>
          <a:prstGeom prst="rect">
            <a:avLst/>
          </a:prstGeom>
          <a:noFill/>
          <a:ln>
            <a:noFill/>
          </a:ln>
        </p:spPr>
      </p:pic>
      <p:sp>
        <p:nvSpPr>
          <p:cNvPr id="6" name="TextBox 5">
            <a:extLst>
              <a:ext uri="{FF2B5EF4-FFF2-40B4-BE49-F238E27FC236}">
                <a16:creationId xmlns:a16="http://schemas.microsoft.com/office/drawing/2014/main" id="{45673DAD-E03A-6304-31C2-762BD886D496}"/>
              </a:ext>
            </a:extLst>
          </p:cNvPr>
          <p:cNvSpPr txBox="1"/>
          <p:nvPr/>
        </p:nvSpPr>
        <p:spPr>
          <a:xfrm>
            <a:off x="98612" y="6462993"/>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66F3B750-7498-EB38-FF62-95E9A2387349}"/>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41967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a:cs typeface="Angsana New"/>
              </a:rPr>
              <a:t>The </a:t>
            </a:r>
            <a:r>
              <a:rPr lang="th-TH" err="1">
                <a:cs typeface="Angsana New"/>
              </a:rPr>
              <a:t>concept</a:t>
            </a:r>
            <a:r>
              <a:rPr lang="th-TH">
                <a:cs typeface="Angsana New"/>
              </a:rPr>
              <a:t> of ROS2 </a:t>
            </a:r>
            <a:r>
              <a:rPr lang="en-US"/>
              <a:t>Parameter</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42</a:t>
            </a:fld>
            <a:endParaRPr lang="en-US"/>
          </a:p>
        </p:txBody>
      </p:sp>
      <p:sp>
        <p:nvSpPr>
          <p:cNvPr id="19" name="TextBox 18">
            <a:extLst>
              <a:ext uri="{FF2B5EF4-FFF2-40B4-BE49-F238E27FC236}">
                <a16:creationId xmlns:a16="http://schemas.microsoft.com/office/drawing/2014/main" id="{009432C9-30F5-48E0-9824-7858D2FE87AB}"/>
              </a:ext>
            </a:extLst>
          </p:cNvPr>
          <p:cNvSpPr txBox="1"/>
          <p:nvPr/>
        </p:nvSpPr>
        <p:spPr>
          <a:xfrm>
            <a:off x="548640" y="5511247"/>
            <a:ext cx="9523095" cy="830997"/>
          </a:xfrm>
          <a:prstGeom prst="rect">
            <a:avLst/>
          </a:prstGeom>
          <a:noFill/>
        </p:spPr>
        <p:txBody>
          <a:bodyPr wrap="square" lIns="91440" tIns="45720" rIns="91440" bIns="45720" rtlCol="0" anchor="t">
            <a:spAutoFit/>
          </a:bodyPr>
          <a:lstStyle/>
          <a:p>
            <a:r>
              <a:rPr lang="en-US" sz="2400"/>
              <a:t>Parameter </a:t>
            </a:r>
            <a:r>
              <a:rPr lang="en-US" sz="2400">
                <a:cs typeface="Calibri"/>
              </a:rPr>
              <a:t>is a constant that is associated with that particular node. It can be modified and accessed by terminal interface.</a:t>
            </a:r>
          </a:p>
        </p:txBody>
      </p:sp>
      <p:sp>
        <p:nvSpPr>
          <p:cNvPr id="13" name="TextBox 12">
            <a:extLst>
              <a:ext uri="{FF2B5EF4-FFF2-40B4-BE49-F238E27FC236}">
                <a16:creationId xmlns:a16="http://schemas.microsoft.com/office/drawing/2014/main" id="{66EF0498-EB3F-41D9-8641-403C4A80ED74}"/>
              </a:ext>
            </a:extLst>
          </p:cNvPr>
          <p:cNvSpPr txBox="1"/>
          <p:nvPr/>
        </p:nvSpPr>
        <p:spPr>
          <a:xfrm>
            <a:off x="3971925" y="2628835"/>
            <a:ext cx="7667625" cy="1754326"/>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rgbClr val="333333"/>
                </a:solidFill>
                <a:effectLst/>
                <a:latin typeface="SFMono-Regular"/>
              </a:rPr>
              <a:t>ros2 param list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param get [</a:t>
            </a:r>
            <a:r>
              <a:rPr kumimoji="0" lang="en-US" altLang="en-US" sz="1800" b="0" i="0" u="none" strike="noStrike" cap="none" normalizeH="0" baseline="0" err="1">
                <a:ln>
                  <a:noFill/>
                </a:ln>
                <a:solidFill>
                  <a:srgbClr val="333333"/>
                </a:solidFill>
                <a:effectLst/>
                <a:latin typeface="SFMono-Regular"/>
              </a:rPr>
              <a:t>node_name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parameter_name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param set [</a:t>
            </a:r>
            <a:r>
              <a:rPr kumimoji="0" lang="en-US" altLang="en-US" sz="1800" b="0" i="0" u="none" strike="noStrike" cap="none" normalizeH="0" baseline="0" err="1">
                <a:ln>
                  <a:noFill/>
                </a:ln>
                <a:solidFill>
                  <a:srgbClr val="333333"/>
                </a:solidFill>
                <a:effectLst/>
                <a:latin typeface="SFMono-Regular"/>
              </a:rPr>
              <a:t>node_name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parameter_name</a:t>
            </a:r>
            <a:r>
              <a:rPr kumimoji="0" lang="en-US" altLang="en-US" sz="1800" b="0" i="0" u="none" strike="noStrike" cap="none" normalizeH="0" baseline="0">
                <a:ln>
                  <a:noFill/>
                </a:ln>
                <a:solidFill>
                  <a:srgbClr val="333333"/>
                </a:solidFill>
                <a:effectLst/>
                <a:latin typeface="SFMono-Regular"/>
              </a:rPr>
              <a:t>] [value]</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param dump [</a:t>
            </a:r>
            <a:r>
              <a:rPr kumimoji="0" lang="en-US" altLang="en-US" sz="1800" b="0" i="0" u="none" strike="noStrike" cap="none" normalizeH="0" baseline="0" err="1">
                <a:ln>
                  <a:noFill/>
                </a:ln>
                <a:solidFill>
                  <a:srgbClr val="333333"/>
                </a:solidFill>
                <a:effectLst/>
                <a:latin typeface="SFMono-Regular"/>
              </a:rPr>
              <a:t>node</a:t>
            </a:r>
            <a:r>
              <a:rPr lang="en-US" altLang="en-US" err="1">
                <a:solidFill>
                  <a:srgbClr val="333333"/>
                </a:solidFill>
                <a:latin typeface="SFMono-Regular"/>
              </a:rPr>
              <a:t>_</a:t>
            </a:r>
            <a:r>
              <a:rPr kumimoji="0" lang="en-US" altLang="en-US" sz="1800" b="0" i="0" u="none" strike="noStrike" cap="none" normalizeH="0" baseline="0" err="1">
                <a:ln>
                  <a:noFill/>
                </a:ln>
                <a:solidFill>
                  <a:srgbClr val="333333"/>
                </a:solidFill>
                <a:effectLst/>
                <a:latin typeface="SFMono-Regular"/>
              </a:rPr>
              <a:t>name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param load [</a:t>
            </a:r>
            <a:r>
              <a:rPr kumimoji="0" lang="en-US" altLang="en-US" sz="1800" b="0" i="0" u="none" strike="noStrike" cap="none" normalizeH="0" baseline="0" err="1">
                <a:ln>
                  <a:noFill/>
                </a:ln>
                <a:solidFill>
                  <a:srgbClr val="333333"/>
                </a:solidFill>
                <a:effectLst/>
                <a:latin typeface="SFMono-Regular"/>
              </a:rPr>
              <a:t>node_name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parameter_file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run [</a:t>
            </a:r>
            <a:r>
              <a:rPr kumimoji="0" lang="en-US" altLang="en-US" sz="1800" b="0" i="0" u="none" strike="noStrike" cap="none" normalizeH="0" baseline="0" err="1">
                <a:ln>
                  <a:noFill/>
                </a:ln>
                <a:solidFill>
                  <a:srgbClr val="333333"/>
                </a:solidFill>
                <a:effectLst/>
                <a:latin typeface="SFMono-Regular"/>
              </a:rPr>
              <a:t>package_name</a:t>
            </a:r>
            <a:r>
              <a:rPr kumimoji="0" lang="en-US" altLang="en-US" sz="1800" b="0" i="0" u="none" strike="noStrike" cap="none" normalizeH="0" baseline="0">
                <a:ln>
                  <a:noFill/>
                </a:ln>
                <a:solidFill>
                  <a:srgbClr val="333333"/>
                </a:solidFill>
                <a:effectLst/>
                <a:latin typeface="SFMono-Regular"/>
              </a:rPr>
              <a:t>] [executable] --</a:t>
            </a:r>
            <a:r>
              <a:rPr kumimoji="0" lang="en-US" altLang="en-US" sz="1800" b="0" i="0" u="none" strike="noStrike" cap="none" normalizeH="0" baseline="0" err="1">
                <a:ln>
                  <a:noFill/>
                </a:ln>
                <a:solidFill>
                  <a:srgbClr val="333333"/>
                </a:solidFill>
                <a:effectLst/>
                <a:latin typeface="SFMono-Regular"/>
              </a:rPr>
              <a:t>ros-args</a:t>
            </a:r>
            <a:r>
              <a:rPr kumimoji="0" lang="en-US" altLang="en-US" sz="1800" b="0" i="0" u="none" strike="noStrike" cap="none" normalizeH="0" baseline="0">
                <a:ln>
                  <a:noFill/>
                </a:ln>
                <a:solidFill>
                  <a:srgbClr val="333333"/>
                </a:solidFill>
                <a:effectLst/>
                <a:latin typeface="SFMono-Regular"/>
              </a:rPr>
              <a:t> –params-file [</a:t>
            </a:r>
            <a:r>
              <a:rPr kumimoji="0" lang="en-US" altLang="en-US" sz="1800" b="0" i="0" u="none" strike="noStrike" cap="none" normalizeH="0" baseline="0" err="1">
                <a:ln>
                  <a:noFill/>
                </a:ln>
                <a:solidFill>
                  <a:srgbClr val="333333"/>
                </a:solidFill>
                <a:effectLst/>
                <a:latin typeface="SFMono-Regular"/>
              </a:rPr>
              <a:t>file_name</a:t>
            </a:r>
            <a:r>
              <a:rPr kumimoji="0" lang="en-US" altLang="en-US" sz="1800" b="0" i="0" u="none" strike="noStrike" cap="none" normalizeH="0" baseline="0">
                <a:ln>
                  <a:noFill/>
                </a:ln>
                <a:solidFill>
                  <a:srgbClr val="333333"/>
                </a:solidFill>
                <a:effectLst/>
                <a:latin typeface="SFMono-Regular"/>
              </a:rPr>
              <a:t>]</a:t>
            </a:r>
            <a:endParaRPr kumimoji="0" lang="en-US" altLang="en-US" sz="1800" b="0" i="0" u="none" strike="noStrike" cap="none" normalizeH="0" baseline="0">
              <a:ln>
                <a:noFill/>
              </a:ln>
              <a:solidFill>
                <a:schemeClr val="tx1"/>
              </a:solidFill>
              <a:effectLst/>
            </a:endParaRPr>
          </a:p>
        </p:txBody>
      </p:sp>
      <p:sp>
        <p:nvSpPr>
          <p:cNvPr id="9" name="Oval 8">
            <a:extLst>
              <a:ext uri="{FF2B5EF4-FFF2-40B4-BE49-F238E27FC236}">
                <a16:creationId xmlns:a16="http://schemas.microsoft.com/office/drawing/2014/main" id="{6F464B7B-24CC-42EE-A3AC-DB4C3A27C75D}"/>
              </a:ext>
            </a:extLst>
          </p:cNvPr>
          <p:cNvSpPr/>
          <p:nvPr/>
        </p:nvSpPr>
        <p:spPr>
          <a:xfrm>
            <a:off x="1323975" y="3044036"/>
            <a:ext cx="2238375" cy="923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r>
              <a:rPr lang="en-US" err="1">
                <a:solidFill>
                  <a:schemeClr val="tx1"/>
                </a:solidFill>
              </a:rPr>
              <a:t>turtlesim</a:t>
            </a:r>
            <a:endParaRPr lang="en-US">
              <a:solidFill>
                <a:schemeClr val="tx1"/>
              </a:solidFill>
            </a:endParaRPr>
          </a:p>
          <a:p>
            <a:pPr algn="ctr"/>
            <a:r>
              <a:rPr lang="en-US" sz="1200">
                <a:solidFill>
                  <a:schemeClr val="tx1"/>
                </a:solidFill>
              </a:rPr>
              <a:t>[</a:t>
            </a:r>
            <a:r>
              <a:rPr lang="en-US" sz="1200" err="1">
                <a:solidFill>
                  <a:schemeClr val="tx1"/>
                </a:solidFill>
              </a:rPr>
              <a:t>background_g</a:t>
            </a:r>
            <a:r>
              <a:rPr lang="en-US" sz="1200">
                <a:solidFill>
                  <a:schemeClr val="tx1"/>
                </a:solidFill>
              </a:rPr>
              <a:t>=86]</a:t>
            </a:r>
            <a:endParaRPr lang="en-US" sz="2000">
              <a:solidFill>
                <a:schemeClr val="tx1"/>
              </a:solidFill>
            </a:endParaRPr>
          </a:p>
        </p:txBody>
      </p:sp>
      <p:pic>
        <p:nvPicPr>
          <p:cNvPr id="5" name="Google Shape;67;p15">
            <a:extLst>
              <a:ext uri="{FF2B5EF4-FFF2-40B4-BE49-F238E27FC236}">
                <a16:creationId xmlns:a16="http://schemas.microsoft.com/office/drawing/2014/main" id="{EB21D33F-7200-2164-9527-44A07FCDF99B}"/>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6" name="TextBox 5">
            <a:extLst>
              <a:ext uri="{FF2B5EF4-FFF2-40B4-BE49-F238E27FC236}">
                <a16:creationId xmlns:a16="http://schemas.microsoft.com/office/drawing/2014/main" id="{BA8B15F1-71D7-0BB0-466E-324814BDDAF1}"/>
              </a:ext>
            </a:extLst>
          </p:cNvPr>
          <p:cNvSpPr txBox="1"/>
          <p:nvPr/>
        </p:nvSpPr>
        <p:spPr>
          <a:xfrm>
            <a:off x="98612" y="6462993"/>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E27366EE-0291-1140-392B-EF42D4666660}"/>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569460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a:cs typeface="Angsana New"/>
              </a:rPr>
              <a:t>The </a:t>
            </a:r>
            <a:r>
              <a:rPr lang="th-TH" err="1">
                <a:cs typeface="Angsana New"/>
              </a:rPr>
              <a:t>concept</a:t>
            </a:r>
            <a:r>
              <a:rPr lang="th-TH">
                <a:cs typeface="Angsana New"/>
              </a:rPr>
              <a:t> of </a:t>
            </a:r>
            <a:r>
              <a:rPr lang="th-TH" err="1">
                <a:cs typeface="Angsana New"/>
              </a:rPr>
              <a:t>action</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43</a:t>
            </a:fld>
            <a:endParaRPr lang="en-US"/>
          </a:p>
        </p:txBody>
      </p:sp>
      <p:sp>
        <p:nvSpPr>
          <p:cNvPr id="19" name="TextBox 18">
            <a:extLst>
              <a:ext uri="{FF2B5EF4-FFF2-40B4-BE49-F238E27FC236}">
                <a16:creationId xmlns:a16="http://schemas.microsoft.com/office/drawing/2014/main" id="{009432C9-30F5-48E0-9824-7858D2FE87AB}"/>
              </a:ext>
            </a:extLst>
          </p:cNvPr>
          <p:cNvSpPr txBox="1"/>
          <p:nvPr/>
        </p:nvSpPr>
        <p:spPr>
          <a:xfrm>
            <a:off x="1301115" y="5635072"/>
            <a:ext cx="10989945" cy="400110"/>
          </a:xfrm>
          <a:prstGeom prst="rect">
            <a:avLst/>
          </a:prstGeom>
          <a:noFill/>
        </p:spPr>
        <p:txBody>
          <a:bodyPr wrap="square" lIns="91440" tIns="45720" rIns="91440" bIns="45720" rtlCol="0" anchor="t">
            <a:spAutoFit/>
          </a:bodyPr>
          <a:lstStyle/>
          <a:p>
            <a:r>
              <a:rPr lang="en-US" sz="2000"/>
              <a:t>A node can have an action server that execute an "action", then return the result to the client.</a:t>
            </a:r>
          </a:p>
        </p:txBody>
      </p:sp>
      <p:sp>
        <p:nvSpPr>
          <p:cNvPr id="13" name="TextBox 12">
            <a:extLst>
              <a:ext uri="{FF2B5EF4-FFF2-40B4-BE49-F238E27FC236}">
                <a16:creationId xmlns:a16="http://schemas.microsoft.com/office/drawing/2014/main" id="{66EF0498-EB3F-41D9-8641-403C4A80ED74}"/>
              </a:ext>
            </a:extLst>
          </p:cNvPr>
          <p:cNvSpPr txBox="1"/>
          <p:nvPr/>
        </p:nvSpPr>
        <p:spPr>
          <a:xfrm>
            <a:off x="5899270" y="1838260"/>
            <a:ext cx="6292729" cy="1200329"/>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rgbClr val="333333"/>
                </a:solidFill>
                <a:effectLst/>
                <a:latin typeface="SFMono-Regular"/>
              </a:rPr>
              <a:t>ros2 action list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action info [</a:t>
            </a:r>
            <a:r>
              <a:rPr kumimoji="0" lang="en-US" altLang="en-US" sz="1800" b="0" i="0" u="none" strike="noStrike" cap="none" normalizeH="0" baseline="0" err="1">
                <a:ln>
                  <a:noFill/>
                </a:ln>
                <a:solidFill>
                  <a:srgbClr val="333333"/>
                </a:solidFill>
                <a:effectLst/>
                <a:latin typeface="SFMono-Regular"/>
              </a:rPr>
              <a:t>action_name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interface show [</a:t>
            </a:r>
            <a:r>
              <a:rPr kumimoji="0" lang="en-US" altLang="en-US" sz="1800" b="0" i="0" u="none" strike="noStrike" cap="none" normalizeH="0" baseline="0" err="1">
                <a:ln>
                  <a:noFill/>
                </a:ln>
                <a:solidFill>
                  <a:srgbClr val="333333"/>
                </a:solidFill>
                <a:effectLst/>
                <a:latin typeface="SFMono-Regular"/>
              </a:rPr>
              <a:t>action_type</a:t>
            </a:r>
            <a:r>
              <a:rPr kumimoji="0" lang="en-US" altLang="en-US" sz="1800" b="0" i="0" u="none" strike="noStrike" cap="none" normalizeH="0" baseline="0">
                <a:ln>
                  <a:noFill/>
                </a:ln>
                <a:solidFill>
                  <a:srgbClr val="333333"/>
                </a:solidFill>
                <a:effectLst/>
                <a:latin typeface="SFMono-Regular"/>
              </a:rPr>
              <a:t>]</a:t>
            </a:r>
            <a:br>
              <a:rPr kumimoji="0" lang="en-US" altLang="en-US" sz="1800" b="0" i="0" u="none" strike="noStrike" cap="none" normalizeH="0" baseline="0">
                <a:ln>
                  <a:noFill/>
                </a:ln>
                <a:solidFill>
                  <a:srgbClr val="333333"/>
                </a:solidFill>
                <a:effectLst/>
                <a:latin typeface="SFMono-Regular"/>
              </a:rPr>
            </a:br>
            <a:r>
              <a:rPr kumimoji="0" lang="en-US" altLang="en-US" sz="1800" b="0" i="0" u="none" strike="noStrike" cap="none" normalizeH="0" baseline="0">
                <a:ln>
                  <a:noFill/>
                </a:ln>
                <a:solidFill>
                  <a:srgbClr val="333333"/>
                </a:solidFill>
                <a:effectLst/>
                <a:latin typeface="SFMono-Regular"/>
              </a:rPr>
              <a:t>ros2 action </a:t>
            </a:r>
            <a:r>
              <a:rPr kumimoji="0" lang="en-US" altLang="en-US" sz="1800" b="0" i="0" u="none" strike="noStrike" cap="none" normalizeH="0" baseline="0" err="1">
                <a:ln>
                  <a:noFill/>
                </a:ln>
                <a:solidFill>
                  <a:srgbClr val="333333"/>
                </a:solidFill>
                <a:effectLst/>
                <a:latin typeface="SFMono-Regular"/>
              </a:rPr>
              <a:t>send_goal</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action_name</a:t>
            </a:r>
            <a:r>
              <a:rPr kumimoji="0" lang="en-US" altLang="en-US" sz="1800" b="0" i="0" u="none" strike="noStrike" cap="none" normalizeH="0" baseline="0">
                <a:ln>
                  <a:noFill/>
                </a:ln>
                <a:solidFill>
                  <a:srgbClr val="333333"/>
                </a:solidFill>
                <a:effectLst/>
                <a:latin typeface="SFMono-Regular"/>
              </a:rPr>
              <a:t>] [</a:t>
            </a:r>
            <a:r>
              <a:rPr kumimoji="0" lang="en-US" altLang="en-US" sz="1800" b="0" i="0" u="none" strike="noStrike" cap="none" normalizeH="0" baseline="0" err="1">
                <a:ln>
                  <a:noFill/>
                </a:ln>
                <a:solidFill>
                  <a:srgbClr val="333333"/>
                </a:solidFill>
                <a:effectLst/>
                <a:latin typeface="SFMono-Regular"/>
              </a:rPr>
              <a:t>action_type</a:t>
            </a:r>
            <a:r>
              <a:rPr kumimoji="0" lang="en-US" altLang="en-US" sz="1800" b="0" i="0" u="none" strike="noStrike" cap="none" normalizeH="0" baseline="0">
                <a:ln>
                  <a:noFill/>
                </a:ln>
                <a:solidFill>
                  <a:srgbClr val="333333"/>
                </a:solidFill>
                <a:effectLst/>
                <a:latin typeface="SFMono-Regular"/>
              </a:rPr>
              <a:t>] [value] -f</a:t>
            </a:r>
            <a:endParaRPr kumimoji="0" lang="en-US" altLang="en-US" sz="1800" b="0" i="0" u="none" strike="noStrike" cap="none" normalizeH="0" baseline="0">
              <a:ln>
                <a:noFill/>
              </a:ln>
              <a:solidFill>
                <a:schemeClr val="tx1"/>
              </a:solidFill>
              <a:effectLst/>
            </a:endParaRPr>
          </a:p>
        </p:txBody>
      </p:sp>
      <p:pic>
        <p:nvPicPr>
          <p:cNvPr id="39938" name="Picture 2">
            <a:extLst>
              <a:ext uri="{FF2B5EF4-FFF2-40B4-BE49-F238E27FC236}">
                <a16:creationId xmlns:a16="http://schemas.microsoft.com/office/drawing/2014/main" id="{36C23307-4694-4851-A72E-7070E39EB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1866899"/>
            <a:ext cx="5575421" cy="3133726"/>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67;p15">
            <a:extLst>
              <a:ext uri="{FF2B5EF4-FFF2-40B4-BE49-F238E27FC236}">
                <a16:creationId xmlns:a16="http://schemas.microsoft.com/office/drawing/2014/main" id="{FFA1FAC4-8533-4742-8267-353352AD97C4}"/>
              </a:ext>
            </a:extLst>
          </p:cNvPr>
          <p:cNvPicPr preferRelativeResize="0"/>
          <p:nvPr/>
        </p:nvPicPr>
        <p:blipFill rotWithShape="1">
          <a:blip r:embed="rId4">
            <a:alphaModFix/>
          </a:blip>
          <a:srcRect r="9974"/>
          <a:stretch/>
        </p:blipFill>
        <p:spPr>
          <a:xfrm>
            <a:off x="11151038" y="40772"/>
            <a:ext cx="1653550" cy="232750"/>
          </a:xfrm>
          <a:prstGeom prst="rect">
            <a:avLst/>
          </a:prstGeom>
          <a:noFill/>
          <a:ln>
            <a:noFill/>
          </a:ln>
        </p:spPr>
      </p:pic>
      <p:sp>
        <p:nvSpPr>
          <p:cNvPr id="8" name="TextBox 7">
            <a:extLst>
              <a:ext uri="{FF2B5EF4-FFF2-40B4-BE49-F238E27FC236}">
                <a16:creationId xmlns:a16="http://schemas.microsoft.com/office/drawing/2014/main" id="{FFFB4AF2-F8E2-B15B-63A2-D68676FACC15}"/>
              </a:ext>
            </a:extLst>
          </p:cNvPr>
          <p:cNvSpPr txBox="1"/>
          <p:nvPr/>
        </p:nvSpPr>
        <p:spPr>
          <a:xfrm>
            <a:off x="6128558" y="3640268"/>
            <a:ext cx="4457700" cy="1477328"/>
          </a:xfrm>
          <a:prstGeom prst="rect">
            <a:avLst/>
          </a:prstGeom>
          <a:noFill/>
        </p:spPr>
        <p:txBody>
          <a:bodyPr wrap="square" lIns="91440" tIns="45720" rIns="91440" bIns="45720" rtlCol="0" anchor="t">
            <a:spAutoFit/>
          </a:bodyPr>
          <a:lstStyle/>
          <a:p>
            <a:endParaRPr lang="th-TH">
              <a:cs typeface="Cordia New"/>
            </a:endParaRPr>
          </a:p>
          <a:p>
            <a:pPr marL="285750" indent="-285750">
              <a:buFont typeface="Arial" panose="020B0604020202020204" pitchFamily="34" charset="0"/>
              <a:buChar char="•"/>
            </a:pPr>
            <a:r>
              <a:rPr lang="th-TH">
                <a:cs typeface="Cordia New"/>
              </a:rPr>
              <a:t>1-1 </a:t>
            </a:r>
            <a:r>
              <a:rPr lang="th-TH" err="1">
                <a:cs typeface="Cordia New"/>
              </a:rPr>
              <a:t>communication</a:t>
            </a:r>
            <a:r>
              <a:rPr lang="th-TH">
                <a:cs typeface="Cordia New"/>
              </a:rPr>
              <a:t> </a:t>
            </a:r>
            <a:endParaRPr lang="en-US">
              <a:cs typeface="Calibri"/>
            </a:endParaRPr>
          </a:p>
          <a:p>
            <a:pPr marL="285750" indent="-285750">
              <a:buFont typeface="Arial" panose="020B0604020202020204" pitchFamily="34" charset="0"/>
              <a:buChar char="•"/>
            </a:pPr>
            <a:r>
              <a:rPr lang="th-TH" err="1">
                <a:cs typeface="Cordia New"/>
              </a:rPr>
              <a:t>Suitable</a:t>
            </a:r>
            <a:r>
              <a:rPr lang="th-TH">
                <a:cs typeface="Cordia New"/>
              </a:rPr>
              <a:t> </a:t>
            </a:r>
            <a:r>
              <a:rPr lang="th-TH" err="1">
                <a:cs typeface="Cordia New"/>
              </a:rPr>
              <a:t>for</a:t>
            </a:r>
            <a:r>
              <a:rPr lang="th-TH">
                <a:cs typeface="Cordia New"/>
              </a:rPr>
              <a:t> </a:t>
            </a:r>
            <a:r>
              <a:rPr lang="th-TH" err="1">
                <a:cs typeface="Cordia New"/>
              </a:rPr>
              <a:t>task</a:t>
            </a:r>
            <a:r>
              <a:rPr lang="th-TH">
                <a:cs typeface="Cordia New"/>
              </a:rPr>
              <a:t> </a:t>
            </a:r>
            <a:r>
              <a:rPr lang="th-TH" err="1">
                <a:cs typeface="Cordia New"/>
              </a:rPr>
              <a:t>that</a:t>
            </a:r>
            <a:r>
              <a:rPr lang="th-TH">
                <a:cs typeface="Cordia New"/>
              </a:rPr>
              <a:t> </a:t>
            </a:r>
            <a:r>
              <a:rPr lang="th-TH" err="1">
                <a:cs typeface="Cordia New"/>
              </a:rPr>
              <a:t>requires</a:t>
            </a:r>
            <a:r>
              <a:rPr lang="th-TH">
                <a:cs typeface="Cordia New"/>
              </a:rPr>
              <a:t> </a:t>
            </a:r>
            <a:r>
              <a:rPr lang="th-TH" err="1">
                <a:cs typeface="Cordia New"/>
              </a:rPr>
              <a:t>time</a:t>
            </a:r>
            <a:r>
              <a:rPr lang="th-TH">
                <a:cs typeface="Cordia New"/>
              </a:rPr>
              <a:t> </a:t>
            </a:r>
            <a:r>
              <a:rPr lang="th-TH" err="1">
                <a:cs typeface="Cordia New"/>
              </a:rPr>
              <a:t>to</a:t>
            </a:r>
            <a:r>
              <a:rPr lang="th-TH">
                <a:cs typeface="Cordia New"/>
              </a:rPr>
              <a:t> </a:t>
            </a:r>
            <a:r>
              <a:rPr lang="th-TH" err="1">
                <a:cs typeface="Cordia New"/>
              </a:rPr>
              <a:t>complete</a:t>
            </a:r>
            <a:r>
              <a:rPr lang="th-TH">
                <a:cs typeface="Cordia New"/>
              </a:rPr>
              <a:t> </a:t>
            </a:r>
            <a:r>
              <a:rPr lang="th-TH" err="1">
                <a:cs typeface="Cordia New"/>
              </a:rPr>
              <a:t>such</a:t>
            </a:r>
            <a:r>
              <a:rPr lang="th-TH">
                <a:cs typeface="Cordia New"/>
              </a:rPr>
              <a:t> </a:t>
            </a:r>
            <a:r>
              <a:rPr lang="th-TH" err="1">
                <a:cs typeface="Cordia New"/>
              </a:rPr>
              <a:t>as</a:t>
            </a:r>
            <a:r>
              <a:rPr lang="th-TH">
                <a:cs typeface="Cordia New"/>
              </a:rPr>
              <a:t> </a:t>
            </a:r>
            <a:r>
              <a:rPr lang="th-TH" err="1">
                <a:cs typeface="Cordia New"/>
              </a:rPr>
              <a:t>planning</a:t>
            </a:r>
            <a:r>
              <a:rPr lang="th-TH">
                <a:cs typeface="Cordia New"/>
              </a:rPr>
              <a:t>, </a:t>
            </a:r>
            <a:r>
              <a:rPr lang="th-TH" err="1">
                <a:cs typeface="Cordia New"/>
              </a:rPr>
              <a:t>optimizing</a:t>
            </a:r>
            <a:r>
              <a:rPr lang="th-TH">
                <a:cs typeface="Cordia New"/>
              </a:rPr>
              <a:t>, </a:t>
            </a:r>
            <a:r>
              <a:rPr lang="th-TH" err="1">
                <a:cs typeface="Cordia New"/>
              </a:rPr>
              <a:t>navigating</a:t>
            </a:r>
            <a:r>
              <a:rPr lang="th-TH">
                <a:cs typeface="Cordia New"/>
              </a:rPr>
              <a:t>, </a:t>
            </a:r>
            <a:r>
              <a:rPr lang="th-TH" err="1">
                <a:cs typeface="Cordia New"/>
              </a:rPr>
              <a:t>etc</a:t>
            </a:r>
            <a:r>
              <a:rPr lang="th-TH">
                <a:cs typeface="Cordia New"/>
              </a:rPr>
              <a:t>.</a:t>
            </a:r>
            <a:endParaRPr lang="en-US" err="1">
              <a:cs typeface="Calibri"/>
            </a:endParaRPr>
          </a:p>
        </p:txBody>
      </p:sp>
      <p:sp>
        <p:nvSpPr>
          <p:cNvPr id="9" name="TextBox 8">
            <a:extLst>
              <a:ext uri="{FF2B5EF4-FFF2-40B4-BE49-F238E27FC236}">
                <a16:creationId xmlns:a16="http://schemas.microsoft.com/office/drawing/2014/main" id="{A57E9A74-5BD1-4A39-86F0-2B6C21F1CD4B}"/>
              </a:ext>
            </a:extLst>
          </p:cNvPr>
          <p:cNvSpPr txBox="1"/>
          <p:nvPr/>
        </p:nvSpPr>
        <p:spPr>
          <a:xfrm>
            <a:off x="98612" y="6462993"/>
            <a:ext cx="2841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3" name="TextBox 2">
            <a:extLst>
              <a:ext uri="{FF2B5EF4-FFF2-40B4-BE49-F238E27FC236}">
                <a16:creationId xmlns:a16="http://schemas.microsoft.com/office/drawing/2014/main" id="{31912D4F-5642-62F6-7ECD-1CE73AB45EE0}"/>
              </a:ext>
            </a:extLst>
          </p:cNvPr>
          <p:cNvSpPr txBox="1"/>
          <p:nvPr/>
        </p:nvSpPr>
        <p:spPr>
          <a:xfrm>
            <a:off x="9271903" y="-74117"/>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410491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53"/>
          <p:cNvSpPr/>
          <p:nvPr/>
        </p:nvSpPr>
        <p:spPr>
          <a:xfrm>
            <a:off x="7231675" y="2140025"/>
            <a:ext cx="1972200" cy="26178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648" name="Google Shape;648;p53"/>
          <p:cNvSpPr/>
          <p:nvPr/>
        </p:nvSpPr>
        <p:spPr>
          <a:xfrm>
            <a:off x="1517850" y="2140025"/>
            <a:ext cx="1829700" cy="21585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649" name="Google Shape;649;p53"/>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44</a:t>
            </a:fld>
            <a:endParaRPr/>
          </a:p>
        </p:txBody>
      </p:sp>
      <p:sp>
        <p:nvSpPr>
          <p:cNvPr id="650" name="Google Shape;650;p53"/>
          <p:cNvSpPr/>
          <p:nvPr/>
        </p:nvSpPr>
        <p:spPr>
          <a:xfrm>
            <a:off x="1608275" y="2720400"/>
            <a:ext cx="16773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/bring_up</a:t>
            </a:r>
            <a:endParaRPr sz="1800">
              <a:latin typeface="Georgia"/>
              <a:ea typeface="Georgia"/>
              <a:cs typeface="Georgia"/>
              <a:sym typeface="Georgia"/>
            </a:endParaRPr>
          </a:p>
        </p:txBody>
      </p:sp>
      <p:sp>
        <p:nvSpPr>
          <p:cNvPr id="651" name="Google Shape;651;p53"/>
          <p:cNvSpPr/>
          <p:nvPr/>
        </p:nvSpPr>
        <p:spPr>
          <a:xfrm>
            <a:off x="4418700" y="1818725"/>
            <a:ext cx="14688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/odometry</a:t>
            </a:r>
            <a:endParaRPr sz="1800">
              <a:latin typeface="Georgia"/>
              <a:ea typeface="Georgia"/>
              <a:cs typeface="Georgia"/>
              <a:sym typeface="Georgia"/>
            </a:endParaRPr>
          </a:p>
        </p:txBody>
      </p:sp>
      <p:sp>
        <p:nvSpPr>
          <p:cNvPr id="652" name="Google Shape;652;p53"/>
          <p:cNvSpPr/>
          <p:nvPr/>
        </p:nvSpPr>
        <p:spPr>
          <a:xfrm>
            <a:off x="4319625" y="3931500"/>
            <a:ext cx="1554000" cy="64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/cmd_vel</a:t>
            </a:r>
            <a:endParaRPr sz="1800">
              <a:latin typeface="Georgia"/>
              <a:ea typeface="Georgia"/>
              <a:cs typeface="Georgia"/>
              <a:sym typeface="Georgia"/>
            </a:endParaRPr>
          </a:p>
        </p:txBody>
      </p:sp>
      <p:cxnSp>
        <p:nvCxnSpPr>
          <p:cNvPr id="653" name="Google Shape;653;p53"/>
          <p:cNvCxnSpPr>
            <a:stCxn id="650" idx="7"/>
            <a:endCxn id="651" idx="1"/>
          </p:cNvCxnSpPr>
          <p:nvPr/>
        </p:nvCxnSpPr>
        <p:spPr>
          <a:xfrm rot="10800000" flipH="1">
            <a:off x="3039940" y="2139987"/>
            <a:ext cx="1378800" cy="711600"/>
          </a:xfrm>
          <a:prstGeom prst="straightConnector1">
            <a:avLst/>
          </a:prstGeom>
          <a:noFill/>
          <a:ln w="38100" cap="flat" cmpd="sng">
            <a:solidFill>
              <a:schemeClr val="dk2"/>
            </a:solidFill>
            <a:prstDash val="solid"/>
            <a:round/>
            <a:headEnd type="none" w="med" len="med"/>
            <a:tailEnd type="triangle" w="med" len="med"/>
          </a:ln>
        </p:spPr>
      </p:cxnSp>
      <p:cxnSp>
        <p:nvCxnSpPr>
          <p:cNvPr id="654" name="Google Shape;654;p53"/>
          <p:cNvCxnSpPr>
            <a:stCxn id="652" idx="1"/>
            <a:endCxn id="650" idx="5"/>
          </p:cNvCxnSpPr>
          <p:nvPr/>
        </p:nvCxnSpPr>
        <p:spPr>
          <a:xfrm rot="10800000">
            <a:off x="3039825" y="3484950"/>
            <a:ext cx="1279800" cy="767700"/>
          </a:xfrm>
          <a:prstGeom prst="straightConnector1">
            <a:avLst/>
          </a:prstGeom>
          <a:noFill/>
          <a:ln w="38100" cap="flat" cmpd="sng">
            <a:solidFill>
              <a:schemeClr val="dk2"/>
            </a:solidFill>
            <a:prstDash val="solid"/>
            <a:round/>
            <a:headEnd type="none" w="med" len="med"/>
            <a:tailEnd type="triangle" w="med" len="med"/>
          </a:ln>
        </p:spPr>
      </p:cxnSp>
      <p:sp>
        <p:nvSpPr>
          <p:cNvPr id="655" name="Google Shape;655;p53"/>
          <p:cNvSpPr txBox="1"/>
          <p:nvPr/>
        </p:nvSpPr>
        <p:spPr>
          <a:xfrm>
            <a:off x="259875"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turtlesim_node</a:t>
            </a:r>
            <a:endParaRPr/>
          </a:p>
        </p:txBody>
      </p:sp>
      <p:sp>
        <p:nvSpPr>
          <p:cNvPr id="656" name="Google Shape;656;p53"/>
          <p:cNvSpPr/>
          <p:nvPr/>
        </p:nvSpPr>
        <p:spPr>
          <a:xfrm>
            <a:off x="7604546" y="3534750"/>
            <a:ext cx="13680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/teleop</a:t>
            </a:r>
            <a:endParaRPr sz="1800">
              <a:latin typeface="Georgia"/>
              <a:ea typeface="Georgia"/>
              <a:cs typeface="Georgia"/>
              <a:sym typeface="Georgia"/>
            </a:endParaRPr>
          </a:p>
        </p:txBody>
      </p:sp>
      <p:cxnSp>
        <p:nvCxnSpPr>
          <p:cNvPr id="657" name="Google Shape;657;p53"/>
          <p:cNvCxnSpPr>
            <a:stCxn id="656" idx="2"/>
            <a:endCxn id="652" idx="3"/>
          </p:cNvCxnSpPr>
          <p:nvPr/>
        </p:nvCxnSpPr>
        <p:spPr>
          <a:xfrm flipH="1">
            <a:off x="5873546" y="3982650"/>
            <a:ext cx="1731000" cy="270000"/>
          </a:xfrm>
          <a:prstGeom prst="straightConnector1">
            <a:avLst/>
          </a:prstGeom>
          <a:noFill/>
          <a:ln w="38100" cap="flat" cmpd="sng">
            <a:solidFill>
              <a:schemeClr val="dk2"/>
            </a:solidFill>
            <a:prstDash val="solid"/>
            <a:round/>
            <a:headEnd type="none" w="med" len="med"/>
            <a:tailEnd type="triangle" w="med" len="med"/>
          </a:ln>
        </p:spPr>
      </p:cxnSp>
      <p:sp>
        <p:nvSpPr>
          <p:cNvPr id="658" name="Google Shape;658;p53"/>
          <p:cNvSpPr txBox="1"/>
          <p:nvPr/>
        </p:nvSpPr>
        <p:spPr>
          <a:xfrm>
            <a:off x="6449050" y="5268300"/>
            <a:ext cx="4866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ros2 run turtlesim turtle_teleop_key</a:t>
            </a:r>
            <a:endParaRPr/>
          </a:p>
        </p:txBody>
      </p:sp>
      <p:pic>
        <p:nvPicPr>
          <p:cNvPr id="659" name="Google Shape;659;p53"/>
          <p:cNvPicPr preferRelativeResize="0"/>
          <p:nvPr/>
        </p:nvPicPr>
        <p:blipFill rotWithShape="1">
          <a:blip r:embed="rId3">
            <a:alphaModFix/>
          </a:blip>
          <a:srcRect t="17312" b="13441"/>
          <a:stretch/>
        </p:blipFill>
        <p:spPr>
          <a:xfrm>
            <a:off x="9709042" y="3923800"/>
            <a:ext cx="1554000" cy="1076081"/>
          </a:xfrm>
          <a:prstGeom prst="rect">
            <a:avLst/>
          </a:prstGeom>
          <a:noFill/>
          <a:ln>
            <a:noFill/>
          </a:ln>
        </p:spPr>
      </p:pic>
      <p:sp>
        <p:nvSpPr>
          <p:cNvPr id="660" name="Google Shape;660;p53"/>
          <p:cNvSpPr txBox="1">
            <a:spLocks noGrp="1"/>
          </p:cNvSpPr>
          <p:nvPr>
            <p:ph type="title"/>
          </p:nvPr>
        </p:nvSpPr>
        <p:spPr>
          <a:xfrm>
            <a:off x="259876" y="434100"/>
            <a:ext cx="106728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Example: ROS2 Network with Multiple Computers</a:t>
            </a:r>
            <a:endParaRPr/>
          </a:p>
        </p:txBody>
      </p:sp>
      <p:sp>
        <p:nvSpPr>
          <p:cNvPr id="661" name="Google Shape;661;p53"/>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662" name="Google Shape;662;p53"/>
          <p:cNvSpPr/>
          <p:nvPr/>
        </p:nvSpPr>
        <p:spPr>
          <a:xfrm>
            <a:off x="9203875" y="3745000"/>
            <a:ext cx="1100813" cy="196249"/>
          </a:xfrm>
          <a:custGeom>
            <a:avLst/>
            <a:gdLst/>
            <a:ahLst/>
            <a:cxnLst/>
            <a:rect l="l" t="t" r="r" b="b"/>
            <a:pathLst>
              <a:path w="75295" h="27390" extrusionOk="0">
                <a:moveTo>
                  <a:pt x="75295" y="27391"/>
                </a:moveTo>
                <a:cubicBezTo>
                  <a:pt x="68323" y="22841"/>
                  <a:pt x="46014" y="826"/>
                  <a:pt x="33465" y="92"/>
                </a:cubicBezTo>
                <a:cubicBezTo>
                  <a:pt x="20916" y="-642"/>
                  <a:pt x="5578" y="19172"/>
                  <a:pt x="0" y="22988"/>
                </a:cubicBezTo>
              </a:path>
            </a:pathLst>
          </a:custGeom>
          <a:noFill/>
          <a:ln w="28575" cap="flat" cmpd="sng">
            <a:solidFill>
              <a:schemeClr val="dk1"/>
            </a:solidFill>
            <a:prstDash val="solid"/>
            <a:round/>
            <a:headEnd type="none" w="med" len="med"/>
            <a:tailEnd type="none" w="med" len="med"/>
          </a:ln>
        </p:spPr>
        <p:txBody>
          <a:bodyPr/>
          <a:lstStyle/>
          <a:p>
            <a:endParaRPr lang="en-US"/>
          </a:p>
        </p:txBody>
      </p:sp>
      <p:sp>
        <p:nvSpPr>
          <p:cNvPr id="663" name="Google Shape;663;p53"/>
          <p:cNvSpPr txBox="1"/>
          <p:nvPr/>
        </p:nvSpPr>
        <p:spPr>
          <a:xfrm>
            <a:off x="7716150" y="4252650"/>
            <a:ext cx="1144800" cy="44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Georgia"/>
                <a:ea typeface="Georgia"/>
                <a:cs typeface="Georgia"/>
                <a:sym typeface="Georgia"/>
              </a:rPr>
              <a:t>Laptop</a:t>
            </a:r>
            <a:endParaRPr sz="2400">
              <a:solidFill>
                <a:schemeClr val="dk1"/>
              </a:solidFill>
              <a:latin typeface="Georgia"/>
              <a:ea typeface="Georgia"/>
              <a:cs typeface="Georgia"/>
              <a:sym typeface="Georgia"/>
            </a:endParaRPr>
          </a:p>
        </p:txBody>
      </p:sp>
      <p:sp>
        <p:nvSpPr>
          <p:cNvPr id="664" name="Google Shape;664;p53"/>
          <p:cNvSpPr txBox="1"/>
          <p:nvPr/>
        </p:nvSpPr>
        <p:spPr>
          <a:xfrm>
            <a:off x="1698300" y="3812200"/>
            <a:ext cx="1912800" cy="44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Georgia"/>
                <a:ea typeface="Georgia"/>
                <a:cs typeface="Georgia"/>
                <a:sym typeface="Georgia"/>
              </a:rPr>
              <a:t>Nvidia Jetson</a:t>
            </a:r>
            <a:endParaRPr sz="2100">
              <a:solidFill>
                <a:schemeClr val="dk1"/>
              </a:solidFill>
              <a:latin typeface="Georgia"/>
              <a:ea typeface="Georgia"/>
              <a:cs typeface="Georgia"/>
              <a:sym typeface="Georgia"/>
            </a:endParaRPr>
          </a:p>
        </p:txBody>
      </p:sp>
      <p:sp>
        <p:nvSpPr>
          <p:cNvPr id="665" name="Google Shape;665;p53"/>
          <p:cNvSpPr/>
          <p:nvPr/>
        </p:nvSpPr>
        <p:spPr>
          <a:xfrm>
            <a:off x="7637571" y="2343375"/>
            <a:ext cx="1368000" cy="89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latin typeface="Georgia"/>
                <a:ea typeface="Georgia"/>
                <a:cs typeface="Georgia"/>
                <a:sym typeface="Georgia"/>
              </a:rPr>
              <a:t>/rviz2</a:t>
            </a:r>
            <a:endParaRPr sz="1800">
              <a:latin typeface="Georgia"/>
              <a:ea typeface="Georgia"/>
              <a:cs typeface="Georgia"/>
              <a:sym typeface="Georgia"/>
            </a:endParaRPr>
          </a:p>
        </p:txBody>
      </p:sp>
      <p:cxnSp>
        <p:nvCxnSpPr>
          <p:cNvPr id="666" name="Google Shape;666;p53"/>
          <p:cNvCxnSpPr>
            <a:stCxn id="651" idx="3"/>
            <a:endCxn id="665" idx="2"/>
          </p:cNvCxnSpPr>
          <p:nvPr/>
        </p:nvCxnSpPr>
        <p:spPr>
          <a:xfrm>
            <a:off x="5887500" y="2139875"/>
            <a:ext cx="1750200" cy="651300"/>
          </a:xfrm>
          <a:prstGeom prst="straightConnector1">
            <a:avLst/>
          </a:prstGeom>
          <a:noFill/>
          <a:ln w="38100" cap="flat" cmpd="sng">
            <a:solidFill>
              <a:schemeClr val="dk2"/>
            </a:solidFill>
            <a:prstDash val="solid"/>
            <a:round/>
            <a:headEnd type="none" w="med" len="med"/>
            <a:tailEnd type="triangle" w="med" len="med"/>
          </a:ln>
        </p:spPr>
      </p:cxnSp>
      <p:pic>
        <p:nvPicPr>
          <p:cNvPr id="667" name="Google Shape;667;p53"/>
          <p:cNvPicPr preferRelativeResize="0"/>
          <p:nvPr/>
        </p:nvPicPr>
        <p:blipFill>
          <a:blip r:embed="rId4">
            <a:alphaModFix/>
          </a:blip>
          <a:stretch>
            <a:fillRect/>
          </a:stretch>
        </p:blipFill>
        <p:spPr>
          <a:xfrm>
            <a:off x="9411475" y="1712825"/>
            <a:ext cx="2536474" cy="1391275"/>
          </a:xfrm>
          <a:prstGeom prst="rect">
            <a:avLst/>
          </a:prstGeom>
          <a:noFill/>
          <a:ln>
            <a:noFill/>
          </a:ln>
        </p:spPr>
      </p:pic>
      <p:sp>
        <p:nvSpPr>
          <p:cNvPr id="668" name="Google Shape;668;p53"/>
          <p:cNvSpPr/>
          <p:nvPr/>
        </p:nvSpPr>
        <p:spPr>
          <a:xfrm rot="-5400000">
            <a:off x="-323125" y="3008825"/>
            <a:ext cx="2204100" cy="420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Microcontroller</a:t>
            </a:r>
            <a:endParaRPr>
              <a:latin typeface="Georgia"/>
              <a:ea typeface="Georgia"/>
              <a:cs typeface="Georgia"/>
              <a:sym typeface="Georgia"/>
            </a:endParaRPr>
          </a:p>
        </p:txBody>
      </p:sp>
      <p:cxnSp>
        <p:nvCxnSpPr>
          <p:cNvPr id="669" name="Google Shape;669;p53"/>
          <p:cNvCxnSpPr/>
          <p:nvPr/>
        </p:nvCxnSpPr>
        <p:spPr>
          <a:xfrm>
            <a:off x="997925" y="2624150"/>
            <a:ext cx="520500" cy="0"/>
          </a:xfrm>
          <a:prstGeom prst="straightConnector1">
            <a:avLst/>
          </a:prstGeom>
          <a:noFill/>
          <a:ln w="9525" cap="flat" cmpd="sng">
            <a:solidFill>
              <a:schemeClr val="dk2"/>
            </a:solidFill>
            <a:prstDash val="solid"/>
            <a:round/>
            <a:headEnd type="none" w="med" len="med"/>
            <a:tailEnd type="triangle" w="med" len="med"/>
          </a:ln>
        </p:spPr>
      </p:cxnSp>
      <p:cxnSp>
        <p:nvCxnSpPr>
          <p:cNvPr id="670" name="Google Shape;670;p53"/>
          <p:cNvCxnSpPr/>
          <p:nvPr/>
        </p:nvCxnSpPr>
        <p:spPr>
          <a:xfrm flipH="1">
            <a:off x="1020150" y="3745000"/>
            <a:ext cx="497700" cy="20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4"/>
          <p:cNvSpPr txBox="1">
            <a:spLocks noGrp="1"/>
          </p:cNvSpPr>
          <p:nvPr>
            <p:ph type="title"/>
          </p:nvPr>
        </p:nvSpPr>
        <p:spPr>
          <a:xfrm>
            <a:off x="259873" y="434100"/>
            <a:ext cx="6530700" cy="8958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dk1"/>
              </a:buClr>
              <a:buSzPts val="4000"/>
              <a:buFont typeface="Barlow Condensed"/>
              <a:buNone/>
            </a:pPr>
            <a:r>
              <a:rPr lang="en-US"/>
              <a:t>ROS2 Package</a:t>
            </a:r>
            <a:endParaRPr/>
          </a:p>
        </p:txBody>
      </p:sp>
      <p:sp>
        <p:nvSpPr>
          <p:cNvPr id="676" name="Google Shape;676;p54"/>
          <p:cNvSpPr txBox="1">
            <a:spLocks noGrp="1"/>
          </p:cNvSpPr>
          <p:nvPr>
            <p:ph type="sldNum" idx="12"/>
          </p:nvPr>
        </p:nvSpPr>
        <p:spPr>
          <a:xfrm>
            <a:off x="5588000" y="6335309"/>
            <a:ext cx="1016100" cy="25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PAGE  </a:t>
            </a:r>
            <a:fld id="{00000000-1234-1234-1234-123412341234}" type="slidenum">
              <a:rPr lang="en-US"/>
              <a:t>45</a:t>
            </a:fld>
            <a:endParaRPr/>
          </a:p>
        </p:txBody>
      </p:sp>
      <p:sp>
        <p:nvSpPr>
          <p:cNvPr id="677" name="Google Shape;677;p54"/>
          <p:cNvSpPr txBox="1">
            <a:spLocks noGrp="1"/>
          </p:cNvSpPr>
          <p:nvPr>
            <p:ph type="ftr" idx="11"/>
          </p:nvPr>
        </p:nvSpPr>
        <p:spPr>
          <a:xfrm>
            <a:off x="259882" y="6335309"/>
            <a:ext cx="5226600" cy="25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Arial"/>
                <a:ea typeface="Arial"/>
                <a:cs typeface="Arial"/>
                <a:sym typeface="Arial"/>
              </a:rPr>
              <a:t>Introduction to ROS2</a:t>
            </a:r>
            <a:endParaRPr/>
          </a:p>
        </p:txBody>
      </p:sp>
      <p:sp>
        <p:nvSpPr>
          <p:cNvPr id="678" name="Google Shape;678;p54"/>
          <p:cNvSpPr/>
          <p:nvPr/>
        </p:nvSpPr>
        <p:spPr>
          <a:xfrm>
            <a:off x="809650" y="1741225"/>
            <a:ext cx="9115200" cy="4031400"/>
          </a:xfrm>
          <a:prstGeom prst="round1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a:ea typeface="Georgia"/>
              <a:cs typeface="Georgia"/>
              <a:sym typeface="Georgia"/>
            </a:endParaRPr>
          </a:p>
        </p:txBody>
      </p:sp>
      <p:sp>
        <p:nvSpPr>
          <p:cNvPr id="679" name="Google Shape;679;p54"/>
          <p:cNvSpPr/>
          <p:nvPr/>
        </p:nvSpPr>
        <p:spPr>
          <a:xfrm>
            <a:off x="962050" y="1893625"/>
            <a:ext cx="1719300" cy="2007300"/>
          </a:xfrm>
          <a:prstGeom prst="round1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latin typeface="Georgia"/>
                <a:ea typeface="Georgia"/>
                <a:cs typeface="Georgia"/>
                <a:sym typeface="Georgia"/>
              </a:rPr>
              <a:t>scripts</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executable node </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solidFill>
                  <a:schemeClr val="dk1"/>
                </a:solidFill>
                <a:latin typeface="Georgia"/>
                <a:ea typeface="Georgia"/>
                <a:cs typeface="Georgia"/>
                <a:sym typeface="Georgia"/>
              </a:rPr>
              <a:t>executable node </a:t>
            </a:r>
            <a:endParaRPr>
              <a:solidFill>
                <a:schemeClr val="dk1"/>
              </a:solidFill>
              <a:latin typeface="Georgia"/>
              <a:ea typeface="Georgia"/>
              <a:cs typeface="Georgia"/>
              <a:sym typeface="Georgia"/>
            </a:endParaRPr>
          </a:p>
          <a:p>
            <a:pPr marL="457200" lvl="0" indent="-317500" algn="l" rtl="0">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executable node </a:t>
            </a:r>
            <a:endParaRPr>
              <a:solidFill>
                <a:schemeClr val="dk1"/>
              </a:solidFill>
              <a:latin typeface="Georgia"/>
              <a:ea typeface="Georgia"/>
              <a:cs typeface="Georgia"/>
              <a:sym typeface="Georgia"/>
            </a:endParaRPr>
          </a:p>
        </p:txBody>
      </p:sp>
      <p:sp>
        <p:nvSpPr>
          <p:cNvPr id="680" name="Google Shape;680;p54"/>
          <p:cNvSpPr/>
          <p:nvPr/>
        </p:nvSpPr>
        <p:spPr>
          <a:xfrm>
            <a:off x="3097000" y="1893625"/>
            <a:ext cx="1719300" cy="2007300"/>
          </a:xfrm>
          <a:prstGeom prst="round1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latin typeface="Georgia"/>
                <a:ea typeface="Georgia"/>
                <a:cs typeface="Georgia"/>
                <a:sym typeface="Georgia"/>
              </a:rPr>
              <a:t>config</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parameters</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configuration files</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parameters</a:t>
            </a:r>
            <a:endParaRPr>
              <a:latin typeface="Georgia"/>
              <a:ea typeface="Georgia"/>
              <a:cs typeface="Georgia"/>
              <a:sym typeface="Georgia"/>
            </a:endParaRPr>
          </a:p>
        </p:txBody>
      </p:sp>
      <p:sp>
        <p:nvSpPr>
          <p:cNvPr id="681" name="Google Shape;681;p54"/>
          <p:cNvSpPr/>
          <p:nvPr/>
        </p:nvSpPr>
        <p:spPr>
          <a:xfrm>
            <a:off x="5231950" y="1893625"/>
            <a:ext cx="1719300" cy="2007300"/>
          </a:xfrm>
          <a:prstGeom prst="round1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latin typeface="Georgia"/>
                <a:ea typeface="Georgia"/>
                <a:cs typeface="Georgia"/>
                <a:sym typeface="Georgia"/>
              </a:rPr>
              <a:t>model</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urdf</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sdf</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texture</a:t>
            </a:r>
            <a:endParaRPr>
              <a:latin typeface="Georgia"/>
              <a:ea typeface="Georgia"/>
              <a:cs typeface="Georgia"/>
              <a:sym typeface="Georgia"/>
            </a:endParaRPr>
          </a:p>
        </p:txBody>
      </p:sp>
      <p:sp>
        <p:nvSpPr>
          <p:cNvPr id="682" name="Google Shape;682;p54"/>
          <p:cNvSpPr/>
          <p:nvPr/>
        </p:nvSpPr>
        <p:spPr>
          <a:xfrm>
            <a:off x="7366900" y="1893625"/>
            <a:ext cx="1719300" cy="2007300"/>
          </a:xfrm>
          <a:prstGeom prst="round1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latin typeface="Georgia"/>
                <a:ea typeface="Georgia"/>
                <a:cs typeface="Georgia"/>
                <a:sym typeface="Georgia"/>
              </a:rPr>
              <a:t>launch</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launch file</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launch file</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US">
                <a:latin typeface="Georgia"/>
                <a:ea typeface="Georgia"/>
                <a:cs typeface="Georgia"/>
                <a:sym typeface="Georgia"/>
              </a:rPr>
              <a:t>launch file</a:t>
            </a:r>
            <a:endParaRPr>
              <a:latin typeface="Georgia"/>
              <a:ea typeface="Georgia"/>
              <a:cs typeface="Georgia"/>
              <a:sym typeface="Georgia"/>
            </a:endParaRPr>
          </a:p>
        </p:txBody>
      </p:sp>
      <p:sp>
        <p:nvSpPr>
          <p:cNvPr id="683" name="Google Shape;683;p54"/>
          <p:cNvSpPr/>
          <p:nvPr/>
        </p:nvSpPr>
        <p:spPr>
          <a:xfrm>
            <a:off x="1020075" y="4288600"/>
            <a:ext cx="1719300" cy="1140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Georgia"/>
                <a:ea typeface="Georgia"/>
                <a:cs typeface="Georgia"/>
                <a:sym typeface="Georgia"/>
              </a:rPr>
              <a:t>package.xml</a:t>
            </a:r>
            <a:endParaRPr>
              <a:latin typeface="Georgia"/>
              <a:ea typeface="Georgia"/>
              <a:cs typeface="Georgia"/>
              <a:sym typeface="Georgi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sz="4400">
                <a:cs typeface="Angsana New"/>
              </a:rPr>
              <a:t>The </a:t>
            </a:r>
            <a:r>
              <a:rPr lang="th-TH" sz="4400" err="1">
                <a:cs typeface="Angsana New"/>
              </a:rPr>
              <a:t>concept</a:t>
            </a:r>
            <a:r>
              <a:rPr lang="th-TH" sz="4400">
                <a:cs typeface="Angsana New"/>
              </a:rPr>
              <a:t> of P</a:t>
            </a:r>
            <a:r>
              <a:rPr lang="en-US" sz="4400" err="1"/>
              <a:t>ackage</a:t>
            </a:r>
            <a:endParaRPr lang="en-US" err="1"/>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46</a:t>
            </a:fld>
            <a:endParaRPr lang="en-US"/>
          </a:p>
        </p:txBody>
      </p:sp>
      <p:pic>
        <p:nvPicPr>
          <p:cNvPr id="5" name="Google Shape;67;p15">
            <a:extLst>
              <a:ext uri="{FF2B5EF4-FFF2-40B4-BE49-F238E27FC236}">
                <a16:creationId xmlns:a16="http://schemas.microsoft.com/office/drawing/2014/main" id="{6D08B3EF-323A-BB71-AF2C-4B208BC63C4E}"/>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grpSp>
        <p:nvGrpSpPr>
          <p:cNvPr id="11" name="Group 10">
            <a:extLst>
              <a:ext uri="{FF2B5EF4-FFF2-40B4-BE49-F238E27FC236}">
                <a16:creationId xmlns:a16="http://schemas.microsoft.com/office/drawing/2014/main" id="{5104633B-1D0E-2980-7E03-E8FD905B60BE}"/>
              </a:ext>
            </a:extLst>
          </p:cNvPr>
          <p:cNvGrpSpPr/>
          <p:nvPr/>
        </p:nvGrpSpPr>
        <p:grpSpPr>
          <a:xfrm>
            <a:off x="1262164" y="2272087"/>
            <a:ext cx="1267896" cy="890657"/>
            <a:chOff x="722829" y="2200279"/>
            <a:chExt cx="1944170" cy="1365718"/>
          </a:xfrm>
          <a:solidFill>
            <a:srgbClr val="F5E7C3"/>
          </a:solidFill>
        </p:grpSpPr>
        <p:sp>
          <p:nvSpPr>
            <p:cNvPr id="12" name="Rectangle 11">
              <a:extLst>
                <a:ext uri="{FF2B5EF4-FFF2-40B4-BE49-F238E27FC236}">
                  <a16:creationId xmlns:a16="http://schemas.microsoft.com/office/drawing/2014/main" id="{62454FFC-69AB-2AB9-73D0-C93CDE928A72}"/>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[pkg]</a:t>
              </a:r>
            </a:p>
          </p:txBody>
        </p:sp>
        <p:sp>
          <p:nvSpPr>
            <p:cNvPr id="13" name="Right Triangle 12">
              <a:extLst>
                <a:ext uri="{FF2B5EF4-FFF2-40B4-BE49-F238E27FC236}">
                  <a16:creationId xmlns:a16="http://schemas.microsoft.com/office/drawing/2014/main" id="{E1CA8CDF-52B8-F286-4D7F-D1C9F514F114}"/>
                </a:ext>
              </a:extLst>
            </p:cNvPr>
            <p:cNvSpPr/>
            <p:nvPr/>
          </p:nvSpPr>
          <p:spPr>
            <a:xfrm rot="5400000">
              <a:off x="713840" y="2209268"/>
              <a:ext cx="752474" cy="734496"/>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Right Triangle 14">
              <a:extLst>
                <a:ext uri="{FF2B5EF4-FFF2-40B4-BE49-F238E27FC236}">
                  <a16:creationId xmlns:a16="http://schemas.microsoft.com/office/drawing/2014/main" id="{4D8C6B63-A0F2-5ABB-4B4D-B3327E1DE9F4}"/>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14" name="TextBox 13">
            <a:extLst>
              <a:ext uri="{FF2B5EF4-FFF2-40B4-BE49-F238E27FC236}">
                <a16:creationId xmlns:a16="http://schemas.microsoft.com/office/drawing/2014/main" id="{3819C50E-0448-628C-2097-F28DFC67BCF7}"/>
              </a:ext>
            </a:extLst>
          </p:cNvPr>
          <p:cNvSpPr txBox="1"/>
          <p:nvPr/>
        </p:nvSpPr>
        <p:spPr>
          <a:xfrm>
            <a:off x="3687616" y="2541297"/>
            <a:ext cx="7145079" cy="2677656"/>
          </a:xfrm>
          <a:prstGeom prst="rect">
            <a:avLst/>
          </a:prstGeom>
          <a:noFill/>
        </p:spPr>
        <p:txBody>
          <a:bodyPr wrap="square" lIns="91440" tIns="45720" rIns="91440" bIns="45720" rtlCol="0" anchor="t">
            <a:spAutoFit/>
          </a:bodyPr>
          <a:lstStyle/>
          <a:p>
            <a:r>
              <a:rPr lang="en-US" sz="2400"/>
              <a:t>Package </a:t>
            </a:r>
            <a:r>
              <a:rPr lang="en-US" sz="2400">
                <a:cs typeface="Calibri"/>
              </a:rPr>
              <a:t>is a collection of organized files in a form of directory, which will used to "synthesize" nodes, launch system, etc. </a:t>
            </a:r>
            <a:r>
              <a:rPr lang="en-US" sz="2400"/>
              <a:t>(usually</a:t>
            </a:r>
            <a:r>
              <a:rPr lang="en-US" sz="2400">
                <a:cs typeface="Calibri"/>
              </a:rPr>
              <a:t> for a specific task</a:t>
            </a:r>
            <a:r>
              <a:rPr lang="en-US" sz="2400"/>
              <a:t>)</a:t>
            </a:r>
            <a:endParaRPr lang="th-TH" sz="2400">
              <a:cs typeface="Cordia New"/>
            </a:endParaRPr>
          </a:p>
          <a:p>
            <a:endParaRPr lang="th-TH" sz="2400"/>
          </a:p>
          <a:p>
            <a:pPr marL="342900" indent="-342900">
              <a:buFont typeface="Arial" panose="020B0604020202020204" pitchFamily="34" charset="0"/>
              <a:buChar char="•"/>
            </a:pPr>
            <a:r>
              <a:rPr lang="th-TH" sz="2400" err="1">
                <a:cs typeface="Cordia New"/>
              </a:rPr>
              <a:t>An</a:t>
            </a:r>
            <a:r>
              <a:rPr lang="th-TH" sz="2400">
                <a:cs typeface="Cordia New"/>
              </a:rPr>
              <a:t> </a:t>
            </a:r>
            <a:r>
              <a:rPr lang="th-TH" sz="2400" err="1">
                <a:cs typeface="Cordia New"/>
              </a:rPr>
              <a:t>anology</a:t>
            </a:r>
            <a:r>
              <a:rPr lang="th-TH" sz="2400">
                <a:cs typeface="Cordia New"/>
              </a:rPr>
              <a:t> of a </a:t>
            </a:r>
            <a:r>
              <a:rPr lang="th-TH" sz="2400" err="1">
                <a:cs typeface="Cordia New"/>
              </a:rPr>
              <a:t>package</a:t>
            </a:r>
            <a:r>
              <a:rPr lang="th-TH" sz="2400">
                <a:cs typeface="Cordia New"/>
              </a:rPr>
              <a:t> </a:t>
            </a:r>
            <a:r>
              <a:rPr lang="th-TH" sz="2400" err="1">
                <a:cs typeface="Cordia New"/>
              </a:rPr>
              <a:t>would</a:t>
            </a:r>
            <a:r>
              <a:rPr lang="th-TH" sz="2400">
                <a:cs typeface="Cordia New"/>
              </a:rPr>
              <a:t> </a:t>
            </a:r>
            <a:r>
              <a:rPr lang="th-TH" sz="2400" err="1">
                <a:cs typeface="Cordia New"/>
              </a:rPr>
              <a:t>be</a:t>
            </a:r>
            <a:r>
              <a:rPr lang="th-TH" sz="2400">
                <a:cs typeface="Cordia New"/>
              </a:rPr>
              <a:t> a </a:t>
            </a:r>
            <a:r>
              <a:rPr lang="th-TH" sz="2400" err="1">
                <a:cs typeface="Cordia New"/>
              </a:rPr>
              <a:t>folder</a:t>
            </a:r>
            <a:r>
              <a:rPr lang="th-TH" sz="2400">
                <a:cs typeface="Cordia New"/>
              </a:rPr>
              <a:t> </a:t>
            </a:r>
            <a:r>
              <a:rPr lang="th-TH" sz="2400" err="1">
                <a:cs typeface="Cordia New"/>
              </a:rPr>
              <a:t>where</a:t>
            </a:r>
            <a:r>
              <a:rPr lang="th-TH" sz="2400">
                <a:cs typeface="Cordia New"/>
              </a:rPr>
              <a:t> </a:t>
            </a:r>
            <a:r>
              <a:rPr lang="th-TH" sz="2400" err="1">
                <a:cs typeface="Cordia New"/>
              </a:rPr>
              <a:t>we</a:t>
            </a:r>
            <a:r>
              <a:rPr lang="th-TH" sz="2400">
                <a:cs typeface="Cordia New"/>
              </a:rPr>
              <a:t> </a:t>
            </a:r>
            <a:r>
              <a:rPr lang="th-TH" sz="2400" err="1">
                <a:cs typeface="Cordia New"/>
              </a:rPr>
              <a:t>can</a:t>
            </a:r>
            <a:r>
              <a:rPr lang="th-TH" sz="2400">
                <a:cs typeface="Cordia New"/>
              </a:rPr>
              <a:t> </a:t>
            </a:r>
            <a:r>
              <a:rPr lang="th-TH" sz="2400" err="1">
                <a:cs typeface="Cordia New"/>
              </a:rPr>
              <a:t>keep</a:t>
            </a:r>
            <a:r>
              <a:rPr lang="th-TH" sz="2400">
                <a:cs typeface="Cordia New"/>
              </a:rPr>
              <a:t> </a:t>
            </a:r>
            <a:r>
              <a:rPr lang="th-TH" sz="2400" err="1">
                <a:cs typeface="Cordia New"/>
              </a:rPr>
              <a:t>all</a:t>
            </a:r>
            <a:r>
              <a:rPr lang="th-TH" sz="2400">
                <a:cs typeface="Cordia New"/>
              </a:rPr>
              <a:t> </a:t>
            </a:r>
            <a:r>
              <a:rPr lang="th-TH" sz="2400" err="1">
                <a:cs typeface="Cordia New"/>
              </a:rPr>
              <a:t>blue</a:t>
            </a:r>
            <a:r>
              <a:rPr lang="th-TH" sz="2400">
                <a:cs typeface="Cordia New"/>
              </a:rPr>
              <a:t> </a:t>
            </a:r>
            <a:r>
              <a:rPr lang="th-TH" sz="2400" err="1">
                <a:cs typeface="Cordia New"/>
              </a:rPr>
              <a:t>prints</a:t>
            </a:r>
            <a:r>
              <a:rPr lang="th-TH" sz="2400">
                <a:cs typeface="Cordia New"/>
              </a:rPr>
              <a:t> of a </a:t>
            </a:r>
            <a:r>
              <a:rPr lang="th-TH" sz="2400" err="1">
                <a:cs typeface="Cordia New"/>
              </a:rPr>
              <a:t>house</a:t>
            </a:r>
            <a:r>
              <a:rPr lang="th-TH" sz="2400">
                <a:cs typeface="Cordia New"/>
              </a:rPr>
              <a:t> </a:t>
            </a:r>
            <a:r>
              <a:rPr lang="th-TH" sz="2400" err="1">
                <a:cs typeface="Cordia New"/>
              </a:rPr>
              <a:t>but</a:t>
            </a:r>
            <a:r>
              <a:rPr lang="th-TH" sz="2400">
                <a:cs typeface="Cordia New"/>
              </a:rPr>
              <a:t> </a:t>
            </a:r>
            <a:r>
              <a:rPr lang="th-TH" sz="2400" err="1">
                <a:cs typeface="Cordia New"/>
              </a:rPr>
              <a:t>not</a:t>
            </a:r>
            <a:r>
              <a:rPr lang="th-TH" sz="2400">
                <a:cs typeface="Cordia New"/>
              </a:rPr>
              <a:t> </a:t>
            </a:r>
            <a:r>
              <a:rPr lang="th-TH" sz="2400" err="1">
                <a:cs typeface="Cordia New"/>
              </a:rPr>
              <a:t>the</a:t>
            </a:r>
            <a:r>
              <a:rPr lang="th-TH" sz="2400">
                <a:cs typeface="Cordia New"/>
              </a:rPr>
              <a:t> </a:t>
            </a:r>
            <a:r>
              <a:rPr lang="th-TH" sz="2400" err="1">
                <a:cs typeface="Cordia New"/>
              </a:rPr>
              <a:t>house</a:t>
            </a:r>
            <a:r>
              <a:rPr lang="th-TH" sz="2400">
                <a:cs typeface="Cordia New"/>
              </a:rPr>
              <a:t> </a:t>
            </a:r>
            <a:r>
              <a:rPr lang="th-TH" sz="2400" err="1">
                <a:cs typeface="Cordia New"/>
              </a:rPr>
              <a:t>itself</a:t>
            </a:r>
            <a:r>
              <a:rPr lang="th-TH" sz="2400">
                <a:cs typeface="Cordia New"/>
              </a:rPr>
              <a:t>.</a:t>
            </a:r>
          </a:p>
        </p:txBody>
      </p:sp>
      <p:pic>
        <p:nvPicPr>
          <p:cNvPr id="60" name="Picture 59" descr="A blue chalkboard with writing on it&#10;&#10;Description automatically generated with low confidence">
            <a:extLst>
              <a:ext uri="{FF2B5EF4-FFF2-40B4-BE49-F238E27FC236}">
                <a16:creationId xmlns:a16="http://schemas.microsoft.com/office/drawing/2014/main" id="{A5E33666-6C40-F882-3E8C-29ABF27F2E9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56334" y="3532581"/>
            <a:ext cx="2479347" cy="1859510"/>
          </a:xfrm>
          <a:prstGeom prst="rect">
            <a:avLst/>
          </a:prstGeom>
        </p:spPr>
      </p:pic>
      <p:sp>
        <p:nvSpPr>
          <p:cNvPr id="6" name="TextBox 5">
            <a:extLst>
              <a:ext uri="{FF2B5EF4-FFF2-40B4-BE49-F238E27FC236}">
                <a16:creationId xmlns:a16="http://schemas.microsoft.com/office/drawing/2014/main" id="{17EF1B3E-ABDD-B856-EEF6-E934EC828763}"/>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3BD991DB-2E25-46B6-E04D-AB1EB1BA0105}"/>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586290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F84870BB-6DBA-3893-FC51-4059CC1D8A9E}"/>
              </a:ext>
            </a:extLst>
          </p:cNvPr>
          <p:cNvGrpSpPr/>
          <p:nvPr/>
        </p:nvGrpSpPr>
        <p:grpSpPr>
          <a:xfrm>
            <a:off x="362438" y="1750441"/>
            <a:ext cx="7502332" cy="2311196"/>
            <a:chOff x="722829" y="2200279"/>
            <a:chExt cx="8539035" cy="6657319"/>
          </a:xfrm>
          <a:solidFill>
            <a:srgbClr val="F5E7C3"/>
          </a:solidFill>
        </p:grpSpPr>
        <p:sp>
          <p:nvSpPr>
            <p:cNvPr id="26" name="Rectangle 25">
              <a:extLst>
                <a:ext uri="{FF2B5EF4-FFF2-40B4-BE49-F238E27FC236}">
                  <a16:creationId xmlns:a16="http://schemas.microsoft.com/office/drawing/2014/main" id="{8B7195CB-D395-D960-FAC9-0FB1CF5EB86A}"/>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7" name="Right Triangle 26">
              <a:extLst>
                <a:ext uri="{FF2B5EF4-FFF2-40B4-BE49-F238E27FC236}">
                  <a16:creationId xmlns:a16="http://schemas.microsoft.com/office/drawing/2014/main" id="{A0DF3C67-BF30-F73C-8457-A7642CBC6E30}"/>
                </a:ext>
              </a:extLst>
            </p:cNvPr>
            <p:cNvSpPr/>
            <p:nvPr/>
          </p:nvSpPr>
          <p:spPr>
            <a:xfrm rot="5400000">
              <a:off x="173267" y="2749841"/>
              <a:ext cx="1719320" cy="62019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8" name="Right Triangle 27">
              <a:extLst>
                <a:ext uri="{FF2B5EF4-FFF2-40B4-BE49-F238E27FC236}">
                  <a16:creationId xmlns:a16="http://schemas.microsoft.com/office/drawing/2014/main" id="{979480D7-4FF5-480A-4CC8-63D7008F4F2A}"/>
                </a:ext>
              </a:extLst>
            </p:cNvPr>
            <p:cNvSpPr/>
            <p:nvPr/>
          </p:nvSpPr>
          <p:spPr>
            <a:xfrm rot="16200000">
              <a:off x="594888" y="2643610"/>
              <a:ext cx="1096224"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en-US" sz="4400"/>
              <a:t>Source folder (</a:t>
            </a:r>
            <a:r>
              <a:rPr lang="en-US" sz="4400" err="1"/>
              <a:t>src</a:t>
            </a:r>
            <a:r>
              <a:rPr lang="en-US" sz="4400"/>
              <a:t>)</a:t>
            </a:r>
            <a:endParaRPr lang="en-US"/>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47</a:t>
            </a:fld>
            <a:endParaRPr lang="en-US"/>
          </a:p>
        </p:txBody>
      </p:sp>
      <p:pic>
        <p:nvPicPr>
          <p:cNvPr id="5" name="Google Shape;67;p15">
            <a:extLst>
              <a:ext uri="{FF2B5EF4-FFF2-40B4-BE49-F238E27FC236}">
                <a16:creationId xmlns:a16="http://schemas.microsoft.com/office/drawing/2014/main" id="{6D08B3EF-323A-BB71-AF2C-4B208BC63C4E}"/>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grpSp>
        <p:nvGrpSpPr>
          <p:cNvPr id="11" name="Group 10">
            <a:extLst>
              <a:ext uri="{FF2B5EF4-FFF2-40B4-BE49-F238E27FC236}">
                <a16:creationId xmlns:a16="http://schemas.microsoft.com/office/drawing/2014/main" id="{5104633B-1D0E-2980-7E03-E8FD905B60BE}"/>
              </a:ext>
            </a:extLst>
          </p:cNvPr>
          <p:cNvGrpSpPr/>
          <p:nvPr/>
        </p:nvGrpSpPr>
        <p:grpSpPr>
          <a:xfrm>
            <a:off x="1336591" y="2484737"/>
            <a:ext cx="1672422" cy="1156913"/>
            <a:chOff x="722829" y="2200279"/>
            <a:chExt cx="2564464" cy="1773991"/>
          </a:xfrm>
          <a:solidFill>
            <a:srgbClr val="F5E7C3"/>
          </a:solidFill>
        </p:grpSpPr>
        <p:sp>
          <p:nvSpPr>
            <p:cNvPr id="12" name="Rectangle 11">
              <a:extLst>
                <a:ext uri="{FF2B5EF4-FFF2-40B4-BE49-F238E27FC236}">
                  <a16:creationId xmlns:a16="http://schemas.microsoft.com/office/drawing/2014/main" id="{62454FFC-69AB-2AB9-73D0-C93CDE928A72}"/>
                </a:ext>
              </a:extLst>
            </p:cNvPr>
            <p:cNvSpPr/>
            <p:nvPr/>
          </p:nvSpPr>
          <p:spPr>
            <a:xfrm>
              <a:off x="942974" y="2295524"/>
              <a:ext cx="2344319" cy="16787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solidFill>
                </a:rPr>
                <a:t>sensor_calibration</a:t>
              </a:r>
              <a:endParaRPr lang="en-US" sz="1400">
                <a:solidFill>
                  <a:schemeClr val="tx1"/>
                </a:solidFill>
              </a:endParaRPr>
            </a:p>
          </p:txBody>
        </p:sp>
        <p:sp>
          <p:nvSpPr>
            <p:cNvPr id="13" name="Right Triangle 12">
              <a:extLst>
                <a:ext uri="{FF2B5EF4-FFF2-40B4-BE49-F238E27FC236}">
                  <a16:creationId xmlns:a16="http://schemas.microsoft.com/office/drawing/2014/main" id="{E1CA8CDF-52B8-F286-4D7F-D1C9F514F114}"/>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Right Triangle 14">
              <a:extLst>
                <a:ext uri="{FF2B5EF4-FFF2-40B4-BE49-F238E27FC236}">
                  <a16:creationId xmlns:a16="http://schemas.microsoft.com/office/drawing/2014/main" id="{4D8C6B63-A0F2-5ABB-4B4D-B3327E1DE9F4}"/>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7" name="Group 6">
            <a:extLst>
              <a:ext uri="{FF2B5EF4-FFF2-40B4-BE49-F238E27FC236}">
                <a16:creationId xmlns:a16="http://schemas.microsoft.com/office/drawing/2014/main" id="{15F042A4-AA3D-C95A-AE5C-218B0BBDC758}"/>
              </a:ext>
            </a:extLst>
          </p:cNvPr>
          <p:cNvGrpSpPr/>
          <p:nvPr/>
        </p:nvGrpSpPr>
        <p:grpSpPr>
          <a:xfrm>
            <a:off x="3424117" y="2484737"/>
            <a:ext cx="1672422" cy="1156913"/>
            <a:chOff x="722829" y="2200279"/>
            <a:chExt cx="2564464" cy="1773991"/>
          </a:xfrm>
          <a:solidFill>
            <a:srgbClr val="F5E7C3"/>
          </a:solidFill>
        </p:grpSpPr>
        <p:sp>
          <p:nvSpPr>
            <p:cNvPr id="8" name="Rectangle 7">
              <a:extLst>
                <a:ext uri="{FF2B5EF4-FFF2-40B4-BE49-F238E27FC236}">
                  <a16:creationId xmlns:a16="http://schemas.microsoft.com/office/drawing/2014/main" id="{FE2C1A13-1CF6-6172-459D-3A717D082761}"/>
                </a:ext>
              </a:extLst>
            </p:cNvPr>
            <p:cNvSpPr/>
            <p:nvPr/>
          </p:nvSpPr>
          <p:spPr>
            <a:xfrm>
              <a:off x="942974" y="2295524"/>
              <a:ext cx="2344319" cy="16787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solidFill>
                </a:rPr>
                <a:t>ros_to_uart</a:t>
              </a:r>
              <a:endParaRPr lang="en-US" sz="1400">
                <a:solidFill>
                  <a:schemeClr val="tx1"/>
                </a:solidFill>
              </a:endParaRPr>
            </a:p>
          </p:txBody>
        </p:sp>
        <p:sp>
          <p:nvSpPr>
            <p:cNvPr id="9" name="Right Triangle 8">
              <a:extLst>
                <a:ext uri="{FF2B5EF4-FFF2-40B4-BE49-F238E27FC236}">
                  <a16:creationId xmlns:a16="http://schemas.microsoft.com/office/drawing/2014/main" id="{F2DB9803-21D5-8135-81B5-43CDD0954D29}"/>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ight Triangle 9">
              <a:extLst>
                <a:ext uri="{FF2B5EF4-FFF2-40B4-BE49-F238E27FC236}">
                  <a16:creationId xmlns:a16="http://schemas.microsoft.com/office/drawing/2014/main" id="{F20CFE24-D38D-698D-32F8-4CD83CE9D73D}"/>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17" name="Group 16">
            <a:extLst>
              <a:ext uri="{FF2B5EF4-FFF2-40B4-BE49-F238E27FC236}">
                <a16:creationId xmlns:a16="http://schemas.microsoft.com/office/drawing/2014/main" id="{7F7DAC47-873C-8806-B3B7-966236398534}"/>
              </a:ext>
            </a:extLst>
          </p:cNvPr>
          <p:cNvGrpSpPr/>
          <p:nvPr/>
        </p:nvGrpSpPr>
        <p:grpSpPr>
          <a:xfrm>
            <a:off x="5511644" y="2484737"/>
            <a:ext cx="1672422" cy="1156913"/>
            <a:chOff x="722829" y="2200279"/>
            <a:chExt cx="2564464" cy="1773991"/>
          </a:xfrm>
          <a:solidFill>
            <a:srgbClr val="F5E7C3"/>
          </a:solidFill>
        </p:grpSpPr>
        <p:sp>
          <p:nvSpPr>
            <p:cNvPr id="18" name="Rectangle 17">
              <a:extLst>
                <a:ext uri="{FF2B5EF4-FFF2-40B4-BE49-F238E27FC236}">
                  <a16:creationId xmlns:a16="http://schemas.microsoft.com/office/drawing/2014/main" id="{E6492A1D-6F50-1799-3636-47F524E64466}"/>
                </a:ext>
              </a:extLst>
            </p:cNvPr>
            <p:cNvSpPr/>
            <p:nvPr/>
          </p:nvSpPr>
          <p:spPr>
            <a:xfrm>
              <a:off x="942974" y="2295524"/>
              <a:ext cx="2344319" cy="16787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trajectory_generator</a:t>
              </a:r>
              <a:endParaRPr lang="en-US" sz="1200">
                <a:solidFill>
                  <a:schemeClr val="tx1"/>
                </a:solidFill>
              </a:endParaRPr>
            </a:p>
          </p:txBody>
        </p:sp>
        <p:sp>
          <p:nvSpPr>
            <p:cNvPr id="19" name="Right Triangle 18">
              <a:extLst>
                <a:ext uri="{FF2B5EF4-FFF2-40B4-BE49-F238E27FC236}">
                  <a16:creationId xmlns:a16="http://schemas.microsoft.com/office/drawing/2014/main" id="{73906E49-6ADB-9D45-A58D-E6CB7702078D}"/>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0" name="Right Triangle 19">
              <a:extLst>
                <a:ext uri="{FF2B5EF4-FFF2-40B4-BE49-F238E27FC236}">
                  <a16:creationId xmlns:a16="http://schemas.microsoft.com/office/drawing/2014/main" id="{94C580E7-14B1-6529-0D9B-7B7C8720FC64}"/>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22" name="TextBox 21">
            <a:extLst>
              <a:ext uri="{FF2B5EF4-FFF2-40B4-BE49-F238E27FC236}">
                <a16:creationId xmlns:a16="http://schemas.microsoft.com/office/drawing/2014/main" id="{F59E0C2B-A543-18EC-CF88-19D9D4874F2B}"/>
              </a:ext>
            </a:extLst>
          </p:cNvPr>
          <p:cNvSpPr txBox="1"/>
          <p:nvPr/>
        </p:nvSpPr>
        <p:spPr>
          <a:xfrm>
            <a:off x="7992840" y="2474893"/>
            <a:ext cx="3724228" cy="1384995"/>
          </a:xfrm>
          <a:prstGeom prst="rect">
            <a:avLst/>
          </a:prstGeom>
          <a:noFill/>
        </p:spPr>
        <p:txBody>
          <a:bodyPr wrap="square" lIns="91440" tIns="45720" rIns="91440" bIns="45720" rtlCol="0" anchor="t">
            <a:spAutoFit/>
          </a:bodyPr>
          <a:lstStyle/>
          <a:p>
            <a:r>
              <a:rPr lang="th-TH" sz="2800">
                <a:cs typeface="Cordia New"/>
              </a:rPr>
              <a:t>"</a:t>
            </a:r>
            <a:r>
              <a:rPr lang="th-TH" sz="2800" err="1">
                <a:cs typeface="Cordia New"/>
              </a:rPr>
              <a:t>src</a:t>
            </a:r>
            <a:r>
              <a:rPr lang="th-TH" sz="2800">
                <a:cs typeface="Cordia New"/>
              </a:rPr>
              <a:t>" </a:t>
            </a:r>
            <a:r>
              <a:rPr lang="th-TH" sz="2800" err="1">
                <a:cs typeface="Cordia New"/>
              </a:rPr>
              <a:t>directory</a:t>
            </a:r>
            <a:r>
              <a:rPr lang="th-TH" sz="2800">
                <a:cs typeface="Cordia New"/>
              </a:rPr>
              <a:t> </a:t>
            </a:r>
            <a:r>
              <a:rPr lang="th-TH" sz="2800" err="1">
                <a:cs typeface="Cordia New"/>
              </a:rPr>
              <a:t>is</a:t>
            </a:r>
            <a:r>
              <a:rPr lang="th-TH" sz="2800">
                <a:cs typeface="Cordia New"/>
              </a:rPr>
              <a:t> </a:t>
            </a:r>
            <a:r>
              <a:rPr lang="th-TH" sz="2800" err="1">
                <a:cs typeface="Cordia New"/>
              </a:rPr>
              <a:t>where</a:t>
            </a:r>
            <a:r>
              <a:rPr lang="th-TH" sz="2800">
                <a:cs typeface="Cordia New"/>
              </a:rPr>
              <a:t> </a:t>
            </a:r>
            <a:r>
              <a:rPr lang="th-TH" sz="2800" err="1">
                <a:cs typeface="Cordia New"/>
              </a:rPr>
              <a:t>we</a:t>
            </a:r>
            <a:r>
              <a:rPr lang="th-TH" sz="2800">
                <a:cs typeface="Cordia New"/>
              </a:rPr>
              <a:t> </a:t>
            </a:r>
            <a:r>
              <a:rPr lang="th-TH" sz="2800" err="1">
                <a:cs typeface="Cordia New"/>
              </a:rPr>
              <a:t>put</a:t>
            </a:r>
            <a:r>
              <a:rPr lang="th-TH" sz="2800">
                <a:cs typeface="Cordia New"/>
              </a:rPr>
              <a:t> </a:t>
            </a:r>
            <a:r>
              <a:rPr lang="th-TH" sz="2800" err="1">
                <a:cs typeface="Cordia New"/>
              </a:rPr>
              <a:t>all</a:t>
            </a:r>
            <a:r>
              <a:rPr lang="th-TH" sz="2800">
                <a:cs typeface="Cordia New"/>
              </a:rPr>
              <a:t> </a:t>
            </a:r>
            <a:r>
              <a:rPr lang="th-TH" sz="2800" err="1">
                <a:cs typeface="Cordia New"/>
              </a:rPr>
              <a:t>custom</a:t>
            </a:r>
            <a:r>
              <a:rPr lang="th-TH" sz="2800">
                <a:cs typeface="Cordia New"/>
              </a:rPr>
              <a:t> </a:t>
            </a:r>
            <a:r>
              <a:rPr lang="th-TH" sz="2800" err="1">
                <a:cs typeface="Cordia New"/>
              </a:rPr>
              <a:t>packages</a:t>
            </a:r>
            <a:r>
              <a:rPr lang="th-TH" sz="2800">
                <a:cs typeface="Cordia New"/>
              </a:rPr>
              <a:t> </a:t>
            </a:r>
            <a:r>
              <a:rPr lang="th-TH" sz="2800" err="1">
                <a:cs typeface="Cordia New"/>
              </a:rPr>
              <a:t>together</a:t>
            </a:r>
            <a:r>
              <a:rPr lang="th-TH" sz="2800">
                <a:cs typeface="Cordia New"/>
              </a:rPr>
              <a:t>. </a:t>
            </a:r>
          </a:p>
        </p:txBody>
      </p:sp>
      <p:sp>
        <p:nvSpPr>
          <p:cNvPr id="29" name="TextBox 28">
            <a:extLst>
              <a:ext uri="{FF2B5EF4-FFF2-40B4-BE49-F238E27FC236}">
                <a16:creationId xmlns:a16="http://schemas.microsoft.com/office/drawing/2014/main" id="{BDC61C32-56A6-4C1A-0EFB-5C6DE80C75E7}"/>
              </a:ext>
            </a:extLst>
          </p:cNvPr>
          <p:cNvSpPr txBox="1"/>
          <p:nvPr/>
        </p:nvSpPr>
        <p:spPr>
          <a:xfrm>
            <a:off x="1097280" y="1892595"/>
            <a:ext cx="752785" cy="369332"/>
          </a:xfrm>
          <a:prstGeom prst="rect">
            <a:avLst/>
          </a:prstGeom>
          <a:noFill/>
        </p:spPr>
        <p:txBody>
          <a:bodyPr wrap="square" rtlCol="0">
            <a:spAutoFit/>
          </a:bodyPr>
          <a:lstStyle/>
          <a:p>
            <a:r>
              <a:rPr lang="en-US" err="1"/>
              <a:t>src</a:t>
            </a:r>
            <a:endParaRPr lang="en-US"/>
          </a:p>
        </p:txBody>
      </p:sp>
      <p:sp>
        <p:nvSpPr>
          <p:cNvPr id="30" name="TextBox 29">
            <a:extLst>
              <a:ext uri="{FF2B5EF4-FFF2-40B4-BE49-F238E27FC236}">
                <a16:creationId xmlns:a16="http://schemas.microsoft.com/office/drawing/2014/main" id="{F7B68D52-5F00-D8F2-BA22-908B952EC2DF}"/>
              </a:ext>
            </a:extLst>
          </p:cNvPr>
          <p:cNvSpPr txBox="1"/>
          <p:nvPr/>
        </p:nvSpPr>
        <p:spPr>
          <a:xfrm>
            <a:off x="7577129" y="4395133"/>
            <a:ext cx="5122684" cy="1384995"/>
          </a:xfrm>
          <a:prstGeom prst="rect">
            <a:avLst/>
          </a:prstGeom>
          <a:noFill/>
        </p:spPr>
        <p:txBody>
          <a:bodyPr wrap="square" lIns="91440" tIns="45720" rIns="91440" bIns="45720" rtlCol="0" anchor="t">
            <a:spAutoFit/>
          </a:bodyPr>
          <a:lstStyle/>
          <a:p>
            <a:r>
              <a:rPr lang="th-TH" sz="2800">
                <a:cs typeface="Cordia New"/>
              </a:rPr>
              <a:t>A </a:t>
            </a:r>
            <a:r>
              <a:rPr lang="th-TH" sz="2800" err="1">
                <a:cs typeface="Cordia New"/>
              </a:rPr>
              <a:t>package</a:t>
            </a:r>
            <a:r>
              <a:rPr lang="th-TH" sz="2800">
                <a:cs typeface="Cordia New"/>
              </a:rPr>
              <a:t> </a:t>
            </a:r>
            <a:r>
              <a:rPr lang="th-TH" sz="2800" err="1">
                <a:cs typeface="Cordia New"/>
              </a:rPr>
              <a:t>can</a:t>
            </a:r>
            <a:r>
              <a:rPr lang="th-TH" sz="2800">
                <a:cs typeface="Cordia New"/>
              </a:rPr>
              <a:t> </a:t>
            </a:r>
            <a:r>
              <a:rPr lang="th-TH" sz="2800" err="1">
                <a:cs typeface="Cordia New"/>
              </a:rPr>
              <a:t>be</a:t>
            </a:r>
            <a:r>
              <a:rPr lang="th-TH" sz="2800">
                <a:cs typeface="Cordia New"/>
              </a:rPr>
              <a:t> </a:t>
            </a:r>
            <a:r>
              <a:rPr lang="th-TH" sz="2800" err="1">
                <a:cs typeface="Cordia New"/>
              </a:rPr>
              <a:t>put</a:t>
            </a:r>
            <a:r>
              <a:rPr lang="th-TH" sz="2800">
                <a:cs typeface="Cordia New"/>
              </a:rPr>
              <a:t> </a:t>
            </a:r>
            <a:r>
              <a:rPr lang="th-TH" sz="2800" err="1">
                <a:cs typeface="Cordia New"/>
              </a:rPr>
              <a:t>inside</a:t>
            </a:r>
            <a:r>
              <a:rPr lang="th-TH" sz="2800">
                <a:cs typeface="Cordia New"/>
              </a:rPr>
              <a:t> </a:t>
            </a:r>
            <a:r>
              <a:rPr lang="th-TH" sz="2800" err="1">
                <a:cs typeface="Cordia New"/>
              </a:rPr>
              <a:t>another</a:t>
            </a:r>
            <a:r>
              <a:rPr lang="th-TH" sz="2800">
                <a:cs typeface="Cordia New"/>
              </a:rPr>
              <a:t> </a:t>
            </a:r>
            <a:r>
              <a:rPr lang="th-TH" sz="2800" err="1">
                <a:cs typeface="Cordia New"/>
              </a:rPr>
              <a:t>folder</a:t>
            </a:r>
            <a:r>
              <a:rPr lang="th-TH" sz="2800">
                <a:cs typeface="Cordia New"/>
              </a:rPr>
              <a:t>, </a:t>
            </a:r>
            <a:r>
              <a:rPr lang="th-TH" sz="2800" err="1">
                <a:cs typeface="Cordia New"/>
              </a:rPr>
              <a:t>which</a:t>
            </a:r>
            <a:r>
              <a:rPr lang="th-TH" sz="2800">
                <a:cs typeface="Cordia New"/>
              </a:rPr>
              <a:t> </a:t>
            </a:r>
            <a:r>
              <a:rPr lang="th-TH" sz="2800" err="1">
                <a:cs typeface="Cordia New"/>
              </a:rPr>
              <a:t>can</a:t>
            </a:r>
            <a:r>
              <a:rPr lang="th-TH" sz="2800">
                <a:cs typeface="Cordia New"/>
              </a:rPr>
              <a:t> </a:t>
            </a:r>
            <a:r>
              <a:rPr lang="th-TH" sz="2800" err="1">
                <a:cs typeface="Cordia New"/>
              </a:rPr>
              <a:t>be</a:t>
            </a:r>
            <a:r>
              <a:rPr lang="th-TH" sz="2800">
                <a:cs typeface="Cordia New"/>
              </a:rPr>
              <a:t> </a:t>
            </a:r>
            <a:r>
              <a:rPr lang="th-TH" sz="2800" err="1">
                <a:cs typeface="Cordia New"/>
              </a:rPr>
              <a:t>referred</a:t>
            </a:r>
            <a:r>
              <a:rPr lang="th-TH" sz="2800">
                <a:cs typeface="Cordia New"/>
              </a:rPr>
              <a:t> </a:t>
            </a:r>
            <a:r>
              <a:rPr lang="th-TH" sz="2800" err="1">
                <a:cs typeface="Cordia New"/>
              </a:rPr>
              <a:t>as</a:t>
            </a:r>
            <a:r>
              <a:rPr lang="th-TH" sz="2800">
                <a:cs typeface="Cordia New"/>
              </a:rPr>
              <a:t> a </a:t>
            </a:r>
            <a:r>
              <a:rPr lang="th-TH" sz="2800" err="1">
                <a:cs typeface="Cordia New"/>
              </a:rPr>
              <a:t>meta</a:t>
            </a:r>
            <a:r>
              <a:rPr lang="th-TH" sz="2800">
                <a:cs typeface="Cordia New"/>
              </a:rPr>
              <a:t>-</a:t>
            </a:r>
            <a:r>
              <a:rPr lang="th-TH" sz="2800" err="1">
                <a:cs typeface="Cordia New"/>
              </a:rPr>
              <a:t>package</a:t>
            </a:r>
            <a:r>
              <a:rPr lang="th-TH" sz="2800">
                <a:cs typeface="Cordia New"/>
              </a:rPr>
              <a:t>.</a:t>
            </a:r>
            <a:endParaRPr lang="en-US"/>
          </a:p>
        </p:txBody>
      </p:sp>
      <p:sp>
        <p:nvSpPr>
          <p:cNvPr id="6" name="TextBox 5">
            <a:extLst>
              <a:ext uri="{FF2B5EF4-FFF2-40B4-BE49-F238E27FC236}">
                <a16:creationId xmlns:a16="http://schemas.microsoft.com/office/drawing/2014/main" id="{BF40DF12-4BA2-FB35-26B0-1EB6A2D5A96D}"/>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4" name="TextBox 2">
            <a:extLst>
              <a:ext uri="{FF2B5EF4-FFF2-40B4-BE49-F238E27FC236}">
                <a16:creationId xmlns:a16="http://schemas.microsoft.com/office/drawing/2014/main" id="{4D66F5DD-C793-56EC-0CEA-A96341436BF7}"/>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20531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sz="4400">
                <a:cs typeface="Angsana New"/>
              </a:rPr>
              <a:t>The </a:t>
            </a:r>
            <a:r>
              <a:rPr lang="th-TH" sz="4400" err="1">
                <a:cs typeface="Angsana New"/>
              </a:rPr>
              <a:t>concept</a:t>
            </a:r>
            <a:r>
              <a:rPr lang="th-TH" sz="4400">
                <a:cs typeface="Angsana New"/>
              </a:rPr>
              <a:t> of </a:t>
            </a:r>
            <a:r>
              <a:rPr lang="en-US" sz="4400"/>
              <a:t>Workspace</a:t>
            </a:r>
            <a:endParaRPr lang="en-US">
              <a:cs typeface="Calibri Light" panose="020F0302020204030204"/>
            </a:endParaRP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48</a:t>
            </a:fld>
            <a:endParaRPr lang="en-US"/>
          </a:p>
        </p:txBody>
      </p:sp>
      <p:pic>
        <p:nvPicPr>
          <p:cNvPr id="5" name="Google Shape;67;p15">
            <a:extLst>
              <a:ext uri="{FF2B5EF4-FFF2-40B4-BE49-F238E27FC236}">
                <a16:creationId xmlns:a16="http://schemas.microsoft.com/office/drawing/2014/main" id="{6D08B3EF-323A-BB71-AF2C-4B208BC63C4E}"/>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grpSp>
        <p:nvGrpSpPr>
          <p:cNvPr id="7" name="Group 6">
            <a:extLst>
              <a:ext uri="{FF2B5EF4-FFF2-40B4-BE49-F238E27FC236}">
                <a16:creationId xmlns:a16="http://schemas.microsoft.com/office/drawing/2014/main" id="{3F2A57C8-09DB-B04E-1910-26C0C885C16F}"/>
              </a:ext>
            </a:extLst>
          </p:cNvPr>
          <p:cNvGrpSpPr/>
          <p:nvPr/>
        </p:nvGrpSpPr>
        <p:grpSpPr>
          <a:xfrm>
            <a:off x="387248" y="2441467"/>
            <a:ext cx="4812074" cy="2572848"/>
            <a:chOff x="722827" y="2200279"/>
            <a:chExt cx="8539037" cy="6657319"/>
          </a:xfrm>
          <a:solidFill>
            <a:srgbClr val="F5E7C3"/>
          </a:solidFill>
        </p:grpSpPr>
        <p:sp>
          <p:nvSpPr>
            <p:cNvPr id="8" name="Rectangle 7">
              <a:extLst>
                <a:ext uri="{FF2B5EF4-FFF2-40B4-BE49-F238E27FC236}">
                  <a16:creationId xmlns:a16="http://schemas.microsoft.com/office/drawing/2014/main" id="{54FE63FB-7F59-2D62-2323-2A0703741213}"/>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9" name="Right Triangle 8">
              <a:extLst>
                <a:ext uri="{FF2B5EF4-FFF2-40B4-BE49-F238E27FC236}">
                  <a16:creationId xmlns:a16="http://schemas.microsoft.com/office/drawing/2014/main" id="{977E286A-5259-719D-6CBF-2B092BD0C6D5}"/>
                </a:ext>
              </a:extLst>
            </p:cNvPr>
            <p:cNvSpPr/>
            <p:nvPr/>
          </p:nvSpPr>
          <p:spPr>
            <a:xfrm rot="5400000">
              <a:off x="521882" y="2401224"/>
              <a:ext cx="1136388" cy="73449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ight Triangle 9">
              <a:extLst>
                <a:ext uri="{FF2B5EF4-FFF2-40B4-BE49-F238E27FC236}">
                  <a16:creationId xmlns:a16="http://schemas.microsoft.com/office/drawing/2014/main" id="{4A178425-C32C-960E-2DEE-0522510DA283}"/>
                </a:ext>
              </a:extLst>
            </p:cNvPr>
            <p:cNvSpPr/>
            <p:nvPr/>
          </p:nvSpPr>
          <p:spPr>
            <a:xfrm rot="16200000">
              <a:off x="766762" y="2471736"/>
              <a:ext cx="752474" cy="400049"/>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16" name="Group 15">
            <a:extLst>
              <a:ext uri="{FF2B5EF4-FFF2-40B4-BE49-F238E27FC236}">
                <a16:creationId xmlns:a16="http://schemas.microsoft.com/office/drawing/2014/main" id="{18D8694C-3D06-5D77-11C4-C09409898848}"/>
              </a:ext>
            </a:extLst>
          </p:cNvPr>
          <p:cNvGrpSpPr/>
          <p:nvPr/>
        </p:nvGrpSpPr>
        <p:grpSpPr>
          <a:xfrm>
            <a:off x="547084" y="3461322"/>
            <a:ext cx="907158" cy="637250"/>
            <a:chOff x="722829" y="2200279"/>
            <a:chExt cx="1944170" cy="1365718"/>
          </a:xfrm>
          <a:solidFill>
            <a:srgbClr val="F5E7C3"/>
          </a:solidFill>
        </p:grpSpPr>
        <p:sp>
          <p:nvSpPr>
            <p:cNvPr id="17" name="Rectangle 16">
              <a:extLst>
                <a:ext uri="{FF2B5EF4-FFF2-40B4-BE49-F238E27FC236}">
                  <a16:creationId xmlns:a16="http://schemas.microsoft.com/office/drawing/2014/main" id="{6499BCD1-07DA-D8E3-14C2-95A16883C585}"/>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chemeClr val="tx1"/>
                  </a:solidFill>
                </a:rPr>
                <a:t>src</a:t>
              </a:r>
              <a:endParaRPr lang="en-US" sz="1600">
                <a:solidFill>
                  <a:schemeClr val="tx1"/>
                </a:solidFill>
              </a:endParaRPr>
            </a:p>
          </p:txBody>
        </p:sp>
        <p:sp>
          <p:nvSpPr>
            <p:cNvPr id="18" name="Right Triangle 17">
              <a:extLst>
                <a:ext uri="{FF2B5EF4-FFF2-40B4-BE49-F238E27FC236}">
                  <a16:creationId xmlns:a16="http://schemas.microsoft.com/office/drawing/2014/main" id="{96F856C5-1C1C-026B-900D-2F8916491DB7}"/>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9" name="Right Triangle 18">
              <a:extLst>
                <a:ext uri="{FF2B5EF4-FFF2-40B4-BE49-F238E27FC236}">
                  <a16:creationId xmlns:a16="http://schemas.microsoft.com/office/drawing/2014/main" id="{8267C607-84D3-A494-7ADD-F1C567F394CD}"/>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59" name="TextBox 58">
            <a:extLst>
              <a:ext uri="{FF2B5EF4-FFF2-40B4-BE49-F238E27FC236}">
                <a16:creationId xmlns:a16="http://schemas.microsoft.com/office/drawing/2014/main" id="{392111EB-383C-0908-C6E1-695F086A7916}"/>
              </a:ext>
            </a:extLst>
          </p:cNvPr>
          <p:cNvSpPr txBox="1"/>
          <p:nvPr/>
        </p:nvSpPr>
        <p:spPr>
          <a:xfrm>
            <a:off x="878294" y="2476390"/>
            <a:ext cx="1458211" cy="369332"/>
          </a:xfrm>
          <a:prstGeom prst="rect">
            <a:avLst/>
          </a:prstGeom>
          <a:noFill/>
        </p:spPr>
        <p:txBody>
          <a:bodyPr wrap="square" rtlCol="0">
            <a:spAutoFit/>
          </a:bodyPr>
          <a:lstStyle/>
          <a:p>
            <a:r>
              <a:rPr lang="en-US"/>
              <a:t>[workspace]</a:t>
            </a:r>
          </a:p>
        </p:txBody>
      </p:sp>
      <p:sp>
        <p:nvSpPr>
          <p:cNvPr id="60" name="TextBox 59">
            <a:extLst>
              <a:ext uri="{FF2B5EF4-FFF2-40B4-BE49-F238E27FC236}">
                <a16:creationId xmlns:a16="http://schemas.microsoft.com/office/drawing/2014/main" id="{C0AF817F-75F8-341D-8534-EE413E288DA4}"/>
              </a:ext>
            </a:extLst>
          </p:cNvPr>
          <p:cNvSpPr txBox="1"/>
          <p:nvPr/>
        </p:nvSpPr>
        <p:spPr>
          <a:xfrm>
            <a:off x="1549425" y="5472996"/>
            <a:ext cx="9170670" cy="461665"/>
          </a:xfrm>
          <a:prstGeom prst="rect">
            <a:avLst/>
          </a:prstGeom>
          <a:noFill/>
        </p:spPr>
        <p:txBody>
          <a:bodyPr wrap="square" lIns="91440" tIns="45720" rIns="91440" bIns="45720" rtlCol="0" anchor="t">
            <a:spAutoFit/>
          </a:bodyPr>
          <a:lstStyle/>
          <a:p>
            <a:r>
              <a:rPr lang="th-TH" sz="2400">
                <a:cs typeface="Cordia New"/>
              </a:rPr>
              <a:t>[ROS2] </a:t>
            </a:r>
            <a:r>
              <a:rPr lang="th-TH" sz="2400" err="1">
                <a:ea typeface="+mn-lt"/>
                <a:cs typeface="+mn-lt"/>
              </a:rPr>
              <a:t>workspace</a:t>
            </a:r>
            <a:r>
              <a:rPr lang="th-TH" sz="2400">
                <a:ea typeface="+mn-lt"/>
                <a:cs typeface="+mn-lt"/>
              </a:rPr>
              <a:t> </a:t>
            </a:r>
            <a:r>
              <a:rPr lang="th-TH" sz="2400" err="1">
                <a:ea typeface="+mn-lt"/>
                <a:cs typeface="+mn-lt"/>
              </a:rPr>
              <a:t>is</a:t>
            </a:r>
            <a:r>
              <a:rPr lang="th-TH" sz="2400">
                <a:ea typeface="+mn-lt"/>
                <a:cs typeface="+mn-lt"/>
              </a:rPr>
              <a:t> </a:t>
            </a:r>
            <a:r>
              <a:rPr lang="th-TH" sz="2400" err="1">
                <a:ea typeface="+mn-lt"/>
                <a:cs typeface="+mn-lt"/>
              </a:rPr>
              <a:t>where</a:t>
            </a:r>
            <a:r>
              <a:rPr lang="th-TH" sz="2400">
                <a:ea typeface="+mn-lt"/>
                <a:cs typeface="+mn-lt"/>
              </a:rPr>
              <a:t> </a:t>
            </a:r>
            <a:r>
              <a:rPr lang="th-TH" sz="2400" err="1">
                <a:ea typeface="+mn-lt"/>
                <a:cs typeface="+mn-lt"/>
              </a:rPr>
              <a:t>we</a:t>
            </a:r>
            <a:r>
              <a:rPr lang="th-TH" sz="2400">
                <a:ea typeface="+mn-lt"/>
                <a:cs typeface="+mn-lt"/>
              </a:rPr>
              <a:t> </a:t>
            </a:r>
            <a:r>
              <a:rPr lang="th-TH" sz="2400" err="1">
                <a:ea typeface="+mn-lt"/>
                <a:cs typeface="+mn-lt"/>
              </a:rPr>
              <a:t>put</a:t>
            </a:r>
            <a:r>
              <a:rPr lang="th-TH" sz="2400">
                <a:ea typeface="+mn-lt"/>
                <a:cs typeface="+mn-lt"/>
              </a:rPr>
              <a:t> </a:t>
            </a:r>
            <a:r>
              <a:rPr lang="th-TH" sz="2400" err="1">
                <a:ea typeface="+mn-lt"/>
                <a:cs typeface="+mn-lt"/>
              </a:rPr>
              <a:t>every</a:t>
            </a:r>
            <a:r>
              <a:rPr lang="th-TH" sz="2400">
                <a:ea typeface="+mn-lt"/>
                <a:cs typeface="+mn-lt"/>
              </a:rPr>
              <a:t> </a:t>
            </a:r>
            <a:r>
              <a:rPr lang="th-TH" sz="2400" err="1">
                <a:ea typeface="+mn-lt"/>
                <a:cs typeface="+mn-lt"/>
              </a:rPr>
              <a:t>custom</a:t>
            </a:r>
            <a:r>
              <a:rPr lang="th-TH" sz="2400">
                <a:ea typeface="+mn-lt"/>
                <a:cs typeface="+mn-lt"/>
              </a:rPr>
              <a:t> </a:t>
            </a:r>
            <a:r>
              <a:rPr lang="th-TH" sz="2400" err="1">
                <a:ea typeface="+mn-lt"/>
                <a:cs typeface="+mn-lt"/>
              </a:rPr>
              <a:t>packages</a:t>
            </a:r>
            <a:r>
              <a:rPr lang="th-TH" sz="2400">
                <a:ea typeface="+mn-lt"/>
                <a:cs typeface="+mn-lt"/>
              </a:rPr>
              <a:t> </a:t>
            </a:r>
            <a:r>
              <a:rPr lang="th-TH" sz="2400" err="1">
                <a:ea typeface="+mn-lt"/>
                <a:cs typeface="+mn-lt"/>
              </a:rPr>
              <a:t>for</a:t>
            </a:r>
            <a:r>
              <a:rPr lang="th-TH" sz="2400">
                <a:ea typeface="+mn-lt"/>
                <a:cs typeface="+mn-lt"/>
              </a:rPr>
              <a:t> a </a:t>
            </a:r>
            <a:r>
              <a:rPr lang="th-TH" sz="2400" err="1">
                <a:ea typeface="+mn-lt"/>
                <a:cs typeface="+mn-lt"/>
              </a:rPr>
              <a:t>project</a:t>
            </a:r>
            <a:r>
              <a:rPr lang="th-TH" sz="2400">
                <a:ea typeface="+mn-lt"/>
                <a:cs typeface="+mn-lt"/>
              </a:rPr>
              <a:t>.</a:t>
            </a:r>
            <a:endParaRPr lang="th-TH" sz="2400">
              <a:ea typeface="+mn-lt"/>
              <a:cs typeface="Cordia New"/>
            </a:endParaRPr>
          </a:p>
        </p:txBody>
      </p:sp>
      <p:sp>
        <p:nvSpPr>
          <p:cNvPr id="6" name="TextBox 5">
            <a:extLst>
              <a:ext uri="{FF2B5EF4-FFF2-40B4-BE49-F238E27FC236}">
                <a16:creationId xmlns:a16="http://schemas.microsoft.com/office/drawing/2014/main" id="{E2D01B96-FD47-56A6-E43F-DCCC4584B98C}"/>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1" name="TextBox 2">
            <a:extLst>
              <a:ext uri="{FF2B5EF4-FFF2-40B4-BE49-F238E27FC236}">
                <a16:creationId xmlns:a16="http://schemas.microsoft.com/office/drawing/2014/main" id="{0D7C54E7-CFBD-F2D8-4C69-56D66F5FC7D9}"/>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229850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sz="4400" err="1">
                <a:cs typeface="Angsana New"/>
              </a:rPr>
              <a:t>Build</a:t>
            </a:r>
            <a:r>
              <a:rPr lang="th-TH" sz="4400">
                <a:cs typeface="Angsana New"/>
              </a:rPr>
              <a:t> System</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49</a:t>
            </a:fld>
            <a:endParaRPr lang="en-US"/>
          </a:p>
        </p:txBody>
      </p:sp>
      <p:pic>
        <p:nvPicPr>
          <p:cNvPr id="5" name="Google Shape;67;p15">
            <a:extLst>
              <a:ext uri="{FF2B5EF4-FFF2-40B4-BE49-F238E27FC236}">
                <a16:creationId xmlns:a16="http://schemas.microsoft.com/office/drawing/2014/main" id="{6D08B3EF-323A-BB71-AF2C-4B208BC63C4E}"/>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grpSp>
        <p:nvGrpSpPr>
          <p:cNvPr id="7" name="Group 6">
            <a:extLst>
              <a:ext uri="{FF2B5EF4-FFF2-40B4-BE49-F238E27FC236}">
                <a16:creationId xmlns:a16="http://schemas.microsoft.com/office/drawing/2014/main" id="{3F2A57C8-09DB-B04E-1910-26C0C885C16F}"/>
              </a:ext>
            </a:extLst>
          </p:cNvPr>
          <p:cNvGrpSpPr/>
          <p:nvPr/>
        </p:nvGrpSpPr>
        <p:grpSpPr>
          <a:xfrm>
            <a:off x="387248" y="2441467"/>
            <a:ext cx="4812074" cy="2572848"/>
            <a:chOff x="722827" y="2200279"/>
            <a:chExt cx="8539037" cy="6657319"/>
          </a:xfrm>
          <a:solidFill>
            <a:srgbClr val="F5E7C3"/>
          </a:solidFill>
        </p:grpSpPr>
        <p:sp>
          <p:nvSpPr>
            <p:cNvPr id="8" name="Rectangle 7">
              <a:extLst>
                <a:ext uri="{FF2B5EF4-FFF2-40B4-BE49-F238E27FC236}">
                  <a16:creationId xmlns:a16="http://schemas.microsoft.com/office/drawing/2014/main" id="{54FE63FB-7F59-2D62-2323-2A0703741213}"/>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9" name="Right Triangle 8">
              <a:extLst>
                <a:ext uri="{FF2B5EF4-FFF2-40B4-BE49-F238E27FC236}">
                  <a16:creationId xmlns:a16="http://schemas.microsoft.com/office/drawing/2014/main" id="{977E286A-5259-719D-6CBF-2B092BD0C6D5}"/>
                </a:ext>
              </a:extLst>
            </p:cNvPr>
            <p:cNvSpPr/>
            <p:nvPr/>
          </p:nvSpPr>
          <p:spPr>
            <a:xfrm rot="5400000">
              <a:off x="521882" y="2401224"/>
              <a:ext cx="1136388" cy="73449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ight Triangle 9">
              <a:extLst>
                <a:ext uri="{FF2B5EF4-FFF2-40B4-BE49-F238E27FC236}">
                  <a16:creationId xmlns:a16="http://schemas.microsoft.com/office/drawing/2014/main" id="{4A178425-C32C-960E-2DEE-0522510DA283}"/>
                </a:ext>
              </a:extLst>
            </p:cNvPr>
            <p:cNvSpPr/>
            <p:nvPr/>
          </p:nvSpPr>
          <p:spPr>
            <a:xfrm rot="16200000">
              <a:off x="766762" y="2471736"/>
              <a:ext cx="752474" cy="400049"/>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59" name="TextBox 58">
            <a:extLst>
              <a:ext uri="{FF2B5EF4-FFF2-40B4-BE49-F238E27FC236}">
                <a16:creationId xmlns:a16="http://schemas.microsoft.com/office/drawing/2014/main" id="{392111EB-383C-0908-C6E1-695F086A7916}"/>
              </a:ext>
            </a:extLst>
          </p:cNvPr>
          <p:cNvSpPr txBox="1"/>
          <p:nvPr/>
        </p:nvSpPr>
        <p:spPr>
          <a:xfrm>
            <a:off x="878294" y="2476390"/>
            <a:ext cx="1458211" cy="369332"/>
          </a:xfrm>
          <a:prstGeom prst="rect">
            <a:avLst/>
          </a:prstGeom>
          <a:noFill/>
        </p:spPr>
        <p:txBody>
          <a:bodyPr wrap="square" rtlCol="0">
            <a:spAutoFit/>
          </a:bodyPr>
          <a:lstStyle/>
          <a:p>
            <a:r>
              <a:rPr lang="en-US"/>
              <a:t>[workspace]</a:t>
            </a:r>
          </a:p>
        </p:txBody>
      </p:sp>
      <p:sp>
        <p:nvSpPr>
          <p:cNvPr id="60" name="TextBox 59">
            <a:extLst>
              <a:ext uri="{FF2B5EF4-FFF2-40B4-BE49-F238E27FC236}">
                <a16:creationId xmlns:a16="http://schemas.microsoft.com/office/drawing/2014/main" id="{C0AF817F-75F8-341D-8534-EE413E288DA4}"/>
              </a:ext>
            </a:extLst>
          </p:cNvPr>
          <p:cNvSpPr txBox="1"/>
          <p:nvPr/>
        </p:nvSpPr>
        <p:spPr>
          <a:xfrm>
            <a:off x="1605628" y="5147875"/>
            <a:ext cx="9611833" cy="1200329"/>
          </a:xfrm>
          <a:prstGeom prst="rect">
            <a:avLst/>
          </a:prstGeom>
          <a:noFill/>
        </p:spPr>
        <p:txBody>
          <a:bodyPr wrap="square" lIns="91440" tIns="45720" rIns="91440" bIns="45720" rtlCol="0" anchor="t">
            <a:spAutoFit/>
          </a:bodyPr>
          <a:lstStyle/>
          <a:p>
            <a:r>
              <a:rPr lang="en-US" sz="2400"/>
              <a:t>"</a:t>
            </a:r>
            <a:r>
              <a:rPr lang="en-US" sz="2400" err="1"/>
              <a:t>colcon</a:t>
            </a:r>
            <a:r>
              <a:rPr lang="en-US" sz="2400"/>
              <a:t> build" </a:t>
            </a:r>
            <a:r>
              <a:rPr lang="en-US" sz="2400">
                <a:cs typeface="Calibri"/>
              </a:rPr>
              <a:t> command will build every packages in the source directory and generate 3 additional directories. When modify "</a:t>
            </a:r>
            <a:r>
              <a:rPr lang="en-US" sz="2400" err="1">
                <a:cs typeface="Calibri"/>
              </a:rPr>
              <a:t>src</a:t>
            </a:r>
            <a:r>
              <a:rPr lang="en-US" sz="2400">
                <a:cs typeface="Calibri"/>
              </a:rPr>
              <a:t>", always re-build these 3 directories. (with an exception of using </a:t>
            </a:r>
            <a:r>
              <a:rPr lang="en-US" sz="2400" err="1">
                <a:cs typeface="Calibri"/>
              </a:rPr>
              <a:t>symlink</a:t>
            </a:r>
            <a:r>
              <a:rPr lang="en-US" sz="2400">
                <a:cs typeface="Calibri"/>
              </a:rPr>
              <a:t> install)</a:t>
            </a:r>
          </a:p>
        </p:txBody>
      </p:sp>
      <p:sp>
        <p:nvSpPr>
          <p:cNvPr id="11" name="Arrow: Right 10">
            <a:extLst>
              <a:ext uri="{FF2B5EF4-FFF2-40B4-BE49-F238E27FC236}">
                <a16:creationId xmlns:a16="http://schemas.microsoft.com/office/drawing/2014/main" id="{45A135E0-91C0-9039-DDF7-0B99A4A8A906}"/>
              </a:ext>
            </a:extLst>
          </p:cNvPr>
          <p:cNvSpPr/>
          <p:nvPr/>
        </p:nvSpPr>
        <p:spPr>
          <a:xfrm>
            <a:off x="5348177" y="3591255"/>
            <a:ext cx="1520440" cy="461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60EB1CE-2A7B-4B86-7512-F0AAB9303119}"/>
              </a:ext>
            </a:extLst>
          </p:cNvPr>
          <p:cNvSpPr txBox="1"/>
          <p:nvPr/>
        </p:nvSpPr>
        <p:spPr>
          <a:xfrm>
            <a:off x="5736868" y="2931040"/>
            <a:ext cx="992358" cy="646331"/>
          </a:xfrm>
          <a:prstGeom prst="rect">
            <a:avLst/>
          </a:prstGeom>
          <a:noFill/>
        </p:spPr>
        <p:txBody>
          <a:bodyPr wrap="square" rtlCol="0">
            <a:spAutoFit/>
          </a:bodyPr>
          <a:lstStyle/>
          <a:p>
            <a:r>
              <a:rPr lang="en-US" err="1"/>
              <a:t>colcon</a:t>
            </a:r>
            <a:r>
              <a:rPr lang="en-US"/>
              <a:t> build</a:t>
            </a:r>
          </a:p>
        </p:txBody>
      </p:sp>
      <p:grpSp>
        <p:nvGrpSpPr>
          <p:cNvPr id="13" name="Group 12">
            <a:extLst>
              <a:ext uri="{FF2B5EF4-FFF2-40B4-BE49-F238E27FC236}">
                <a16:creationId xmlns:a16="http://schemas.microsoft.com/office/drawing/2014/main" id="{83BA9BED-B40E-9EB3-5D60-40ED6D769648}"/>
              </a:ext>
            </a:extLst>
          </p:cNvPr>
          <p:cNvGrpSpPr/>
          <p:nvPr/>
        </p:nvGrpSpPr>
        <p:grpSpPr>
          <a:xfrm>
            <a:off x="6868617" y="2433974"/>
            <a:ext cx="4812074" cy="2572848"/>
            <a:chOff x="722827" y="2200279"/>
            <a:chExt cx="8539037" cy="6657319"/>
          </a:xfrm>
          <a:solidFill>
            <a:srgbClr val="F5E7C3"/>
          </a:solidFill>
        </p:grpSpPr>
        <p:sp>
          <p:nvSpPr>
            <p:cNvPr id="14" name="Rectangle 13">
              <a:extLst>
                <a:ext uri="{FF2B5EF4-FFF2-40B4-BE49-F238E27FC236}">
                  <a16:creationId xmlns:a16="http://schemas.microsoft.com/office/drawing/2014/main" id="{9B8F5B1C-BA48-4556-58A4-CD601495C0D1}"/>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Right Triangle 14">
              <a:extLst>
                <a:ext uri="{FF2B5EF4-FFF2-40B4-BE49-F238E27FC236}">
                  <a16:creationId xmlns:a16="http://schemas.microsoft.com/office/drawing/2014/main" id="{5B3D6B81-850D-0B46-6234-056BB3249BAF}"/>
                </a:ext>
              </a:extLst>
            </p:cNvPr>
            <p:cNvSpPr/>
            <p:nvPr/>
          </p:nvSpPr>
          <p:spPr>
            <a:xfrm rot="5400000">
              <a:off x="521882" y="2401224"/>
              <a:ext cx="1136388" cy="73449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0" name="Right Triangle 19">
              <a:extLst>
                <a:ext uri="{FF2B5EF4-FFF2-40B4-BE49-F238E27FC236}">
                  <a16:creationId xmlns:a16="http://schemas.microsoft.com/office/drawing/2014/main" id="{2F492FE1-F7F6-64C3-136D-6733264673F5}"/>
                </a:ext>
              </a:extLst>
            </p:cNvPr>
            <p:cNvSpPr/>
            <p:nvPr/>
          </p:nvSpPr>
          <p:spPr>
            <a:xfrm rot="16200000">
              <a:off x="766762" y="2471736"/>
              <a:ext cx="752474" cy="400049"/>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26" name="TextBox 25">
            <a:extLst>
              <a:ext uri="{FF2B5EF4-FFF2-40B4-BE49-F238E27FC236}">
                <a16:creationId xmlns:a16="http://schemas.microsoft.com/office/drawing/2014/main" id="{152A5583-8582-C7A1-9691-EA402D5358C6}"/>
              </a:ext>
            </a:extLst>
          </p:cNvPr>
          <p:cNvSpPr txBox="1"/>
          <p:nvPr/>
        </p:nvSpPr>
        <p:spPr>
          <a:xfrm>
            <a:off x="7406163" y="2479774"/>
            <a:ext cx="1458211" cy="369332"/>
          </a:xfrm>
          <a:prstGeom prst="rect">
            <a:avLst/>
          </a:prstGeom>
          <a:noFill/>
        </p:spPr>
        <p:txBody>
          <a:bodyPr wrap="square" rtlCol="0">
            <a:spAutoFit/>
          </a:bodyPr>
          <a:lstStyle/>
          <a:p>
            <a:r>
              <a:rPr lang="en-US"/>
              <a:t>[workspace]</a:t>
            </a:r>
          </a:p>
        </p:txBody>
      </p:sp>
      <p:grpSp>
        <p:nvGrpSpPr>
          <p:cNvPr id="31" name="Group 30">
            <a:extLst>
              <a:ext uri="{FF2B5EF4-FFF2-40B4-BE49-F238E27FC236}">
                <a16:creationId xmlns:a16="http://schemas.microsoft.com/office/drawing/2014/main" id="{CB99B7B9-07CD-26FE-C577-DB9E22C0119E}"/>
              </a:ext>
            </a:extLst>
          </p:cNvPr>
          <p:cNvGrpSpPr/>
          <p:nvPr/>
        </p:nvGrpSpPr>
        <p:grpSpPr>
          <a:xfrm>
            <a:off x="547084" y="3461322"/>
            <a:ext cx="907158" cy="637250"/>
            <a:chOff x="722829" y="2200279"/>
            <a:chExt cx="1944170" cy="1365718"/>
          </a:xfrm>
          <a:solidFill>
            <a:srgbClr val="F5E7C3"/>
          </a:solidFill>
        </p:grpSpPr>
        <p:sp>
          <p:nvSpPr>
            <p:cNvPr id="32" name="Rectangle 31">
              <a:extLst>
                <a:ext uri="{FF2B5EF4-FFF2-40B4-BE49-F238E27FC236}">
                  <a16:creationId xmlns:a16="http://schemas.microsoft.com/office/drawing/2014/main" id="{C2412F81-E4EC-520E-D317-48A985EA3503}"/>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chemeClr val="tx1"/>
                  </a:solidFill>
                </a:rPr>
                <a:t>src</a:t>
              </a:r>
              <a:endParaRPr lang="en-US" sz="1600">
                <a:solidFill>
                  <a:schemeClr val="tx1"/>
                </a:solidFill>
              </a:endParaRPr>
            </a:p>
          </p:txBody>
        </p:sp>
        <p:sp>
          <p:nvSpPr>
            <p:cNvPr id="33" name="Right Triangle 32">
              <a:extLst>
                <a:ext uri="{FF2B5EF4-FFF2-40B4-BE49-F238E27FC236}">
                  <a16:creationId xmlns:a16="http://schemas.microsoft.com/office/drawing/2014/main" id="{3A63D511-54EF-EAF1-E72E-712D8A2A1AE3}"/>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ight Triangle 33">
              <a:extLst>
                <a:ext uri="{FF2B5EF4-FFF2-40B4-BE49-F238E27FC236}">
                  <a16:creationId xmlns:a16="http://schemas.microsoft.com/office/drawing/2014/main" id="{42535187-031F-961A-BEB2-447C48052180}"/>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35" name="Group 34">
            <a:extLst>
              <a:ext uri="{FF2B5EF4-FFF2-40B4-BE49-F238E27FC236}">
                <a16:creationId xmlns:a16="http://schemas.microsoft.com/office/drawing/2014/main" id="{FB8BB5F9-5A36-A64E-3B45-92E4BD9CC6E4}"/>
              </a:ext>
            </a:extLst>
          </p:cNvPr>
          <p:cNvGrpSpPr/>
          <p:nvPr/>
        </p:nvGrpSpPr>
        <p:grpSpPr>
          <a:xfrm>
            <a:off x="7025686" y="3461322"/>
            <a:ext cx="907158" cy="637250"/>
            <a:chOff x="722829" y="2200279"/>
            <a:chExt cx="1944170" cy="1365718"/>
          </a:xfrm>
          <a:solidFill>
            <a:srgbClr val="F5E7C3"/>
          </a:solidFill>
        </p:grpSpPr>
        <p:sp>
          <p:nvSpPr>
            <p:cNvPr id="36" name="Rectangle 35">
              <a:extLst>
                <a:ext uri="{FF2B5EF4-FFF2-40B4-BE49-F238E27FC236}">
                  <a16:creationId xmlns:a16="http://schemas.microsoft.com/office/drawing/2014/main" id="{B16CD1A5-DE1F-5678-13F6-AB3609B93985}"/>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chemeClr val="tx1"/>
                  </a:solidFill>
                </a:rPr>
                <a:t>src</a:t>
              </a:r>
              <a:endParaRPr lang="en-US" sz="1600">
                <a:solidFill>
                  <a:schemeClr val="tx1"/>
                </a:solidFill>
              </a:endParaRPr>
            </a:p>
          </p:txBody>
        </p:sp>
        <p:sp>
          <p:nvSpPr>
            <p:cNvPr id="37" name="Right Triangle 36">
              <a:extLst>
                <a:ext uri="{FF2B5EF4-FFF2-40B4-BE49-F238E27FC236}">
                  <a16:creationId xmlns:a16="http://schemas.microsoft.com/office/drawing/2014/main" id="{D0CCD03D-43F1-58B4-FFDC-ECA76E1BC901}"/>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8" name="Right Triangle 37">
              <a:extLst>
                <a:ext uri="{FF2B5EF4-FFF2-40B4-BE49-F238E27FC236}">
                  <a16:creationId xmlns:a16="http://schemas.microsoft.com/office/drawing/2014/main" id="{8D40F79C-F02A-DDC7-56F1-9DE4B457F9D2}"/>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39" name="Group 38">
            <a:extLst>
              <a:ext uri="{FF2B5EF4-FFF2-40B4-BE49-F238E27FC236}">
                <a16:creationId xmlns:a16="http://schemas.microsoft.com/office/drawing/2014/main" id="{491BC02B-5205-D232-2183-CAA508520853}"/>
              </a:ext>
            </a:extLst>
          </p:cNvPr>
          <p:cNvGrpSpPr/>
          <p:nvPr/>
        </p:nvGrpSpPr>
        <p:grpSpPr>
          <a:xfrm>
            <a:off x="7978210" y="3461322"/>
            <a:ext cx="907158" cy="637250"/>
            <a:chOff x="722829" y="2200279"/>
            <a:chExt cx="1944170" cy="1365718"/>
          </a:xfrm>
          <a:solidFill>
            <a:srgbClr val="F5E7C3"/>
          </a:solidFill>
        </p:grpSpPr>
        <p:sp>
          <p:nvSpPr>
            <p:cNvPr id="40" name="Rectangle 39">
              <a:extLst>
                <a:ext uri="{FF2B5EF4-FFF2-40B4-BE49-F238E27FC236}">
                  <a16:creationId xmlns:a16="http://schemas.microsoft.com/office/drawing/2014/main" id="{0816FE1D-756D-9D9E-5D67-778003BFF6E8}"/>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build</a:t>
              </a:r>
            </a:p>
          </p:txBody>
        </p:sp>
        <p:sp>
          <p:nvSpPr>
            <p:cNvPr id="41" name="Right Triangle 40">
              <a:extLst>
                <a:ext uri="{FF2B5EF4-FFF2-40B4-BE49-F238E27FC236}">
                  <a16:creationId xmlns:a16="http://schemas.microsoft.com/office/drawing/2014/main" id="{CD75A57C-8C50-391B-F43D-76D0AC54E890}"/>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ight Triangle 41">
              <a:extLst>
                <a:ext uri="{FF2B5EF4-FFF2-40B4-BE49-F238E27FC236}">
                  <a16:creationId xmlns:a16="http://schemas.microsoft.com/office/drawing/2014/main" id="{A2655D3F-8FDB-F78C-5DA8-04386E1E6074}"/>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3" name="Group 42">
            <a:extLst>
              <a:ext uri="{FF2B5EF4-FFF2-40B4-BE49-F238E27FC236}">
                <a16:creationId xmlns:a16="http://schemas.microsoft.com/office/drawing/2014/main" id="{7A755EDE-53E6-9A34-F43B-02C603C40B58}"/>
              </a:ext>
            </a:extLst>
          </p:cNvPr>
          <p:cNvGrpSpPr/>
          <p:nvPr/>
        </p:nvGrpSpPr>
        <p:grpSpPr>
          <a:xfrm>
            <a:off x="8930734" y="3461321"/>
            <a:ext cx="907158" cy="637250"/>
            <a:chOff x="722829" y="2200279"/>
            <a:chExt cx="1944170" cy="1365718"/>
          </a:xfrm>
          <a:solidFill>
            <a:srgbClr val="F5E7C3"/>
          </a:solidFill>
        </p:grpSpPr>
        <p:sp>
          <p:nvSpPr>
            <p:cNvPr id="44" name="Rectangle 43">
              <a:extLst>
                <a:ext uri="{FF2B5EF4-FFF2-40B4-BE49-F238E27FC236}">
                  <a16:creationId xmlns:a16="http://schemas.microsoft.com/office/drawing/2014/main" id="{380FB0F4-9C6D-D2F8-2ED6-43B554316794}"/>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install</a:t>
              </a:r>
            </a:p>
          </p:txBody>
        </p:sp>
        <p:sp>
          <p:nvSpPr>
            <p:cNvPr id="45" name="Right Triangle 44">
              <a:extLst>
                <a:ext uri="{FF2B5EF4-FFF2-40B4-BE49-F238E27FC236}">
                  <a16:creationId xmlns:a16="http://schemas.microsoft.com/office/drawing/2014/main" id="{E28122BF-C748-2E32-40F2-326D17B7C3B0}"/>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Right Triangle 45">
              <a:extLst>
                <a:ext uri="{FF2B5EF4-FFF2-40B4-BE49-F238E27FC236}">
                  <a16:creationId xmlns:a16="http://schemas.microsoft.com/office/drawing/2014/main" id="{7E93096B-74E6-A989-1F9C-14ACA0525583}"/>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8" name="Group 47">
            <a:extLst>
              <a:ext uri="{FF2B5EF4-FFF2-40B4-BE49-F238E27FC236}">
                <a16:creationId xmlns:a16="http://schemas.microsoft.com/office/drawing/2014/main" id="{46C6A30C-87EA-4DE9-E5CD-E9FE6CD42684}"/>
              </a:ext>
            </a:extLst>
          </p:cNvPr>
          <p:cNvGrpSpPr/>
          <p:nvPr/>
        </p:nvGrpSpPr>
        <p:grpSpPr>
          <a:xfrm>
            <a:off x="9888224" y="3448851"/>
            <a:ext cx="907158" cy="637250"/>
            <a:chOff x="722829" y="2200279"/>
            <a:chExt cx="1944170" cy="1365718"/>
          </a:xfrm>
          <a:solidFill>
            <a:srgbClr val="F5E7C3"/>
          </a:solidFill>
        </p:grpSpPr>
        <p:sp>
          <p:nvSpPr>
            <p:cNvPr id="49" name="Rectangle 48">
              <a:extLst>
                <a:ext uri="{FF2B5EF4-FFF2-40B4-BE49-F238E27FC236}">
                  <a16:creationId xmlns:a16="http://schemas.microsoft.com/office/drawing/2014/main" id="{5F0B51BC-3CB9-C977-A0FA-9F13AA4BA8F5}"/>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log</a:t>
              </a:r>
            </a:p>
          </p:txBody>
        </p:sp>
        <p:sp>
          <p:nvSpPr>
            <p:cNvPr id="50" name="Right Triangle 49">
              <a:extLst>
                <a:ext uri="{FF2B5EF4-FFF2-40B4-BE49-F238E27FC236}">
                  <a16:creationId xmlns:a16="http://schemas.microsoft.com/office/drawing/2014/main" id="{B1481FE4-C257-D41F-4522-7D3B8C77F9B5}"/>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1" name="Right Triangle 50">
              <a:extLst>
                <a:ext uri="{FF2B5EF4-FFF2-40B4-BE49-F238E27FC236}">
                  <a16:creationId xmlns:a16="http://schemas.microsoft.com/office/drawing/2014/main" id="{2CF1621C-A57B-7715-1DBD-381192C71E6F}"/>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6" name="TextBox 5">
            <a:extLst>
              <a:ext uri="{FF2B5EF4-FFF2-40B4-BE49-F238E27FC236}">
                <a16:creationId xmlns:a16="http://schemas.microsoft.com/office/drawing/2014/main" id="{63FAAEF3-7753-36C9-9CC7-E4BC3F1884E4}"/>
              </a:ext>
            </a:extLst>
          </p:cNvPr>
          <p:cNvSpPr txBox="1"/>
          <p:nvPr/>
        </p:nvSpPr>
        <p:spPr>
          <a:xfrm>
            <a:off x="98612" y="6462993"/>
            <a:ext cx="3431801" cy="246221"/>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sz="1000" dirty="0">
                <a:ea typeface="Arial"/>
                <a:cs typeface="Arial"/>
              </a:rPr>
              <a:t>Introduction to ROS2</a:t>
            </a:r>
            <a:endParaRPr lang="en-US" sz="1000" dirty="0"/>
          </a:p>
        </p:txBody>
      </p:sp>
      <p:sp>
        <p:nvSpPr>
          <p:cNvPr id="16" name="TextBox 2">
            <a:extLst>
              <a:ext uri="{FF2B5EF4-FFF2-40B4-BE49-F238E27FC236}">
                <a16:creationId xmlns:a16="http://schemas.microsoft.com/office/drawing/2014/main" id="{744EF88F-650B-B712-BBDA-AFB6FBA10EEC}"/>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2282490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sz="4400" err="1">
                <a:cs typeface="Angsana New"/>
              </a:rPr>
              <a:t>Build</a:t>
            </a:r>
            <a:r>
              <a:rPr lang="th-TH" sz="4400">
                <a:cs typeface="Angsana New"/>
              </a:rPr>
              <a:t> System</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50</a:t>
            </a:fld>
            <a:endParaRPr lang="en-US"/>
          </a:p>
        </p:txBody>
      </p:sp>
      <p:pic>
        <p:nvPicPr>
          <p:cNvPr id="5" name="Google Shape;67;p15">
            <a:extLst>
              <a:ext uri="{FF2B5EF4-FFF2-40B4-BE49-F238E27FC236}">
                <a16:creationId xmlns:a16="http://schemas.microsoft.com/office/drawing/2014/main" id="{6D08B3EF-323A-BB71-AF2C-4B208BC63C4E}"/>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grpSp>
        <p:nvGrpSpPr>
          <p:cNvPr id="7" name="Group 6">
            <a:extLst>
              <a:ext uri="{FF2B5EF4-FFF2-40B4-BE49-F238E27FC236}">
                <a16:creationId xmlns:a16="http://schemas.microsoft.com/office/drawing/2014/main" id="{3F2A57C8-09DB-B04E-1910-26C0C885C16F}"/>
              </a:ext>
            </a:extLst>
          </p:cNvPr>
          <p:cNvGrpSpPr/>
          <p:nvPr/>
        </p:nvGrpSpPr>
        <p:grpSpPr>
          <a:xfrm>
            <a:off x="387248" y="2441467"/>
            <a:ext cx="4812074" cy="2572848"/>
            <a:chOff x="722827" y="2200279"/>
            <a:chExt cx="8539037" cy="6657319"/>
          </a:xfrm>
          <a:solidFill>
            <a:srgbClr val="F5E7C3"/>
          </a:solidFill>
        </p:grpSpPr>
        <p:sp>
          <p:nvSpPr>
            <p:cNvPr id="8" name="Rectangle 7">
              <a:extLst>
                <a:ext uri="{FF2B5EF4-FFF2-40B4-BE49-F238E27FC236}">
                  <a16:creationId xmlns:a16="http://schemas.microsoft.com/office/drawing/2014/main" id="{54FE63FB-7F59-2D62-2323-2A0703741213}"/>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9" name="Right Triangle 8">
              <a:extLst>
                <a:ext uri="{FF2B5EF4-FFF2-40B4-BE49-F238E27FC236}">
                  <a16:creationId xmlns:a16="http://schemas.microsoft.com/office/drawing/2014/main" id="{977E286A-5259-719D-6CBF-2B092BD0C6D5}"/>
                </a:ext>
              </a:extLst>
            </p:cNvPr>
            <p:cNvSpPr/>
            <p:nvPr/>
          </p:nvSpPr>
          <p:spPr>
            <a:xfrm rot="5400000">
              <a:off x="521882" y="2401224"/>
              <a:ext cx="1136388" cy="73449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ight Triangle 9">
              <a:extLst>
                <a:ext uri="{FF2B5EF4-FFF2-40B4-BE49-F238E27FC236}">
                  <a16:creationId xmlns:a16="http://schemas.microsoft.com/office/drawing/2014/main" id="{4A178425-C32C-960E-2DEE-0522510DA283}"/>
                </a:ext>
              </a:extLst>
            </p:cNvPr>
            <p:cNvSpPr/>
            <p:nvPr/>
          </p:nvSpPr>
          <p:spPr>
            <a:xfrm rot="16200000">
              <a:off x="766762" y="2471736"/>
              <a:ext cx="752474" cy="400049"/>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59" name="TextBox 58">
            <a:extLst>
              <a:ext uri="{FF2B5EF4-FFF2-40B4-BE49-F238E27FC236}">
                <a16:creationId xmlns:a16="http://schemas.microsoft.com/office/drawing/2014/main" id="{392111EB-383C-0908-C6E1-695F086A7916}"/>
              </a:ext>
            </a:extLst>
          </p:cNvPr>
          <p:cNvSpPr txBox="1"/>
          <p:nvPr/>
        </p:nvSpPr>
        <p:spPr>
          <a:xfrm>
            <a:off x="878294" y="2476390"/>
            <a:ext cx="1458211" cy="369332"/>
          </a:xfrm>
          <a:prstGeom prst="rect">
            <a:avLst/>
          </a:prstGeom>
          <a:noFill/>
        </p:spPr>
        <p:txBody>
          <a:bodyPr wrap="square" rtlCol="0">
            <a:spAutoFit/>
          </a:bodyPr>
          <a:lstStyle/>
          <a:p>
            <a:r>
              <a:rPr lang="en-US"/>
              <a:t>[workspace]</a:t>
            </a:r>
          </a:p>
        </p:txBody>
      </p:sp>
      <p:sp>
        <p:nvSpPr>
          <p:cNvPr id="60" name="TextBox 59">
            <a:extLst>
              <a:ext uri="{FF2B5EF4-FFF2-40B4-BE49-F238E27FC236}">
                <a16:creationId xmlns:a16="http://schemas.microsoft.com/office/drawing/2014/main" id="{C0AF817F-75F8-341D-8534-EE413E288DA4}"/>
              </a:ext>
            </a:extLst>
          </p:cNvPr>
          <p:cNvSpPr txBox="1"/>
          <p:nvPr/>
        </p:nvSpPr>
        <p:spPr>
          <a:xfrm>
            <a:off x="1605628" y="5147875"/>
            <a:ext cx="9611833" cy="1200329"/>
          </a:xfrm>
          <a:prstGeom prst="rect">
            <a:avLst/>
          </a:prstGeom>
          <a:noFill/>
        </p:spPr>
        <p:txBody>
          <a:bodyPr wrap="square" lIns="91440" tIns="45720" rIns="91440" bIns="45720" rtlCol="0" anchor="t">
            <a:spAutoFit/>
          </a:bodyPr>
          <a:lstStyle/>
          <a:p>
            <a:r>
              <a:rPr lang="en-US" sz="2400">
                <a:cs typeface="Calibri"/>
              </a:rPr>
              <a:t>"Install" directory is the location of codes that will be used by the ROS2 system. Therefore, only modifying "</a:t>
            </a:r>
            <a:r>
              <a:rPr lang="en-US" sz="2400" err="1">
                <a:cs typeface="Calibri"/>
              </a:rPr>
              <a:t>src</a:t>
            </a:r>
            <a:r>
              <a:rPr lang="en-US" sz="2400">
                <a:cs typeface="Calibri"/>
              </a:rPr>
              <a:t>" will not change the behavior of your system in run time.</a:t>
            </a:r>
            <a:endParaRPr lang="en-US"/>
          </a:p>
        </p:txBody>
      </p:sp>
      <p:sp>
        <p:nvSpPr>
          <p:cNvPr id="11" name="Arrow: Right 10">
            <a:extLst>
              <a:ext uri="{FF2B5EF4-FFF2-40B4-BE49-F238E27FC236}">
                <a16:creationId xmlns:a16="http://schemas.microsoft.com/office/drawing/2014/main" id="{45A135E0-91C0-9039-DDF7-0B99A4A8A906}"/>
              </a:ext>
            </a:extLst>
          </p:cNvPr>
          <p:cNvSpPr/>
          <p:nvPr/>
        </p:nvSpPr>
        <p:spPr>
          <a:xfrm>
            <a:off x="5348177" y="3591255"/>
            <a:ext cx="1520440" cy="461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60EB1CE-2A7B-4B86-7512-F0AAB9303119}"/>
              </a:ext>
            </a:extLst>
          </p:cNvPr>
          <p:cNvSpPr txBox="1"/>
          <p:nvPr/>
        </p:nvSpPr>
        <p:spPr>
          <a:xfrm>
            <a:off x="5736868" y="2931040"/>
            <a:ext cx="992358" cy="646331"/>
          </a:xfrm>
          <a:prstGeom prst="rect">
            <a:avLst/>
          </a:prstGeom>
          <a:noFill/>
        </p:spPr>
        <p:txBody>
          <a:bodyPr wrap="square" rtlCol="0">
            <a:spAutoFit/>
          </a:bodyPr>
          <a:lstStyle/>
          <a:p>
            <a:r>
              <a:rPr lang="en-US" err="1"/>
              <a:t>colcon</a:t>
            </a:r>
            <a:r>
              <a:rPr lang="en-US"/>
              <a:t> build</a:t>
            </a:r>
          </a:p>
        </p:txBody>
      </p:sp>
      <p:grpSp>
        <p:nvGrpSpPr>
          <p:cNvPr id="13" name="Group 12">
            <a:extLst>
              <a:ext uri="{FF2B5EF4-FFF2-40B4-BE49-F238E27FC236}">
                <a16:creationId xmlns:a16="http://schemas.microsoft.com/office/drawing/2014/main" id="{83BA9BED-B40E-9EB3-5D60-40ED6D769648}"/>
              </a:ext>
            </a:extLst>
          </p:cNvPr>
          <p:cNvGrpSpPr/>
          <p:nvPr/>
        </p:nvGrpSpPr>
        <p:grpSpPr>
          <a:xfrm>
            <a:off x="6868617" y="2433974"/>
            <a:ext cx="4812074" cy="2572848"/>
            <a:chOff x="722827" y="2200279"/>
            <a:chExt cx="8539037" cy="6657319"/>
          </a:xfrm>
          <a:solidFill>
            <a:srgbClr val="F5E7C3"/>
          </a:solidFill>
        </p:grpSpPr>
        <p:sp>
          <p:nvSpPr>
            <p:cNvPr id="14" name="Rectangle 13">
              <a:extLst>
                <a:ext uri="{FF2B5EF4-FFF2-40B4-BE49-F238E27FC236}">
                  <a16:creationId xmlns:a16="http://schemas.microsoft.com/office/drawing/2014/main" id="{9B8F5B1C-BA48-4556-58A4-CD601495C0D1}"/>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Right Triangle 14">
              <a:extLst>
                <a:ext uri="{FF2B5EF4-FFF2-40B4-BE49-F238E27FC236}">
                  <a16:creationId xmlns:a16="http://schemas.microsoft.com/office/drawing/2014/main" id="{5B3D6B81-850D-0B46-6234-056BB3249BAF}"/>
                </a:ext>
              </a:extLst>
            </p:cNvPr>
            <p:cNvSpPr/>
            <p:nvPr/>
          </p:nvSpPr>
          <p:spPr>
            <a:xfrm rot="5400000">
              <a:off x="521882" y="2401224"/>
              <a:ext cx="1136388" cy="73449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0" name="Right Triangle 19">
              <a:extLst>
                <a:ext uri="{FF2B5EF4-FFF2-40B4-BE49-F238E27FC236}">
                  <a16:creationId xmlns:a16="http://schemas.microsoft.com/office/drawing/2014/main" id="{2F492FE1-F7F6-64C3-136D-6733264673F5}"/>
                </a:ext>
              </a:extLst>
            </p:cNvPr>
            <p:cNvSpPr/>
            <p:nvPr/>
          </p:nvSpPr>
          <p:spPr>
            <a:xfrm rot="16200000">
              <a:off x="766762" y="2471736"/>
              <a:ext cx="752474" cy="400049"/>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26" name="TextBox 25">
            <a:extLst>
              <a:ext uri="{FF2B5EF4-FFF2-40B4-BE49-F238E27FC236}">
                <a16:creationId xmlns:a16="http://schemas.microsoft.com/office/drawing/2014/main" id="{152A5583-8582-C7A1-9691-EA402D5358C6}"/>
              </a:ext>
            </a:extLst>
          </p:cNvPr>
          <p:cNvSpPr txBox="1"/>
          <p:nvPr/>
        </p:nvSpPr>
        <p:spPr>
          <a:xfrm>
            <a:off x="7406163" y="2479774"/>
            <a:ext cx="1458211" cy="369332"/>
          </a:xfrm>
          <a:prstGeom prst="rect">
            <a:avLst/>
          </a:prstGeom>
          <a:noFill/>
        </p:spPr>
        <p:txBody>
          <a:bodyPr wrap="square" rtlCol="0">
            <a:spAutoFit/>
          </a:bodyPr>
          <a:lstStyle/>
          <a:p>
            <a:r>
              <a:rPr lang="en-US"/>
              <a:t>[workspace]</a:t>
            </a:r>
          </a:p>
        </p:txBody>
      </p:sp>
      <p:grpSp>
        <p:nvGrpSpPr>
          <p:cNvPr id="31" name="Group 30">
            <a:extLst>
              <a:ext uri="{FF2B5EF4-FFF2-40B4-BE49-F238E27FC236}">
                <a16:creationId xmlns:a16="http://schemas.microsoft.com/office/drawing/2014/main" id="{CB99B7B9-07CD-26FE-C577-DB9E22C0119E}"/>
              </a:ext>
            </a:extLst>
          </p:cNvPr>
          <p:cNvGrpSpPr/>
          <p:nvPr/>
        </p:nvGrpSpPr>
        <p:grpSpPr>
          <a:xfrm>
            <a:off x="547084" y="3461322"/>
            <a:ext cx="907158" cy="637250"/>
            <a:chOff x="722829" y="2200279"/>
            <a:chExt cx="1944170" cy="1365718"/>
          </a:xfrm>
          <a:solidFill>
            <a:srgbClr val="F5E7C3"/>
          </a:solidFill>
        </p:grpSpPr>
        <p:sp>
          <p:nvSpPr>
            <p:cNvPr id="32" name="Rectangle 31">
              <a:extLst>
                <a:ext uri="{FF2B5EF4-FFF2-40B4-BE49-F238E27FC236}">
                  <a16:creationId xmlns:a16="http://schemas.microsoft.com/office/drawing/2014/main" id="{C2412F81-E4EC-520E-D317-48A985EA3503}"/>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chemeClr val="tx1"/>
                  </a:solidFill>
                </a:rPr>
                <a:t>src</a:t>
              </a:r>
              <a:endParaRPr lang="en-US" sz="1600">
                <a:solidFill>
                  <a:schemeClr val="tx1"/>
                </a:solidFill>
              </a:endParaRPr>
            </a:p>
          </p:txBody>
        </p:sp>
        <p:sp>
          <p:nvSpPr>
            <p:cNvPr id="33" name="Right Triangle 32">
              <a:extLst>
                <a:ext uri="{FF2B5EF4-FFF2-40B4-BE49-F238E27FC236}">
                  <a16:creationId xmlns:a16="http://schemas.microsoft.com/office/drawing/2014/main" id="{3A63D511-54EF-EAF1-E72E-712D8A2A1AE3}"/>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ight Triangle 33">
              <a:extLst>
                <a:ext uri="{FF2B5EF4-FFF2-40B4-BE49-F238E27FC236}">
                  <a16:creationId xmlns:a16="http://schemas.microsoft.com/office/drawing/2014/main" id="{42535187-031F-961A-BEB2-447C48052180}"/>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35" name="Group 34">
            <a:extLst>
              <a:ext uri="{FF2B5EF4-FFF2-40B4-BE49-F238E27FC236}">
                <a16:creationId xmlns:a16="http://schemas.microsoft.com/office/drawing/2014/main" id="{FB8BB5F9-5A36-A64E-3B45-92E4BD9CC6E4}"/>
              </a:ext>
            </a:extLst>
          </p:cNvPr>
          <p:cNvGrpSpPr/>
          <p:nvPr/>
        </p:nvGrpSpPr>
        <p:grpSpPr>
          <a:xfrm>
            <a:off x="7025686" y="3461322"/>
            <a:ext cx="907158" cy="637250"/>
            <a:chOff x="722829" y="2200279"/>
            <a:chExt cx="1944170" cy="1365718"/>
          </a:xfrm>
          <a:solidFill>
            <a:srgbClr val="F5E7C3"/>
          </a:solidFill>
        </p:grpSpPr>
        <p:sp>
          <p:nvSpPr>
            <p:cNvPr id="36" name="Rectangle 35">
              <a:extLst>
                <a:ext uri="{FF2B5EF4-FFF2-40B4-BE49-F238E27FC236}">
                  <a16:creationId xmlns:a16="http://schemas.microsoft.com/office/drawing/2014/main" id="{B16CD1A5-DE1F-5678-13F6-AB3609B93985}"/>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chemeClr val="tx1"/>
                  </a:solidFill>
                </a:rPr>
                <a:t>src</a:t>
              </a:r>
              <a:endParaRPr lang="en-US" sz="1600">
                <a:solidFill>
                  <a:schemeClr val="tx1"/>
                </a:solidFill>
              </a:endParaRPr>
            </a:p>
          </p:txBody>
        </p:sp>
        <p:sp>
          <p:nvSpPr>
            <p:cNvPr id="37" name="Right Triangle 36">
              <a:extLst>
                <a:ext uri="{FF2B5EF4-FFF2-40B4-BE49-F238E27FC236}">
                  <a16:creationId xmlns:a16="http://schemas.microsoft.com/office/drawing/2014/main" id="{D0CCD03D-43F1-58B4-FFDC-ECA76E1BC901}"/>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8" name="Right Triangle 37">
              <a:extLst>
                <a:ext uri="{FF2B5EF4-FFF2-40B4-BE49-F238E27FC236}">
                  <a16:creationId xmlns:a16="http://schemas.microsoft.com/office/drawing/2014/main" id="{8D40F79C-F02A-DDC7-56F1-9DE4B457F9D2}"/>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39" name="Group 38">
            <a:extLst>
              <a:ext uri="{FF2B5EF4-FFF2-40B4-BE49-F238E27FC236}">
                <a16:creationId xmlns:a16="http://schemas.microsoft.com/office/drawing/2014/main" id="{491BC02B-5205-D232-2183-CAA508520853}"/>
              </a:ext>
            </a:extLst>
          </p:cNvPr>
          <p:cNvGrpSpPr/>
          <p:nvPr/>
        </p:nvGrpSpPr>
        <p:grpSpPr>
          <a:xfrm>
            <a:off x="7978210" y="3461322"/>
            <a:ext cx="907158" cy="637250"/>
            <a:chOff x="722829" y="2200279"/>
            <a:chExt cx="1944170" cy="1365718"/>
          </a:xfrm>
          <a:solidFill>
            <a:srgbClr val="F5E7C3"/>
          </a:solidFill>
        </p:grpSpPr>
        <p:sp>
          <p:nvSpPr>
            <p:cNvPr id="40" name="Rectangle 39">
              <a:extLst>
                <a:ext uri="{FF2B5EF4-FFF2-40B4-BE49-F238E27FC236}">
                  <a16:creationId xmlns:a16="http://schemas.microsoft.com/office/drawing/2014/main" id="{0816FE1D-756D-9D9E-5D67-778003BFF6E8}"/>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build</a:t>
              </a:r>
            </a:p>
          </p:txBody>
        </p:sp>
        <p:sp>
          <p:nvSpPr>
            <p:cNvPr id="41" name="Right Triangle 40">
              <a:extLst>
                <a:ext uri="{FF2B5EF4-FFF2-40B4-BE49-F238E27FC236}">
                  <a16:creationId xmlns:a16="http://schemas.microsoft.com/office/drawing/2014/main" id="{CD75A57C-8C50-391B-F43D-76D0AC54E890}"/>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ight Triangle 41">
              <a:extLst>
                <a:ext uri="{FF2B5EF4-FFF2-40B4-BE49-F238E27FC236}">
                  <a16:creationId xmlns:a16="http://schemas.microsoft.com/office/drawing/2014/main" id="{A2655D3F-8FDB-F78C-5DA8-04386E1E6074}"/>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3" name="Group 42">
            <a:extLst>
              <a:ext uri="{FF2B5EF4-FFF2-40B4-BE49-F238E27FC236}">
                <a16:creationId xmlns:a16="http://schemas.microsoft.com/office/drawing/2014/main" id="{7A755EDE-53E6-9A34-F43B-02C603C40B58}"/>
              </a:ext>
            </a:extLst>
          </p:cNvPr>
          <p:cNvGrpSpPr/>
          <p:nvPr/>
        </p:nvGrpSpPr>
        <p:grpSpPr>
          <a:xfrm>
            <a:off x="8930734" y="3461321"/>
            <a:ext cx="907158" cy="637250"/>
            <a:chOff x="722829" y="2200279"/>
            <a:chExt cx="1944170" cy="1365718"/>
          </a:xfrm>
          <a:solidFill>
            <a:srgbClr val="F5E7C3"/>
          </a:solidFill>
        </p:grpSpPr>
        <p:sp>
          <p:nvSpPr>
            <p:cNvPr id="44" name="Rectangle 43">
              <a:extLst>
                <a:ext uri="{FF2B5EF4-FFF2-40B4-BE49-F238E27FC236}">
                  <a16:creationId xmlns:a16="http://schemas.microsoft.com/office/drawing/2014/main" id="{380FB0F4-9C6D-D2F8-2ED6-43B554316794}"/>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install</a:t>
              </a:r>
            </a:p>
          </p:txBody>
        </p:sp>
        <p:sp>
          <p:nvSpPr>
            <p:cNvPr id="45" name="Right Triangle 44">
              <a:extLst>
                <a:ext uri="{FF2B5EF4-FFF2-40B4-BE49-F238E27FC236}">
                  <a16:creationId xmlns:a16="http://schemas.microsoft.com/office/drawing/2014/main" id="{E28122BF-C748-2E32-40F2-326D17B7C3B0}"/>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Right Triangle 45">
              <a:extLst>
                <a:ext uri="{FF2B5EF4-FFF2-40B4-BE49-F238E27FC236}">
                  <a16:creationId xmlns:a16="http://schemas.microsoft.com/office/drawing/2014/main" id="{7E93096B-74E6-A989-1F9C-14ACA0525583}"/>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8" name="Group 47">
            <a:extLst>
              <a:ext uri="{FF2B5EF4-FFF2-40B4-BE49-F238E27FC236}">
                <a16:creationId xmlns:a16="http://schemas.microsoft.com/office/drawing/2014/main" id="{46C6A30C-87EA-4DE9-E5CD-E9FE6CD42684}"/>
              </a:ext>
            </a:extLst>
          </p:cNvPr>
          <p:cNvGrpSpPr/>
          <p:nvPr/>
        </p:nvGrpSpPr>
        <p:grpSpPr>
          <a:xfrm>
            <a:off x="9888224" y="3448851"/>
            <a:ext cx="907158" cy="637250"/>
            <a:chOff x="722829" y="2200279"/>
            <a:chExt cx="1944170" cy="1365718"/>
          </a:xfrm>
          <a:solidFill>
            <a:srgbClr val="F5E7C3"/>
          </a:solidFill>
        </p:grpSpPr>
        <p:sp>
          <p:nvSpPr>
            <p:cNvPr id="49" name="Rectangle 48">
              <a:extLst>
                <a:ext uri="{FF2B5EF4-FFF2-40B4-BE49-F238E27FC236}">
                  <a16:creationId xmlns:a16="http://schemas.microsoft.com/office/drawing/2014/main" id="{5F0B51BC-3CB9-C977-A0FA-9F13AA4BA8F5}"/>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log</a:t>
              </a:r>
            </a:p>
          </p:txBody>
        </p:sp>
        <p:sp>
          <p:nvSpPr>
            <p:cNvPr id="50" name="Right Triangle 49">
              <a:extLst>
                <a:ext uri="{FF2B5EF4-FFF2-40B4-BE49-F238E27FC236}">
                  <a16:creationId xmlns:a16="http://schemas.microsoft.com/office/drawing/2014/main" id="{B1481FE4-C257-D41F-4522-7D3B8C77F9B5}"/>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1" name="Right Triangle 50">
              <a:extLst>
                <a:ext uri="{FF2B5EF4-FFF2-40B4-BE49-F238E27FC236}">
                  <a16:creationId xmlns:a16="http://schemas.microsoft.com/office/drawing/2014/main" id="{2CF1621C-A57B-7715-1DBD-381192C71E6F}"/>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6" name="TextBox 5">
            <a:extLst>
              <a:ext uri="{FF2B5EF4-FFF2-40B4-BE49-F238E27FC236}">
                <a16:creationId xmlns:a16="http://schemas.microsoft.com/office/drawing/2014/main" id="{23CEA3FD-D961-85AB-01BD-83D606456F92}"/>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6" name="TextBox 2">
            <a:extLst>
              <a:ext uri="{FF2B5EF4-FFF2-40B4-BE49-F238E27FC236}">
                <a16:creationId xmlns:a16="http://schemas.microsoft.com/office/drawing/2014/main" id="{8EB78DDC-088C-D95C-C167-E243E3042AFC}"/>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
        <p:nvSpPr>
          <p:cNvPr id="3" name="TextBox 2">
            <a:extLst>
              <a:ext uri="{FF2B5EF4-FFF2-40B4-BE49-F238E27FC236}">
                <a16:creationId xmlns:a16="http://schemas.microsoft.com/office/drawing/2014/main" id="{55BAA8A0-FAE0-9B0A-F89F-77EB66658EC4}"/>
              </a:ext>
            </a:extLst>
          </p:cNvPr>
          <p:cNvSpPr txBox="1"/>
          <p:nvPr/>
        </p:nvSpPr>
        <p:spPr>
          <a:xfrm>
            <a:off x="4145858" y="1404396"/>
            <a:ext cx="7870145" cy="461665"/>
          </a:xfrm>
          <a:prstGeom prst="rect">
            <a:avLst/>
          </a:prstGeom>
          <a:noFill/>
          <a:ln>
            <a:solidFill>
              <a:srgbClr val="FF0000"/>
            </a:solidFill>
          </a:ln>
        </p:spPr>
        <p:txBody>
          <a:bodyPr wrap="square" lIns="91440" tIns="45720" rIns="91440" bIns="45720" rtlCol="0" anchor="t">
            <a:spAutoFit/>
          </a:bodyPr>
          <a:lstStyle/>
          <a:p>
            <a:r>
              <a:rPr lang="th-TH" sz="2400" err="1">
                <a:cs typeface="Cordia New"/>
              </a:rPr>
              <a:t>You</a:t>
            </a:r>
            <a:r>
              <a:rPr lang="th-TH" sz="2400">
                <a:cs typeface="Cordia New"/>
              </a:rPr>
              <a:t> </a:t>
            </a:r>
            <a:r>
              <a:rPr lang="th-TH" sz="2400" err="1">
                <a:cs typeface="Cordia New"/>
              </a:rPr>
              <a:t>must</a:t>
            </a:r>
            <a:r>
              <a:rPr lang="th-TH" sz="2400">
                <a:cs typeface="Cordia New"/>
              </a:rPr>
              <a:t> </a:t>
            </a:r>
            <a:r>
              <a:rPr lang="th-TH" sz="2400" err="1">
                <a:cs typeface="Cordia New"/>
              </a:rPr>
              <a:t>not</a:t>
            </a:r>
            <a:r>
              <a:rPr lang="th-TH" sz="2400">
                <a:cs typeface="Cordia New"/>
              </a:rPr>
              <a:t> </a:t>
            </a:r>
            <a:r>
              <a:rPr lang="th-TH" sz="2400" err="1">
                <a:cs typeface="Cordia New"/>
              </a:rPr>
              <a:t>create</a:t>
            </a:r>
            <a:r>
              <a:rPr lang="th-TH" sz="2400">
                <a:cs typeface="Cordia New"/>
              </a:rPr>
              <a:t> </a:t>
            </a:r>
            <a:r>
              <a:rPr lang="th-TH" sz="2400" err="1">
                <a:cs typeface="Cordia New"/>
              </a:rPr>
              <a:t>workspace</a:t>
            </a:r>
            <a:r>
              <a:rPr lang="th-TH" sz="2400">
                <a:cs typeface="Cordia New"/>
              </a:rPr>
              <a:t> </a:t>
            </a:r>
            <a:r>
              <a:rPr lang="th-TH" sz="2400" err="1">
                <a:cs typeface="Cordia New"/>
              </a:rPr>
              <a:t>inside</a:t>
            </a:r>
            <a:r>
              <a:rPr lang="th-TH" sz="2400">
                <a:cs typeface="Cordia New"/>
              </a:rPr>
              <a:t> </a:t>
            </a:r>
            <a:r>
              <a:rPr lang="th-TH" sz="2400" err="1">
                <a:cs typeface="Cordia New"/>
              </a:rPr>
              <a:t>another</a:t>
            </a:r>
            <a:r>
              <a:rPr lang="th-TH" sz="2400">
                <a:cs typeface="Cordia New"/>
              </a:rPr>
              <a:t> </a:t>
            </a:r>
            <a:r>
              <a:rPr lang="th-TH" sz="2400" err="1">
                <a:cs typeface="Cordia New"/>
              </a:rPr>
              <a:t>workspace</a:t>
            </a:r>
          </a:p>
        </p:txBody>
      </p:sp>
    </p:spTree>
    <p:extLst>
      <p:ext uri="{BB962C8B-B14F-4D97-AF65-F5344CB8AC3E}">
        <p14:creationId xmlns:p14="http://schemas.microsoft.com/office/powerpoint/2010/main" val="407360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en-US">
                <a:cs typeface="Calibri Light"/>
              </a:rPr>
              <a:t>Creating a new workspace</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51</a:t>
            </a:fld>
            <a:endParaRPr lang="en-US"/>
          </a:p>
        </p:txBody>
      </p:sp>
      <p:sp>
        <p:nvSpPr>
          <p:cNvPr id="13" name="TextBox 12">
            <a:extLst>
              <a:ext uri="{FF2B5EF4-FFF2-40B4-BE49-F238E27FC236}">
                <a16:creationId xmlns:a16="http://schemas.microsoft.com/office/drawing/2014/main" id="{66EF0498-EB3F-41D9-8641-403C4A80ED74}"/>
              </a:ext>
            </a:extLst>
          </p:cNvPr>
          <p:cNvSpPr txBox="1"/>
          <p:nvPr/>
        </p:nvSpPr>
        <p:spPr>
          <a:xfrm>
            <a:off x="1987817" y="2962199"/>
            <a:ext cx="2977587" cy="923330"/>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chemeClr val="tx1"/>
                </a:solidFill>
                <a:effectLst/>
              </a:rPr>
              <a:t>&gt;&gt; </a:t>
            </a:r>
            <a:r>
              <a:rPr kumimoji="0" lang="en-US" altLang="en-US" sz="1800" b="0" i="0" u="none" strike="noStrike" cap="none" normalizeH="0" baseline="0" err="1">
                <a:ln>
                  <a:noFill/>
                </a:ln>
                <a:solidFill>
                  <a:schemeClr val="tx1"/>
                </a:solidFill>
                <a:effectLst/>
              </a:rPr>
              <a:t>mkdir</a:t>
            </a:r>
            <a:r>
              <a:rPr kumimoji="0" lang="en-US" altLang="en-US" sz="1800" b="0" i="0" u="none" strike="noStrike" cap="none" normalizeH="0" baseline="0">
                <a:ln>
                  <a:noFill/>
                </a:ln>
                <a:solidFill>
                  <a:schemeClr val="tx1"/>
                </a:solidFill>
                <a:effectLst/>
              </a:rPr>
              <a:t> –p ~/[xxx]_</a:t>
            </a:r>
            <a:r>
              <a:rPr kumimoji="0" lang="en-US" altLang="en-US" sz="1800" b="0" i="0" u="none" strike="noStrike" cap="none" normalizeH="0" baseline="0" err="1">
                <a:ln>
                  <a:noFill/>
                </a:ln>
                <a:solidFill>
                  <a:schemeClr val="tx1"/>
                </a:solidFill>
                <a:effectLst/>
              </a:rPr>
              <a:t>ws</a:t>
            </a:r>
            <a:r>
              <a:rPr kumimoji="0" lang="en-US" altLang="en-US" sz="1800" b="0" i="0" u="none" strike="noStrike" cap="none" normalizeH="0" baseline="0">
                <a:ln>
                  <a:noFill/>
                </a:ln>
                <a:solidFill>
                  <a:schemeClr val="tx1"/>
                </a:solidFill>
                <a:effectLst/>
              </a:rPr>
              <a:t>/</a:t>
            </a:r>
            <a:r>
              <a:rPr kumimoji="0" lang="en-US" altLang="en-US" sz="1800" b="0" i="0" u="none" strike="noStrike" cap="none" normalizeH="0" baseline="0" err="1">
                <a:ln>
                  <a:noFill/>
                </a:ln>
                <a:solidFill>
                  <a:schemeClr val="tx1"/>
                </a:solidFill>
                <a:effectLst/>
              </a:rPr>
              <a:t>src</a:t>
            </a:r>
            <a:br>
              <a:rPr kumimoji="0" lang="en-US" altLang="en-US" sz="1800" b="0" i="0" u="none" strike="noStrike" cap="none" normalizeH="0" baseline="0">
                <a:ln>
                  <a:noFill/>
                </a:ln>
                <a:solidFill>
                  <a:schemeClr val="tx1"/>
                </a:solidFill>
                <a:effectLst/>
              </a:rPr>
            </a:br>
            <a:r>
              <a:rPr kumimoji="0" lang="en-US" altLang="en-US" sz="1800" b="0" i="0" u="none" strike="noStrike" cap="none" normalizeH="0" baseline="0">
                <a:ln>
                  <a:noFill/>
                </a:ln>
                <a:solidFill>
                  <a:schemeClr val="tx1"/>
                </a:solidFill>
                <a:effectLst/>
              </a:rPr>
              <a:t>&gt;&gt; cd </a:t>
            </a:r>
            <a:r>
              <a:rPr lang="en-US" altLang="en-US"/>
              <a:t>~/[xxx]_</a:t>
            </a:r>
            <a:r>
              <a:rPr lang="en-US" altLang="en-US" err="1"/>
              <a:t>ws</a:t>
            </a:r>
            <a:br>
              <a:rPr lang="en-US" altLang="en-US"/>
            </a:br>
            <a:r>
              <a:rPr kumimoji="0" lang="en-US" altLang="en-US" sz="1800" b="0" i="0" u="none" strike="noStrike" cap="none" normalizeH="0" baseline="0">
                <a:ln>
                  <a:noFill/>
                </a:ln>
                <a:solidFill>
                  <a:schemeClr val="tx1"/>
                </a:solidFill>
                <a:effectLst/>
              </a:rPr>
              <a:t>&gt;&gt; </a:t>
            </a:r>
            <a:r>
              <a:rPr kumimoji="0" lang="en-US" altLang="en-US" sz="1800" b="0" i="0" u="none" strike="noStrike" cap="none" normalizeH="0" baseline="0" err="1">
                <a:ln>
                  <a:noFill/>
                </a:ln>
                <a:solidFill>
                  <a:schemeClr val="tx1"/>
                </a:solidFill>
                <a:effectLst/>
              </a:rPr>
              <a:t>colcon</a:t>
            </a:r>
            <a:r>
              <a:rPr kumimoji="0" lang="en-US" altLang="en-US" sz="1800" b="0" i="0" u="none" strike="noStrike" cap="none" normalizeH="0" baseline="0">
                <a:ln>
                  <a:noFill/>
                </a:ln>
                <a:solidFill>
                  <a:schemeClr val="tx1"/>
                </a:solidFill>
                <a:effectLst/>
              </a:rPr>
              <a:t> build</a:t>
            </a:r>
          </a:p>
        </p:txBody>
      </p:sp>
      <p:sp>
        <p:nvSpPr>
          <p:cNvPr id="8" name="TextBox 7">
            <a:extLst>
              <a:ext uri="{FF2B5EF4-FFF2-40B4-BE49-F238E27FC236}">
                <a16:creationId xmlns:a16="http://schemas.microsoft.com/office/drawing/2014/main" id="{CF63BA31-F7AB-422F-B958-8C0A17F88E06}"/>
              </a:ext>
            </a:extLst>
          </p:cNvPr>
          <p:cNvSpPr txBox="1"/>
          <p:nvPr/>
        </p:nvSpPr>
        <p:spPr>
          <a:xfrm>
            <a:off x="6846897" y="3037760"/>
            <a:ext cx="4200331" cy="369332"/>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chemeClr val="tx1"/>
                </a:solidFill>
                <a:effectLst/>
              </a:rPr>
              <a:t>source ~</a:t>
            </a:r>
            <a:r>
              <a:rPr lang="en-US" altLang="en-US"/>
              <a:t>/[xxx]_</a:t>
            </a:r>
            <a:r>
              <a:rPr lang="en-US" altLang="en-US" err="1"/>
              <a:t>ws</a:t>
            </a:r>
            <a:r>
              <a:rPr lang="en-US" altLang="en-US"/>
              <a:t>/install/</a:t>
            </a:r>
            <a:r>
              <a:rPr lang="en-US" altLang="en-US" err="1"/>
              <a:t>local_setup.bash</a:t>
            </a:r>
            <a:endParaRPr kumimoji="0" lang="en-US" altLang="en-US" sz="1800" b="0" i="0" u="none" strike="noStrike" cap="none" normalizeH="0" baseline="0">
              <a:ln>
                <a:noFill/>
              </a:ln>
              <a:solidFill>
                <a:schemeClr val="tx1"/>
              </a:solidFill>
              <a:effectLst/>
            </a:endParaRPr>
          </a:p>
        </p:txBody>
      </p:sp>
      <p:sp>
        <p:nvSpPr>
          <p:cNvPr id="9" name="TextBox 8">
            <a:extLst>
              <a:ext uri="{FF2B5EF4-FFF2-40B4-BE49-F238E27FC236}">
                <a16:creationId xmlns:a16="http://schemas.microsoft.com/office/drawing/2014/main" id="{3C7E3D63-657F-4CA4-B0A0-033B42B7A498}"/>
              </a:ext>
            </a:extLst>
          </p:cNvPr>
          <p:cNvSpPr txBox="1"/>
          <p:nvPr/>
        </p:nvSpPr>
        <p:spPr>
          <a:xfrm>
            <a:off x="7028814" y="2197372"/>
            <a:ext cx="4598670" cy="461665"/>
          </a:xfrm>
          <a:prstGeom prst="rect">
            <a:avLst/>
          </a:prstGeom>
          <a:noFill/>
        </p:spPr>
        <p:txBody>
          <a:bodyPr wrap="square" lIns="91440" tIns="45720" rIns="91440" bIns="45720" rtlCol="0" anchor="t">
            <a:spAutoFit/>
          </a:bodyPr>
          <a:lstStyle/>
          <a:p>
            <a:r>
              <a:rPr lang="th-TH" sz="2400" err="1">
                <a:cs typeface="Cordia New"/>
              </a:rPr>
              <a:t>Adding</a:t>
            </a:r>
            <a:r>
              <a:rPr lang="th-TH" sz="2400">
                <a:cs typeface="Cordia New"/>
              </a:rPr>
              <a:t> </a:t>
            </a:r>
            <a:r>
              <a:rPr lang="th-TH" sz="2400" err="1">
                <a:cs typeface="Cordia New"/>
              </a:rPr>
              <a:t>workspace</a:t>
            </a:r>
            <a:r>
              <a:rPr lang="th-TH" sz="2400">
                <a:cs typeface="Cordia New"/>
              </a:rPr>
              <a:t> </a:t>
            </a:r>
            <a:r>
              <a:rPr lang="th-TH" sz="2400" err="1">
                <a:cs typeface="Cordia New"/>
              </a:rPr>
              <a:t>to</a:t>
            </a:r>
            <a:r>
              <a:rPr lang="th-TH" sz="2400">
                <a:cs typeface="Cordia New"/>
              </a:rPr>
              <a:t> .</a:t>
            </a:r>
            <a:r>
              <a:rPr lang="th-TH" sz="2400" err="1">
                <a:cs typeface="Cordia New"/>
              </a:rPr>
              <a:t>bashrc</a:t>
            </a:r>
            <a:endParaRPr lang="en-US" err="1"/>
          </a:p>
        </p:txBody>
      </p:sp>
      <p:pic>
        <p:nvPicPr>
          <p:cNvPr id="5" name="Google Shape;67;p15">
            <a:extLst>
              <a:ext uri="{FF2B5EF4-FFF2-40B4-BE49-F238E27FC236}">
                <a16:creationId xmlns:a16="http://schemas.microsoft.com/office/drawing/2014/main" id="{6D08B3EF-323A-BB71-AF2C-4B208BC63C4E}"/>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3" name="TextBox 2">
            <a:extLst>
              <a:ext uri="{FF2B5EF4-FFF2-40B4-BE49-F238E27FC236}">
                <a16:creationId xmlns:a16="http://schemas.microsoft.com/office/drawing/2014/main" id="{2A1A931D-08CE-98A4-A400-C7CA79F25EBE}"/>
              </a:ext>
            </a:extLst>
          </p:cNvPr>
          <p:cNvSpPr txBox="1"/>
          <p:nvPr/>
        </p:nvSpPr>
        <p:spPr>
          <a:xfrm>
            <a:off x="1275714" y="2197371"/>
            <a:ext cx="4598670" cy="461665"/>
          </a:xfrm>
          <a:prstGeom prst="rect">
            <a:avLst/>
          </a:prstGeom>
          <a:noFill/>
        </p:spPr>
        <p:txBody>
          <a:bodyPr wrap="square" lIns="91440" tIns="45720" rIns="91440" bIns="45720" rtlCol="0" anchor="t">
            <a:spAutoFit/>
          </a:bodyPr>
          <a:lstStyle/>
          <a:p>
            <a:r>
              <a:rPr lang="th-TH" sz="2400" err="1">
                <a:cs typeface="Cordia New"/>
              </a:rPr>
              <a:t>Create</a:t>
            </a:r>
            <a:r>
              <a:rPr lang="th-TH" sz="2400">
                <a:cs typeface="Cordia New"/>
              </a:rPr>
              <a:t> and </a:t>
            </a:r>
            <a:r>
              <a:rPr lang="th-TH" sz="2400" err="1">
                <a:cs typeface="Cordia New"/>
              </a:rPr>
              <a:t>build</a:t>
            </a:r>
            <a:r>
              <a:rPr lang="th-TH" sz="2400">
                <a:cs typeface="Cordia New"/>
              </a:rPr>
              <a:t> a </a:t>
            </a:r>
            <a:r>
              <a:rPr lang="th-TH" sz="2400" err="1">
                <a:cs typeface="Cordia New"/>
              </a:rPr>
              <a:t>new</a:t>
            </a:r>
            <a:r>
              <a:rPr lang="th-TH" sz="2400">
                <a:cs typeface="Cordia New"/>
              </a:rPr>
              <a:t> </a:t>
            </a:r>
            <a:r>
              <a:rPr lang="th-TH" sz="2400" err="1">
                <a:cs typeface="Cordia New"/>
              </a:rPr>
              <a:t>workspace</a:t>
            </a:r>
            <a:endParaRPr lang="th-TH" sz="2400" err="1">
              <a:ea typeface="Calibri"/>
              <a:cs typeface="Cordia New"/>
            </a:endParaRPr>
          </a:p>
        </p:txBody>
      </p:sp>
      <p:sp>
        <p:nvSpPr>
          <p:cNvPr id="7" name="TextBox 6">
            <a:extLst>
              <a:ext uri="{FF2B5EF4-FFF2-40B4-BE49-F238E27FC236}">
                <a16:creationId xmlns:a16="http://schemas.microsoft.com/office/drawing/2014/main" id="{5531235D-031E-2D04-4941-318F58D63AE5}"/>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0" name="TextBox 2">
            <a:extLst>
              <a:ext uri="{FF2B5EF4-FFF2-40B4-BE49-F238E27FC236}">
                <a16:creationId xmlns:a16="http://schemas.microsoft.com/office/drawing/2014/main" id="{E716CC6C-9FCE-D848-0F40-0F663526B76F}"/>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253043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74366104-9109-4FA2-8A28-31CCC2FC5B1C}"/>
              </a:ext>
            </a:extLst>
          </p:cNvPr>
          <p:cNvGrpSpPr/>
          <p:nvPr/>
        </p:nvGrpSpPr>
        <p:grpSpPr>
          <a:xfrm>
            <a:off x="3956243" y="1746809"/>
            <a:ext cx="7502332" cy="4341590"/>
            <a:chOff x="722829" y="2200279"/>
            <a:chExt cx="8539035" cy="6657319"/>
          </a:xfrm>
          <a:solidFill>
            <a:srgbClr val="F5E7C3"/>
          </a:solidFill>
        </p:grpSpPr>
        <p:sp>
          <p:nvSpPr>
            <p:cNvPr id="79" name="Rectangle 78">
              <a:extLst>
                <a:ext uri="{FF2B5EF4-FFF2-40B4-BE49-F238E27FC236}">
                  <a16:creationId xmlns:a16="http://schemas.microsoft.com/office/drawing/2014/main" id="{C2073976-9B75-4A7A-A048-A3CAC4D0A050}"/>
                </a:ext>
              </a:extLst>
            </p:cNvPr>
            <p:cNvSpPr/>
            <p:nvPr/>
          </p:nvSpPr>
          <p:spPr>
            <a:xfrm>
              <a:off x="942972" y="2295524"/>
              <a:ext cx="8318892" cy="656207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80" name="Right Triangle 79">
              <a:extLst>
                <a:ext uri="{FF2B5EF4-FFF2-40B4-BE49-F238E27FC236}">
                  <a16:creationId xmlns:a16="http://schemas.microsoft.com/office/drawing/2014/main" id="{B4152DD4-DA21-497A-837D-982B40BBF2C7}"/>
                </a:ext>
              </a:extLst>
            </p:cNvPr>
            <p:cNvSpPr/>
            <p:nvPr/>
          </p:nvSpPr>
          <p:spPr>
            <a:xfrm rot="5400000">
              <a:off x="713840" y="2209268"/>
              <a:ext cx="752474" cy="734496"/>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1" name="Right Triangle 80">
              <a:extLst>
                <a:ext uri="{FF2B5EF4-FFF2-40B4-BE49-F238E27FC236}">
                  <a16:creationId xmlns:a16="http://schemas.microsoft.com/office/drawing/2014/main" id="{ABF72358-FA0C-4335-88EC-3ADBE1CA7393}"/>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a:xfrm>
            <a:off x="1097280" y="286603"/>
            <a:ext cx="4531995" cy="1450757"/>
          </a:xfrm>
        </p:spPr>
        <p:txBody>
          <a:bodyPr/>
          <a:lstStyle/>
          <a:p>
            <a:r>
              <a:rPr lang="en-US"/>
              <a:t>Package Layout</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52</a:t>
            </a:fld>
            <a:endParaRPr lang="en-US"/>
          </a:p>
        </p:txBody>
      </p:sp>
      <p:grpSp>
        <p:nvGrpSpPr>
          <p:cNvPr id="6" name="Group 5">
            <a:extLst>
              <a:ext uri="{FF2B5EF4-FFF2-40B4-BE49-F238E27FC236}">
                <a16:creationId xmlns:a16="http://schemas.microsoft.com/office/drawing/2014/main" id="{3B9AA378-0565-4F2E-833D-86AEF977E4DD}"/>
              </a:ext>
            </a:extLst>
          </p:cNvPr>
          <p:cNvGrpSpPr/>
          <p:nvPr/>
        </p:nvGrpSpPr>
        <p:grpSpPr>
          <a:xfrm>
            <a:off x="985718" y="3429000"/>
            <a:ext cx="1267896" cy="890657"/>
            <a:chOff x="722829" y="2200279"/>
            <a:chExt cx="1944170" cy="1365718"/>
          </a:xfrm>
          <a:solidFill>
            <a:srgbClr val="F5E7C3"/>
          </a:solidFill>
        </p:grpSpPr>
        <p:sp>
          <p:nvSpPr>
            <p:cNvPr id="3" name="Rectangle 2">
              <a:extLst>
                <a:ext uri="{FF2B5EF4-FFF2-40B4-BE49-F238E27FC236}">
                  <a16:creationId xmlns:a16="http://schemas.microsoft.com/office/drawing/2014/main" id="{B152D5FD-33AC-4E92-B4E2-2618E74C5CE8}"/>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[pkg]</a:t>
              </a:r>
            </a:p>
          </p:txBody>
        </p:sp>
        <p:sp>
          <p:nvSpPr>
            <p:cNvPr id="5" name="Right Triangle 4">
              <a:extLst>
                <a:ext uri="{FF2B5EF4-FFF2-40B4-BE49-F238E27FC236}">
                  <a16:creationId xmlns:a16="http://schemas.microsoft.com/office/drawing/2014/main" id="{CE0038E5-10CF-4D2D-A601-34D562D9020F}"/>
                </a:ext>
              </a:extLst>
            </p:cNvPr>
            <p:cNvSpPr/>
            <p:nvPr/>
          </p:nvSpPr>
          <p:spPr>
            <a:xfrm rot="5400000">
              <a:off x="713840" y="2209268"/>
              <a:ext cx="752474" cy="734496"/>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7" name="Right Triangle 16">
              <a:extLst>
                <a:ext uri="{FF2B5EF4-FFF2-40B4-BE49-F238E27FC236}">
                  <a16:creationId xmlns:a16="http://schemas.microsoft.com/office/drawing/2014/main" id="{EDCB0D06-54F9-46E8-B5FB-FB4115DDD894}"/>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20" name="Group 19">
            <a:extLst>
              <a:ext uri="{FF2B5EF4-FFF2-40B4-BE49-F238E27FC236}">
                <a16:creationId xmlns:a16="http://schemas.microsoft.com/office/drawing/2014/main" id="{85D2FEFC-621A-419F-8308-87A6B5DFDEB3}"/>
              </a:ext>
            </a:extLst>
          </p:cNvPr>
          <p:cNvGrpSpPr/>
          <p:nvPr/>
        </p:nvGrpSpPr>
        <p:grpSpPr>
          <a:xfrm>
            <a:off x="4584829" y="1946774"/>
            <a:ext cx="1267896" cy="890657"/>
            <a:chOff x="722829" y="2200279"/>
            <a:chExt cx="1944170" cy="1365718"/>
          </a:xfrm>
          <a:solidFill>
            <a:srgbClr val="F5E7C3"/>
          </a:solidFill>
        </p:grpSpPr>
        <p:sp>
          <p:nvSpPr>
            <p:cNvPr id="22" name="Rectangle 21">
              <a:extLst>
                <a:ext uri="{FF2B5EF4-FFF2-40B4-BE49-F238E27FC236}">
                  <a16:creationId xmlns:a16="http://schemas.microsoft.com/office/drawing/2014/main" id="{73D4E71E-3BF3-49EF-A3A0-E5EE624F77E0}"/>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solidFill>
                </a:rPr>
                <a:t>src</a:t>
              </a:r>
              <a:endParaRPr lang="en-US" sz="1400">
                <a:solidFill>
                  <a:schemeClr val="tx1"/>
                </a:solidFill>
              </a:endParaRPr>
            </a:p>
          </p:txBody>
        </p:sp>
        <p:sp>
          <p:nvSpPr>
            <p:cNvPr id="23" name="Right Triangle 22">
              <a:extLst>
                <a:ext uri="{FF2B5EF4-FFF2-40B4-BE49-F238E27FC236}">
                  <a16:creationId xmlns:a16="http://schemas.microsoft.com/office/drawing/2014/main" id="{27F30258-267E-43CC-9D69-51BCD878F5CD}"/>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4" name="Right Triangle 23">
              <a:extLst>
                <a:ext uri="{FF2B5EF4-FFF2-40B4-BE49-F238E27FC236}">
                  <a16:creationId xmlns:a16="http://schemas.microsoft.com/office/drawing/2014/main" id="{85947EB2-2582-4A20-BF3C-E69263E90BEE}"/>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25" name="Group 24">
            <a:extLst>
              <a:ext uri="{FF2B5EF4-FFF2-40B4-BE49-F238E27FC236}">
                <a16:creationId xmlns:a16="http://schemas.microsoft.com/office/drawing/2014/main" id="{AC058178-1E6B-4F5C-A51B-6B96844FC3E6}"/>
              </a:ext>
            </a:extLst>
          </p:cNvPr>
          <p:cNvGrpSpPr/>
          <p:nvPr/>
        </p:nvGrpSpPr>
        <p:grpSpPr>
          <a:xfrm>
            <a:off x="6926450" y="1946774"/>
            <a:ext cx="1267896" cy="890657"/>
            <a:chOff x="722829" y="2200279"/>
            <a:chExt cx="1944170" cy="1365718"/>
          </a:xfrm>
          <a:solidFill>
            <a:srgbClr val="F5E7C3"/>
          </a:solidFill>
        </p:grpSpPr>
        <p:sp>
          <p:nvSpPr>
            <p:cNvPr id="26" name="Rectangle 25">
              <a:extLst>
                <a:ext uri="{FF2B5EF4-FFF2-40B4-BE49-F238E27FC236}">
                  <a16:creationId xmlns:a16="http://schemas.microsoft.com/office/drawing/2014/main" id="{D9F7E48F-B6BF-478F-BAA1-DCFA3FE3C5DF}"/>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include</a:t>
              </a:r>
            </a:p>
          </p:txBody>
        </p:sp>
        <p:sp>
          <p:nvSpPr>
            <p:cNvPr id="27" name="Right Triangle 26">
              <a:extLst>
                <a:ext uri="{FF2B5EF4-FFF2-40B4-BE49-F238E27FC236}">
                  <a16:creationId xmlns:a16="http://schemas.microsoft.com/office/drawing/2014/main" id="{B1519432-5CF0-4F64-8A80-26508232D02A}"/>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8" name="Right Triangle 27">
              <a:extLst>
                <a:ext uri="{FF2B5EF4-FFF2-40B4-BE49-F238E27FC236}">
                  <a16:creationId xmlns:a16="http://schemas.microsoft.com/office/drawing/2014/main" id="{1F941EFF-0F2A-464A-B107-745EC084DFAC}"/>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30" name="Group 29">
            <a:extLst>
              <a:ext uri="{FF2B5EF4-FFF2-40B4-BE49-F238E27FC236}">
                <a16:creationId xmlns:a16="http://schemas.microsoft.com/office/drawing/2014/main" id="{E12916E9-078A-46C2-984E-803F3150D1E6}"/>
              </a:ext>
            </a:extLst>
          </p:cNvPr>
          <p:cNvGrpSpPr/>
          <p:nvPr/>
        </p:nvGrpSpPr>
        <p:grpSpPr>
          <a:xfrm>
            <a:off x="4543424" y="5011204"/>
            <a:ext cx="1267896" cy="890657"/>
            <a:chOff x="722829" y="2200279"/>
            <a:chExt cx="1944170" cy="1365718"/>
          </a:xfrm>
          <a:solidFill>
            <a:srgbClr val="F5E7C3"/>
          </a:solidFill>
        </p:grpSpPr>
        <p:sp>
          <p:nvSpPr>
            <p:cNvPr id="31" name="Rectangle 30">
              <a:extLst>
                <a:ext uri="{FF2B5EF4-FFF2-40B4-BE49-F238E27FC236}">
                  <a16:creationId xmlns:a16="http://schemas.microsoft.com/office/drawing/2014/main" id="{733A98A8-178D-46CB-AB27-C2000A90D370}"/>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a:t>
              </a:r>
              <a:r>
                <a:rPr lang="en-US" sz="1400" err="1">
                  <a:solidFill>
                    <a:schemeClr val="tx1"/>
                  </a:solidFill>
                </a:rPr>
                <a:t>pkg_name</a:t>
              </a:r>
              <a:r>
                <a:rPr lang="en-US" sz="1400">
                  <a:solidFill>
                    <a:schemeClr val="tx1"/>
                  </a:solidFill>
                </a:rPr>
                <a:t>]</a:t>
              </a:r>
            </a:p>
          </p:txBody>
        </p:sp>
        <p:sp>
          <p:nvSpPr>
            <p:cNvPr id="32" name="Right Triangle 31">
              <a:extLst>
                <a:ext uri="{FF2B5EF4-FFF2-40B4-BE49-F238E27FC236}">
                  <a16:creationId xmlns:a16="http://schemas.microsoft.com/office/drawing/2014/main" id="{F2DB5099-8696-448C-9D43-C50F735AED0F}"/>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ight Triangle 32">
              <a:extLst>
                <a:ext uri="{FF2B5EF4-FFF2-40B4-BE49-F238E27FC236}">
                  <a16:creationId xmlns:a16="http://schemas.microsoft.com/office/drawing/2014/main" id="{4B09EE08-9391-4969-AC2F-88D587CCF97B}"/>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34" name="Group 33">
            <a:extLst>
              <a:ext uri="{FF2B5EF4-FFF2-40B4-BE49-F238E27FC236}">
                <a16:creationId xmlns:a16="http://schemas.microsoft.com/office/drawing/2014/main" id="{5F74A650-A861-4065-BCCE-483D45E0FE99}"/>
              </a:ext>
            </a:extLst>
          </p:cNvPr>
          <p:cNvGrpSpPr/>
          <p:nvPr/>
        </p:nvGrpSpPr>
        <p:grpSpPr>
          <a:xfrm>
            <a:off x="4573453" y="3056875"/>
            <a:ext cx="1267896" cy="890657"/>
            <a:chOff x="722829" y="2200279"/>
            <a:chExt cx="1944170" cy="1365718"/>
          </a:xfrm>
          <a:solidFill>
            <a:srgbClr val="F5E7C3"/>
          </a:solidFill>
        </p:grpSpPr>
        <p:sp>
          <p:nvSpPr>
            <p:cNvPr id="35" name="Rectangle 34">
              <a:extLst>
                <a:ext uri="{FF2B5EF4-FFF2-40B4-BE49-F238E27FC236}">
                  <a16:creationId xmlns:a16="http://schemas.microsoft.com/office/drawing/2014/main" id="{5628041C-8AE9-40E7-9909-7D39DBFCF9D8}"/>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test</a:t>
              </a:r>
            </a:p>
          </p:txBody>
        </p:sp>
        <p:sp>
          <p:nvSpPr>
            <p:cNvPr id="36" name="Right Triangle 35">
              <a:extLst>
                <a:ext uri="{FF2B5EF4-FFF2-40B4-BE49-F238E27FC236}">
                  <a16:creationId xmlns:a16="http://schemas.microsoft.com/office/drawing/2014/main" id="{C1842309-F503-4DE7-86FF-B43D37F5EA3A}"/>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ight Triangle 36">
              <a:extLst>
                <a:ext uri="{FF2B5EF4-FFF2-40B4-BE49-F238E27FC236}">
                  <a16:creationId xmlns:a16="http://schemas.microsoft.com/office/drawing/2014/main" id="{ACB3ADBB-D381-4D90-9702-2D84E5F01585}"/>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2" name="Group 41">
            <a:extLst>
              <a:ext uri="{FF2B5EF4-FFF2-40B4-BE49-F238E27FC236}">
                <a16:creationId xmlns:a16="http://schemas.microsoft.com/office/drawing/2014/main" id="{0A9F7232-C2BC-442C-9E70-B311E05C0EB6}"/>
              </a:ext>
            </a:extLst>
          </p:cNvPr>
          <p:cNvGrpSpPr/>
          <p:nvPr/>
        </p:nvGrpSpPr>
        <p:grpSpPr>
          <a:xfrm>
            <a:off x="6926450" y="3068960"/>
            <a:ext cx="1267896" cy="890657"/>
            <a:chOff x="722829" y="2200279"/>
            <a:chExt cx="1944170" cy="1365718"/>
          </a:xfrm>
          <a:solidFill>
            <a:srgbClr val="F5E7C3"/>
          </a:solidFill>
        </p:grpSpPr>
        <p:sp>
          <p:nvSpPr>
            <p:cNvPr id="43" name="Rectangle 42">
              <a:extLst>
                <a:ext uri="{FF2B5EF4-FFF2-40B4-BE49-F238E27FC236}">
                  <a16:creationId xmlns:a16="http://schemas.microsoft.com/office/drawing/2014/main" id="{7AEAC141-FC8F-4A08-BE9F-3D4B3ED3637A}"/>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doc</a:t>
              </a:r>
            </a:p>
          </p:txBody>
        </p:sp>
        <p:sp>
          <p:nvSpPr>
            <p:cNvPr id="44" name="Right Triangle 43">
              <a:extLst>
                <a:ext uri="{FF2B5EF4-FFF2-40B4-BE49-F238E27FC236}">
                  <a16:creationId xmlns:a16="http://schemas.microsoft.com/office/drawing/2014/main" id="{3BD03B87-1B96-4AA8-BED9-0A1E42D4D060}"/>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5" name="Right Triangle 44">
              <a:extLst>
                <a:ext uri="{FF2B5EF4-FFF2-40B4-BE49-F238E27FC236}">
                  <a16:creationId xmlns:a16="http://schemas.microsoft.com/office/drawing/2014/main" id="{90BB3F69-E391-409C-AFE2-E234FA9102AF}"/>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55" name="Rectangle 54">
            <a:extLst>
              <a:ext uri="{FF2B5EF4-FFF2-40B4-BE49-F238E27FC236}">
                <a16:creationId xmlns:a16="http://schemas.microsoft.com/office/drawing/2014/main" id="{C5760CCA-A5E6-4ACE-8BEB-0E3AB2985416}"/>
              </a:ext>
            </a:extLst>
          </p:cNvPr>
          <p:cNvSpPr/>
          <p:nvPr/>
        </p:nvSpPr>
        <p:spPr>
          <a:xfrm>
            <a:off x="9320926" y="2027074"/>
            <a:ext cx="1124328" cy="828543"/>
          </a:xfrm>
          <a:prstGeom prst="rect">
            <a:avLst/>
          </a:prstGeom>
          <a:solidFill>
            <a:schemeClr val="bg1">
              <a:lumMod val="95000"/>
            </a:schemeClr>
          </a:solidFill>
          <a:ln w="28575">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CMakeLists.txt</a:t>
            </a:r>
          </a:p>
        </p:txBody>
      </p:sp>
      <p:sp>
        <p:nvSpPr>
          <p:cNvPr id="59" name="Rectangle 58">
            <a:extLst>
              <a:ext uri="{FF2B5EF4-FFF2-40B4-BE49-F238E27FC236}">
                <a16:creationId xmlns:a16="http://schemas.microsoft.com/office/drawing/2014/main" id="{9D9E90C5-8C9F-4D84-89DC-0E9917E7FFB2}"/>
              </a:ext>
            </a:extLst>
          </p:cNvPr>
          <p:cNvSpPr/>
          <p:nvPr/>
        </p:nvSpPr>
        <p:spPr>
          <a:xfrm>
            <a:off x="9320926" y="3140939"/>
            <a:ext cx="1124328" cy="8285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README</a:t>
            </a:r>
          </a:p>
        </p:txBody>
      </p:sp>
      <p:sp>
        <p:nvSpPr>
          <p:cNvPr id="67" name="Rectangle 66">
            <a:extLst>
              <a:ext uri="{FF2B5EF4-FFF2-40B4-BE49-F238E27FC236}">
                <a16:creationId xmlns:a16="http://schemas.microsoft.com/office/drawing/2014/main" id="{5BBB6A7A-91C3-47EE-BD1A-9EBB554698E5}"/>
              </a:ext>
            </a:extLst>
          </p:cNvPr>
          <p:cNvSpPr/>
          <p:nvPr/>
        </p:nvSpPr>
        <p:spPr>
          <a:xfrm>
            <a:off x="7070018" y="5103585"/>
            <a:ext cx="1124328" cy="828543"/>
          </a:xfrm>
          <a:prstGeom prst="rect">
            <a:avLst/>
          </a:prstGeom>
          <a:solidFill>
            <a:schemeClr val="bg1">
              <a:lumMod val="95000"/>
            </a:schemeClr>
          </a:solidFill>
          <a:ln w="28575">
            <a:solidFill>
              <a:srgbClr val="00FF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setup.py*</a:t>
            </a:r>
          </a:p>
        </p:txBody>
      </p:sp>
      <p:grpSp>
        <p:nvGrpSpPr>
          <p:cNvPr id="68" name="Group 67">
            <a:extLst>
              <a:ext uri="{FF2B5EF4-FFF2-40B4-BE49-F238E27FC236}">
                <a16:creationId xmlns:a16="http://schemas.microsoft.com/office/drawing/2014/main" id="{C950D2D3-9343-4DC0-8846-2F00D452D7B9}"/>
              </a:ext>
            </a:extLst>
          </p:cNvPr>
          <p:cNvGrpSpPr/>
          <p:nvPr/>
        </p:nvGrpSpPr>
        <p:grpSpPr>
          <a:xfrm>
            <a:off x="4584829" y="4026081"/>
            <a:ext cx="1267896" cy="890657"/>
            <a:chOff x="722829" y="2200279"/>
            <a:chExt cx="1944170" cy="1365718"/>
          </a:xfrm>
          <a:solidFill>
            <a:srgbClr val="F5E7C3"/>
          </a:solidFill>
        </p:grpSpPr>
        <p:sp>
          <p:nvSpPr>
            <p:cNvPr id="69" name="Rectangle 68">
              <a:extLst>
                <a:ext uri="{FF2B5EF4-FFF2-40B4-BE49-F238E27FC236}">
                  <a16:creationId xmlns:a16="http://schemas.microsoft.com/office/drawing/2014/main" id="{46F4D162-DB63-4A36-9CB9-DB65680FBB63}"/>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config</a:t>
              </a:r>
            </a:p>
          </p:txBody>
        </p:sp>
        <p:sp>
          <p:nvSpPr>
            <p:cNvPr id="70" name="Right Triangle 69">
              <a:extLst>
                <a:ext uri="{FF2B5EF4-FFF2-40B4-BE49-F238E27FC236}">
                  <a16:creationId xmlns:a16="http://schemas.microsoft.com/office/drawing/2014/main" id="{7F36C242-CD7E-459A-9294-81FFBFCA7927}"/>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1" name="Right Triangle 70">
              <a:extLst>
                <a:ext uri="{FF2B5EF4-FFF2-40B4-BE49-F238E27FC236}">
                  <a16:creationId xmlns:a16="http://schemas.microsoft.com/office/drawing/2014/main" id="{A481D35D-36B0-42C3-B3B8-41604496011F}"/>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72" name="Group 71">
            <a:extLst>
              <a:ext uri="{FF2B5EF4-FFF2-40B4-BE49-F238E27FC236}">
                <a16:creationId xmlns:a16="http://schemas.microsoft.com/office/drawing/2014/main" id="{66BC08A0-A02C-4FBA-9D5F-1CA577E86DBE}"/>
              </a:ext>
            </a:extLst>
          </p:cNvPr>
          <p:cNvGrpSpPr/>
          <p:nvPr/>
        </p:nvGrpSpPr>
        <p:grpSpPr>
          <a:xfrm>
            <a:off x="6925376" y="4056364"/>
            <a:ext cx="1267896" cy="890657"/>
            <a:chOff x="722829" y="2200279"/>
            <a:chExt cx="1944170" cy="1365718"/>
          </a:xfrm>
          <a:solidFill>
            <a:srgbClr val="F5E7C3"/>
          </a:solidFill>
        </p:grpSpPr>
        <p:sp>
          <p:nvSpPr>
            <p:cNvPr id="73" name="Rectangle 72">
              <a:extLst>
                <a:ext uri="{FF2B5EF4-FFF2-40B4-BE49-F238E27FC236}">
                  <a16:creationId xmlns:a16="http://schemas.microsoft.com/office/drawing/2014/main" id="{28BEBA53-56AD-408F-99E1-C04EE434D484}"/>
                </a:ext>
              </a:extLst>
            </p:cNvPr>
            <p:cNvSpPr/>
            <p:nvPr/>
          </p:nvSpPr>
          <p:spPr>
            <a:xfrm>
              <a:off x="942974" y="2295524"/>
              <a:ext cx="1724025" cy="127047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launch</a:t>
              </a:r>
            </a:p>
          </p:txBody>
        </p:sp>
        <p:sp>
          <p:nvSpPr>
            <p:cNvPr id="74" name="Right Triangle 73">
              <a:extLst>
                <a:ext uri="{FF2B5EF4-FFF2-40B4-BE49-F238E27FC236}">
                  <a16:creationId xmlns:a16="http://schemas.microsoft.com/office/drawing/2014/main" id="{FA6B9289-76EA-487A-A75D-2DB2EF88A3A5}"/>
                </a:ext>
              </a:extLst>
            </p:cNvPr>
            <p:cNvSpPr/>
            <p:nvPr/>
          </p:nvSpPr>
          <p:spPr>
            <a:xfrm rot="5400000">
              <a:off x="713840" y="2209268"/>
              <a:ext cx="752474" cy="734496"/>
            </a:xfrm>
            <a:prstGeom prst="rtTriangle">
              <a:avLst/>
            </a:prstGeom>
            <a:solidFill>
              <a:srgbClr val="F5E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5" name="Right Triangle 74">
              <a:extLst>
                <a:ext uri="{FF2B5EF4-FFF2-40B4-BE49-F238E27FC236}">
                  <a16:creationId xmlns:a16="http://schemas.microsoft.com/office/drawing/2014/main" id="{0E65E75D-2C9E-4B1E-A720-1BC5E0E3E201}"/>
                </a:ext>
              </a:extLst>
            </p:cNvPr>
            <p:cNvSpPr/>
            <p:nvPr/>
          </p:nvSpPr>
          <p:spPr>
            <a:xfrm rot="16200000">
              <a:off x="915952" y="2322547"/>
              <a:ext cx="454095" cy="400050"/>
            </a:xfrm>
            <a:prstGeom prst="rtTriangle">
              <a:avLst/>
            </a:prstGeom>
            <a:grp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76" name="Rectangle 75">
            <a:extLst>
              <a:ext uri="{FF2B5EF4-FFF2-40B4-BE49-F238E27FC236}">
                <a16:creationId xmlns:a16="http://schemas.microsoft.com/office/drawing/2014/main" id="{62D73499-3C70-4734-8F6B-6EA46125EFFC}"/>
              </a:ext>
            </a:extLst>
          </p:cNvPr>
          <p:cNvSpPr/>
          <p:nvPr/>
        </p:nvSpPr>
        <p:spPr>
          <a:xfrm>
            <a:off x="9336793" y="4104795"/>
            <a:ext cx="1124328" cy="828543"/>
          </a:xfrm>
          <a:prstGeom prst="rect">
            <a:avLst/>
          </a:prstGeom>
          <a:solidFill>
            <a:schemeClr val="bg1">
              <a:lumMod val="95000"/>
            </a:scheme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package.xml</a:t>
            </a:r>
          </a:p>
        </p:txBody>
      </p:sp>
      <p:sp>
        <p:nvSpPr>
          <p:cNvPr id="77" name="Rectangle 76">
            <a:extLst>
              <a:ext uri="{FF2B5EF4-FFF2-40B4-BE49-F238E27FC236}">
                <a16:creationId xmlns:a16="http://schemas.microsoft.com/office/drawing/2014/main" id="{FDD6B456-C657-4AD8-A71B-9A091D79AB0A}"/>
              </a:ext>
            </a:extLst>
          </p:cNvPr>
          <p:cNvSpPr/>
          <p:nvPr/>
        </p:nvSpPr>
        <p:spPr>
          <a:xfrm>
            <a:off x="9336793" y="5103585"/>
            <a:ext cx="1124328" cy="8285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LICENSE</a:t>
            </a:r>
          </a:p>
        </p:txBody>
      </p:sp>
      <p:sp>
        <p:nvSpPr>
          <p:cNvPr id="7" name="Arrow: Right 6">
            <a:extLst>
              <a:ext uri="{FF2B5EF4-FFF2-40B4-BE49-F238E27FC236}">
                <a16:creationId xmlns:a16="http://schemas.microsoft.com/office/drawing/2014/main" id="{6EEC669D-1B17-47D7-9AF1-2A776CE6FD4C}"/>
              </a:ext>
            </a:extLst>
          </p:cNvPr>
          <p:cNvSpPr/>
          <p:nvPr/>
        </p:nvSpPr>
        <p:spPr>
          <a:xfrm>
            <a:off x="2953442" y="3631880"/>
            <a:ext cx="986063" cy="5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DA2B37D-D656-4602-9777-8495999B2E02}"/>
              </a:ext>
            </a:extLst>
          </p:cNvPr>
          <p:cNvSpPr txBox="1"/>
          <p:nvPr/>
        </p:nvSpPr>
        <p:spPr>
          <a:xfrm>
            <a:off x="5854978" y="2206021"/>
            <a:ext cx="1124327" cy="369332"/>
          </a:xfrm>
          <a:prstGeom prst="rect">
            <a:avLst/>
          </a:prstGeom>
          <a:noFill/>
        </p:spPr>
        <p:txBody>
          <a:bodyPr wrap="square" rtlCol="0">
            <a:spAutoFit/>
          </a:bodyPr>
          <a:lstStyle/>
          <a:p>
            <a:r>
              <a:rPr lang="en-US"/>
              <a:t>C++ code</a:t>
            </a:r>
          </a:p>
        </p:txBody>
      </p:sp>
      <p:sp>
        <p:nvSpPr>
          <p:cNvPr id="82" name="TextBox 81">
            <a:extLst>
              <a:ext uri="{FF2B5EF4-FFF2-40B4-BE49-F238E27FC236}">
                <a16:creationId xmlns:a16="http://schemas.microsoft.com/office/drawing/2014/main" id="{6A8F55D1-6768-4DDB-A26C-599EB4D687CF}"/>
              </a:ext>
            </a:extLst>
          </p:cNvPr>
          <p:cNvSpPr txBox="1"/>
          <p:nvPr/>
        </p:nvSpPr>
        <p:spPr>
          <a:xfrm>
            <a:off x="8185229" y="2143654"/>
            <a:ext cx="1124327" cy="646331"/>
          </a:xfrm>
          <a:prstGeom prst="rect">
            <a:avLst/>
          </a:prstGeom>
          <a:noFill/>
        </p:spPr>
        <p:txBody>
          <a:bodyPr wrap="square" rtlCol="0">
            <a:spAutoFit/>
          </a:bodyPr>
          <a:lstStyle/>
          <a:p>
            <a:r>
              <a:rPr lang="en-US"/>
              <a:t>C++ Headers</a:t>
            </a:r>
          </a:p>
        </p:txBody>
      </p:sp>
      <p:sp>
        <p:nvSpPr>
          <p:cNvPr id="83" name="TextBox 82">
            <a:extLst>
              <a:ext uri="{FF2B5EF4-FFF2-40B4-BE49-F238E27FC236}">
                <a16:creationId xmlns:a16="http://schemas.microsoft.com/office/drawing/2014/main" id="{0CD8147D-C44E-4913-83BB-C1C5029C1584}"/>
              </a:ext>
            </a:extLst>
          </p:cNvPr>
          <p:cNvSpPr txBox="1"/>
          <p:nvPr/>
        </p:nvSpPr>
        <p:spPr>
          <a:xfrm>
            <a:off x="5811320" y="5322279"/>
            <a:ext cx="1124327" cy="369332"/>
          </a:xfrm>
          <a:prstGeom prst="rect">
            <a:avLst/>
          </a:prstGeom>
          <a:noFill/>
        </p:spPr>
        <p:txBody>
          <a:bodyPr wrap="square" rtlCol="0">
            <a:spAutoFit/>
          </a:bodyPr>
          <a:lstStyle/>
          <a:p>
            <a:r>
              <a:rPr lang="en-US" err="1"/>
              <a:t>py</a:t>
            </a:r>
            <a:r>
              <a:rPr lang="en-US"/>
              <a:t> code</a:t>
            </a:r>
          </a:p>
        </p:txBody>
      </p:sp>
      <p:sp>
        <p:nvSpPr>
          <p:cNvPr id="84" name="TextBox 83">
            <a:extLst>
              <a:ext uri="{FF2B5EF4-FFF2-40B4-BE49-F238E27FC236}">
                <a16:creationId xmlns:a16="http://schemas.microsoft.com/office/drawing/2014/main" id="{7909993D-C5D7-4BB2-8654-A2A40EDDD850}"/>
              </a:ext>
            </a:extLst>
          </p:cNvPr>
          <p:cNvSpPr txBox="1"/>
          <p:nvPr/>
        </p:nvSpPr>
        <p:spPr>
          <a:xfrm>
            <a:off x="8212466" y="4266548"/>
            <a:ext cx="1124327" cy="646331"/>
          </a:xfrm>
          <a:prstGeom prst="rect">
            <a:avLst/>
          </a:prstGeom>
          <a:noFill/>
        </p:spPr>
        <p:txBody>
          <a:bodyPr wrap="square" rtlCol="0">
            <a:spAutoFit/>
          </a:bodyPr>
          <a:lstStyle/>
          <a:p>
            <a:r>
              <a:rPr lang="en-US"/>
              <a:t>Launch file</a:t>
            </a:r>
          </a:p>
        </p:txBody>
      </p:sp>
      <p:sp>
        <p:nvSpPr>
          <p:cNvPr id="85" name="TextBox 84">
            <a:extLst>
              <a:ext uri="{FF2B5EF4-FFF2-40B4-BE49-F238E27FC236}">
                <a16:creationId xmlns:a16="http://schemas.microsoft.com/office/drawing/2014/main" id="{C44D84B2-AC4C-4739-A597-9A4B349E9D54}"/>
              </a:ext>
            </a:extLst>
          </p:cNvPr>
          <p:cNvSpPr txBox="1"/>
          <p:nvPr/>
        </p:nvSpPr>
        <p:spPr>
          <a:xfrm>
            <a:off x="10461079" y="2161266"/>
            <a:ext cx="1124327" cy="369332"/>
          </a:xfrm>
          <a:prstGeom prst="rect">
            <a:avLst/>
          </a:prstGeom>
          <a:noFill/>
        </p:spPr>
        <p:txBody>
          <a:bodyPr wrap="square" rtlCol="0">
            <a:spAutoFit/>
          </a:bodyPr>
          <a:lstStyle/>
          <a:p>
            <a:r>
              <a:rPr lang="en-US" err="1"/>
              <a:t>CMake</a:t>
            </a:r>
            <a:endParaRPr lang="en-US"/>
          </a:p>
        </p:txBody>
      </p:sp>
      <p:sp>
        <p:nvSpPr>
          <p:cNvPr id="86" name="TextBox 85">
            <a:extLst>
              <a:ext uri="{FF2B5EF4-FFF2-40B4-BE49-F238E27FC236}">
                <a16:creationId xmlns:a16="http://schemas.microsoft.com/office/drawing/2014/main" id="{036726AE-BA08-4A3E-8ED5-398F0569D44A}"/>
              </a:ext>
            </a:extLst>
          </p:cNvPr>
          <p:cNvSpPr txBox="1"/>
          <p:nvPr/>
        </p:nvSpPr>
        <p:spPr>
          <a:xfrm>
            <a:off x="5814401" y="4175602"/>
            <a:ext cx="1322950" cy="646331"/>
          </a:xfrm>
          <a:prstGeom prst="rect">
            <a:avLst/>
          </a:prstGeom>
          <a:noFill/>
        </p:spPr>
        <p:txBody>
          <a:bodyPr wrap="square" rtlCol="0">
            <a:spAutoFit/>
          </a:bodyPr>
          <a:lstStyle/>
          <a:p>
            <a:r>
              <a:rPr lang="en-US"/>
              <a:t>Setting Parameters</a:t>
            </a:r>
          </a:p>
        </p:txBody>
      </p:sp>
      <p:sp>
        <p:nvSpPr>
          <p:cNvPr id="87" name="TextBox 86">
            <a:extLst>
              <a:ext uri="{FF2B5EF4-FFF2-40B4-BE49-F238E27FC236}">
                <a16:creationId xmlns:a16="http://schemas.microsoft.com/office/drawing/2014/main" id="{54123D98-D34E-4817-9EBF-187535F7A579}"/>
              </a:ext>
            </a:extLst>
          </p:cNvPr>
          <p:cNvSpPr txBox="1"/>
          <p:nvPr/>
        </p:nvSpPr>
        <p:spPr>
          <a:xfrm>
            <a:off x="5835550" y="3346920"/>
            <a:ext cx="1322950" cy="369332"/>
          </a:xfrm>
          <a:prstGeom prst="rect">
            <a:avLst/>
          </a:prstGeom>
          <a:noFill/>
        </p:spPr>
        <p:txBody>
          <a:bodyPr wrap="square" rtlCol="0">
            <a:spAutoFit/>
          </a:bodyPr>
          <a:lstStyle/>
          <a:p>
            <a:r>
              <a:rPr lang="en-US"/>
              <a:t>Test data</a:t>
            </a:r>
          </a:p>
        </p:txBody>
      </p:sp>
      <p:sp>
        <p:nvSpPr>
          <p:cNvPr id="88" name="TextBox 87">
            <a:extLst>
              <a:ext uri="{FF2B5EF4-FFF2-40B4-BE49-F238E27FC236}">
                <a16:creationId xmlns:a16="http://schemas.microsoft.com/office/drawing/2014/main" id="{992928B4-C8F6-44DE-A259-A9351E73B766}"/>
              </a:ext>
            </a:extLst>
          </p:cNvPr>
          <p:cNvSpPr txBox="1"/>
          <p:nvPr/>
        </p:nvSpPr>
        <p:spPr>
          <a:xfrm>
            <a:off x="8199961" y="3360679"/>
            <a:ext cx="1322950" cy="369332"/>
          </a:xfrm>
          <a:prstGeom prst="rect">
            <a:avLst/>
          </a:prstGeom>
          <a:noFill/>
        </p:spPr>
        <p:txBody>
          <a:bodyPr wrap="square" rtlCol="0">
            <a:spAutoFit/>
          </a:bodyPr>
          <a:lstStyle/>
          <a:p>
            <a:r>
              <a:rPr lang="en-US"/>
              <a:t>.doc/.pdf</a:t>
            </a:r>
          </a:p>
        </p:txBody>
      </p:sp>
      <p:sp>
        <p:nvSpPr>
          <p:cNvPr id="89" name="TextBox 88">
            <a:extLst>
              <a:ext uri="{FF2B5EF4-FFF2-40B4-BE49-F238E27FC236}">
                <a16:creationId xmlns:a16="http://schemas.microsoft.com/office/drawing/2014/main" id="{21DF61F0-E4D5-4174-88CF-AD5C64F5BE90}"/>
              </a:ext>
            </a:extLst>
          </p:cNvPr>
          <p:cNvSpPr txBox="1"/>
          <p:nvPr/>
        </p:nvSpPr>
        <p:spPr>
          <a:xfrm>
            <a:off x="3817435" y="6056703"/>
            <a:ext cx="8375716" cy="369332"/>
          </a:xfrm>
          <a:prstGeom prst="rect">
            <a:avLst/>
          </a:prstGeom>
          <a:noFill/>
        </p:spPr>
        <p:txBody>
          <a:bodyPr wrap="square" lIns="91440" tIns="45720" rIns="91440" bIns="45720" anchor="t">
            <a:spAutoFit/>
          </a:bodyPr>
          <a:lstStyle/>
          <a:p>
            <a:r>
              <a:rPr lang="en-US">
                <a:ea typeface="+mn-lt"/>
                <a:cs typeface="+mn-lt"/>
              </a:rPr>
              <a:t>https://automaticaddison.com/organizing-files-and-folders-inside-a-ros-2-package/</a:t>
            </a:r>
          </a:p>
        </p:txBody>
      </p:sp>
      <p:pic>
        <p:nvPicPr>
          <p:cNvPr id="10" name="Google Shape;67;p15">
            <a:extLst>
              <a:ext uri="{FF2B5EF4-FFF2-40B4-BE49-F238E27FC236}">
                <a16:creationId xmlns:a16="http://schemas.microsoft.com/office/drawing/2014/main" id="{06004A41-0726-CBAE-92DC-B41C3C4AABA2}"/>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12" name="TextBox 11">
            <a:extLst>
              <a:ext uri="{FF2B5EF4-FFF2-40B4-BE49-F238E27FC236}">
                <a16:creationId xmlns:a16="http://schemas.microsoft.com/office/drawing/2014/main" id="{6A929CE5-0965-E868-E284-5086E3774649}"/>
              </a:ext>
            </a:extLst>
          </p:cNvPr>
          <p:cNvSpPr txBox="1"/>
          <p:nvPr/>
        </p:nvSpPr>
        <p:spPr>
          <a:xfrm>
            <a:off x="10556470" y="4357064"/>
            <a:ext cx="1124327" cy="646331"/>
          </a:xfrm>
          <a:prstGeom prst="rect">
            <a:avLst/>
          </a:prstGeom>
          <a:noFill/>
        </p:spPr>
        <p:txBody>
          <a:bodyPr wrap="square" rtlCol="0">
            <a:spAutoFit/>
          </a:bodyPr>
          <a:lstStyle/>
          <a:p>
            <a:r>
              <a:rPr lang="en-US"/>
              <a:t>Package Identifier</a:t>
            </a:r>
          </a:p>
        </p:txBody>
      </p:sp>
      <p:sp>
        <p:nvSpPr>
          <p:cNvPr id="11" name="TextBox 10">
            <a:extLst>
              <a:ext uri="{FF2B5EF4-FFF2-40B4-BE49-F238E27FC236}">
                <a16:creationId xmlns:a16="http://schemas.microsoft.com/office/drawing/2014/main" id="{B49A9C58-E918-BE6D-1B7F-90D23BB6C32E}"/>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3" name="TextBox 2">
            <a:extLst>
              <a:ext uri="{FF2B5EF4-FFF2-40B4-BE49-F238E27FC236}">
                <a16:creationId xmlns:a16="http://schemas.microsoft.com/office/drawing/2014/main" id="{AF55117D-5AAA-EB2C-D5A1-EAC459B7812E}"/>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54106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en-US" dirty="0">
                <a:cs typeface="Calibri Light"/>
              </a:rPr>
              <a:t>Creating a ROS Package</a:t>
            </a:r>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53</a:t>
            </a:fld>
            <a:endParaRPr lang="en-US"/>
          </a:p>
        </p:txBody>
      </p:sp>
      <p:sp>
        <p:nvSpPr>
          <p:cNvPr id="19" name="TextBox 18">
            <a:extLst>
              <a:ext uri="{FF2B5EF4-FFF2-40B4-BE49-F238E27FC236}">
                <a16:creationId xmlns:a16="http://schemas.microsoft.com/office/drawing/2014/main" id="{009432C9-30F5-48E0-9824-7858D2FE87AB}"/>
              </a:ext>
            </a:extLst>
          </p:cNvPr>
          <p:cNvSpPr txBox="1"/>
          <p:nvPr/>
        </p:nvSpPr>
        <p:spPr>
          <a:xfrm>
            <a:off x="7113785" y="2566767"/>
            <a:ext cx="4598670" cy="461665"/>
          </a:xfrm>
          <a:prstGeom prst="rect">
            <a:avLst/>
          </a:prstGeom>
          <a:noFill/>
        </p:spPr>
        <p:txBody>
          <a:bodyPr wrap="square" lIns="91440" tIns="45720" rIns="91440" bIns="45720" rtlCol="0" anchor="t">
            <a:spAutoFit/>
          </a:bodyPr>
          <a:lstStyle/>
          <a:p>
            <a:r>
              <a:rPr lang="en-US" sz="2400"/>
              <a:t>Package</a:t>
            </a:r>
            <a:r>
              <a:rPr lang="en-US" sz="2400">
                <a:cs typeface="Calibri"/>
              </a:rPr>
              <a:t> </a:t>
            </a:r>
            <a:r>
              <a:rPr lang="en-US" sz="2400"/>
              <a:t>with Python</a:t>
            </a:r>
            <a:endParaRPr lang="en-US" sz="2400">
              <a:cs typeface="Calibri"/>
            </a:endParaRPr>
          </a:p>
        </p:txBody>
      </p:sp>
      <p:sp>
        <p:nvSpPr>
          <p:cNvPr id="13" name="TextBox 12">
            <a:extLst>
              <a:ext uri="{FF2B5EF4-FFF2-40B4-BE49-F238E27FC236}">
                <a16:creationId xmlns:a16="http://schemas.microsoft.com/office/drawing/2014/main" id="{66EF0498-EB3F-41D9-8641-403C4A80ED74}"/>
              </a:ext>
            </a:extLst>
          </p:cNvPr>
          <p:cNvSpPr txBox="1"/>
          <p:nvPr/>
        </p:nvSpPr>
        <p:spPr>
          <a:xfrm>
            <a:off x="593845" y="2382101"/>
            <a:ext cx="6064129" cy="646331"/>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chemeClr val="tx1"/>
                </a:solidFill>
                <a:effectLst/>
              </a:rPr>
              <a:t>&gt;&gt; cd </a:t>
            </a:r>
            <a:r>
              <a:rPr lang="en-US" altLang="en-US"/>
              <a:t>~/[xxx]_</a:t>
            </a:r>
            <a:r>
              <a:rPr lang="en-US" altLang="en-US" err="1"/>
              <a:t>ws</a:t>
            </a:r>
            <a:r>
              <a:rPr lang="en-US" altLang="en-US"/>
              <a:t>/</a:t>
            </a:r>
            <a:r>
              <a:rPr lang="en-US" altLang="en-US" err="1"/>
              <a:t>src</a:t>
            </a:r>
            <a:br>
              <a:rPr lang="en-US" altLang="en-US"/>
            </a:br>
            <a:r>
              <a:rPr kumimoji="0" lang="en-US" altLang="en-US" sz="1800" b="0" i="0" u="none" strike="noStrike" cap="none" normalizeH="0" baseline="0">
                <a:ln>
                  <a:noFill/>
                </a:ln>
                <a:solidFill>
                  <a:schemeClr val="tx1"/>
                </a:solidFill>
                <a:effectLst/>
              </a:rPr>
              <a:t>&gt;&gt; ros2 pkg create --build-type </a:t>
            </a:r>
            <a:r>
              <a:rPr kumimoji="0" lang="en-US" altLang="en-US" sz="1800" b="0" i="0" u="none" strike="noStrike" cap="none" normalizeH="0" baseline="0" err="1">
                <a:ln>
                  <a:noFill/>
                </a:ln>
                <a:solidFill>
                  <a:schemeClr val="tx1"/>
                </a:solidFill>
                <a:effectLst/>
              </a:rPr>
              <a:t>ament_python</a:t>
            </a:r>
            <a:r>
              <a:rPr kumimoji="0" lang="en-US" altLang="en-US" sz="1800" b="0" i="0" u="none" strike="noStrike" cap="none" normalizeH="0" baseline="0">
                <a:ln>
                  <a:noFill/>
                </a:ln>
                <a:solidFill>
                  <a:schemeClr val="tx1"/>
                </a:solidFill>
                <a:effectLst/>
              </a:rPr>
              <a:t> [</a:t>
            </a:r>
            <a:r>
              <a:rPr kumimoji="0" lang="en-US" altLang="en-US" sz="1800" b="0" i="0" u="none" strike="noStrike" cap="none" normalizeH="0" baseline="0" err="1">
                <a:ln>
                  <a:noFill/>
                </a:ln>
                <a:solidFill>
                  <a:schemeClr val="tx1"/>
                </a:solidFill>
                <a:effectLst/>
              </a:rPr>
              <a:t>package_name</a:t>
            </a:r>
            <a:r>
              <a:rPr kumimoji="0" lang="en-US" altLang="en-US" sz="1800" b="0" i="0" u="none" strike="noStrike" cap="none" normalizeH="0" baseline="0">
                <a:ln>
                  <a:noFill/>
                </a:ln>
                <a:solidFill>
                  <a:schemeClr val="tx1"/>
                </a:solidFill>
                <a:effectLst/>
              </a:rPr>
              <a:t>]</a:t>
            </a:r>
          </a:p>
        </p:txBody>
      </p:sp>
      <p:sp>
        <p:nvSpPr>
          <p:cNvPr id="10" name="TextBox 9">
            <a:extLst>
              <a:ext uri="{FF2B5EF4-FFF2-40B4-BE49-F238E27FC236}">
                <a16:creationId xmlns:a16="http://schemas.microsoft.com/office/drawing/2014/main" id="{CB9B76AB-10EB-4366-BCB8-E44712AC0A44}"/>
              </a:ext>
            </a:extLst>
          </p:cNvPr>
          <p:cNvSpPr txBox="1"/>
          <p:nvPr/>
        </p:nvSpPr>
        <p:spPr>
          <a:xfrm>
            <a:off x="633412" y="4210759"/>
            <a:ext cx="6113145" cy="830997"/>
          </a:xfrm>
          <a:prstGeom prst="rect">
            <a:avLst/>
          </a:prstGeom>
          <a:noFill/>
        </p:spPr>
        <p:txBody>
          <a:bodyPr wrap="square" lIns="91440" tIns="45720" rIns="91440" bIns="45720" rtlCol="0" anchor="t">
            <a:spAutoFit/>
          </a:bodyPr>
          <a:lstStyle/>
          <a:p>
            <a:r>
              <a:rPr lang="en-US" sz="2400"/>
              <a:t>The package that we create must be in the </a:t>
            </a:r>
            <a:r>
              <a:rPr lang="en-US" sz="2400" err="1"/>
              <a:t>src</a:t>
            </a:r>
            <a:r>
              <a:rPr lang="en-US" sz="2400"/>
              <a:t> directory of our workspace. </a:t>
            </a:r>
            <a:endParaRPr lang="en-US" sz="2400">
              <a:cs typeface="Calibri" panose="020F0502020204030204"/>
            </a:endParaRPr>
          </a:p>
        </p:txBody>
      </p:sp>
      <p:sp>
        <p:nvSpPr>
          <p:cNvPr id="12" name="TextBox 11">
            <a:extLst>
              <a:ext uri="{FF2B5EF4-FFF2-40B4-BE49-F238E27FC236}">
                <a16:creationId xmlns:a16="http://schemas.microsoft.com/office/drawing/2014/main" id="{48428FAE-629F-4DC1-B752-53621DBE9EA2}"/>
              </a:ext>
            </a:extLst>
          </p:cNvPr>
          <p:cNvSpPr txBox="1"/>
          <p:nvPr/>
        </p:nvSpPr>
        <p:spPr>
          <a:xfrm>
            <a:off x="2610806" y="5435187"/>
            <a:ext cx="5838645" cy="830997"/>
          </a:xfrm>
          <a:prstGeom prst="rect">
            <a:avLst/>
          </a:prstGeom>
          <a:noFill/>
        </p:spPr>
        <p:txBody>
          <a:bodyPr wrap="square" lIns="91440" tIns="45720" rIns="91440" bIns="45720" rtlCol="0" anchor="t">
            <a:spAutoFit/>
          </a:bodyPr>
          <a:lstStyle/>
          <a:p>
            <a:r>
              <a:rPr lang="th-TH" sz="2400" err="1">
                <a:cs typeface="Cordia New"/>
              </a:rPr>
              <a:t>W</a:t>
            </a:r>
            <a:r>
              <a:rPr lang="th-TH" sz="2400" err="1">
                <a:ea typeface="+mn-lt"/>
                <a:cs typeface="+mn-lt"/>
              </a:rPr>
              <a:t>Creating</a:t>
            </a:r>
            <a:r>
              <a:rPr lang="th-TH" sz="2400">
                <a:ea typeface="+mn-lt"/>
                <a:cs typeface="+mn-lt"/>
              </a:rPr>
              <a:t> a ROS </a:t>
            </a:r>
            <a:r>
              <a:rPr lang="th-TH" sz="2400" err="1">
                <a:ea typeface="+mn-lt"/>
                <a:cs typeface="+mn-lt"/>
              </a:rPr>
              <a:t>Package</a:t>
            </a:r>
            <a:r>
              <a:rPr lang="th-TH" sz="2400" err="1">
                <a:cs typeface="Cordia New"/>
              </a:rPr>
              <a:t>hat</a:t>
            </a:r>
            <a:r>
              <a:rPr lang="th-TH" sz="2400">
                <a:cs typeface="Cordia New"/>
              </a:rPr>
              <a:t> </a:t>
            </a:r>
            <a:r>
              <a:rPr lang="th-TH" sz="2400" err="1">
                <a:cs typeface="Cordia New"/>
              </a:rPr>
              <a:t>if</a:t>
            </a:r>
            <a:r>
              <a:rPr lang="th-TH" sz="2400">
                <a:cs typeface="Cordia New"/>
              </a:rPr>
              <a:t> </a:t>
            </a:r>
            <a:r>
              <a:rPr lang="th-TH" sz="2400" err="1">
                <a:cs typeface="Cordia New"/>
              </a:rPr>
              <a:t>we</a:t>
            </a:r>
            <a:r>
              <a:rPr lang="th-TH" sz="2400">
                <a:cs typeface="Cordia New"/>
              </a:rPr>
              <a:t> </a:t>
            </a:r>
            <a:r>
              <a:rPr lang="th-TH" sz="2400" err="1">
                <a:cs typeface="Cordia New"/>
              </a:rPr>
              <a:t>have</a:t>
            </a:r>
            <a:r>
              <a:rPr lang="th-TH" sz="2400">
                <a:cs typeface="Cordia New"/>
              </a:rPr>
              <a:t> </a:t>
            </a:r>
            <a:r>
              <a:rPr lang="th-TH" sz="2400" err="1">
                <a:cs typeface="Cordia New"/>
              </a:rPr>
              <a:t>both</a:t>
            </a:r>
            <a:r>
              <a:rPr lang="th-TH" sz="2400">
                <a:cs typeface="Cordia New"/>
              </a:rPr>
              <a:t> C++ and </a:t>
            </a:r>
            <a:r>
              <a:rPr lang="th-TH" sz="2400" err="1">
                <a:cs typeface="Cordia New"/>
              </a:rPr>
              <a:t>Python</a:t>
            </a:r>
            <a:r>
              <a:rPr lang="th-TH" sz="2400">
                <a:cs typeface="Cordia New"/>
              </a:rPr>
              <a:t> </a:t>
            </a:r>
            <a:r>
              <a:rPr lang="th-TH" sz="2400" err="1">
                <a:cs typeface="Cordia New"/>
              </a:rPr>
              <a:t>files</a:t>
            </a:r>
            <a:r>
              <a:rPr lang="th-TH" sz="2400">
                <a:cs typeface="Cordia New"/>
              </a:rPr>
              <a:t> ?</a:t>
            </a:r>
            <a:endParaRPr lang="en-US"/>
          </a:p>
        </p:txBody>
      </p:sp>
      <p:sp>
        <p:nvSpPr>
          <p:cNvPr id="14" name="TextBox 13">
            <a:extLst>
              <a:ext uri="{FF2B5EF4-FFF2-40B4-BE49-F238E27FC236}">
                <a16:creationId xmlns:a16="http://schemas.microsoft.com/office/drawing/2014/main" id="{677BE746-95B6-4ADA-BB0E-1B7A825D0204}"/>
              </a:ext>
            </a:extLst>
          </p:cNvPr>
          <p:cNvSpPr txBox="1"/>
          <p:nvPr/>
        </p:nvSpPr>
        <p:spPr>
          <a:xfrm>
            <a:off x="7113785" y="3565998"/>
            <a:ext cx="4598670" cy="461665"/>
          </a:xfrm>
          <a:prstGeom prst="rect">
            <a:avLst/>
          </a:prstGeom>
          <a:noFill/>
        </p:spPr>
        <p:txBody>
          <a:bodyPr wrap="square" lIns="91440" tIns="45720" rIns="91440" bIns="45720" rtlCol="0" anchor="t">
            <a:spAutoFit/>
          </a:bodyPr>
          <a:lstStyle/>
          <a:p>
            <a:r>
              <a:rPr lang="en-US" sz="2400"/>
              <a:t>Package</a:t>
            </a:r>
            <a:r>
              <a:rPr lang="en-US" sz="2400">
                <a:cs typeface="Calibri"/>
              </a:rPr>
              <a:t> </a:t>
            </a:r>
            <a:r>
              <a:rPr lang="en-US" sz="2400"/>
              <a:t>with C</a:t>
            </a:r>
            <a:r>
              <a:rPr lang="en-US" sz="2400">
                <a:cs typeface="Calibri"/>
              </a:rPr>
              <a:t>++</a:t>
            </a:r>
          </a:p>
        </p:txBody>
      </p:sp>
      <p:sp>
        <p:nvSpPr>
          <p:cNvPr id="15" name="TextBox 14">
            <a:extLst>
              <a:ext uri="{FF2B5EF4-FFF2-40B4-BE49-F238E27FC236}">
                <a16:creationId xmlns:a16="http://schemas.microsoft.com/office/drawing/2014/main" id="{C7B3A74C-280C-4129-AA63-104E19455D66}"/>
              </a:ext>
            </a:extLst>
          </p:cNvPr>
          <p:cNvSpPr txBox="1"/>
          <p:nvPr/>
        </p:nvSpPr>
        <p:spPr>
          <a:xfrm>
            <a:off x="593845" y="3381332"/>
            <a:ext cx="6064129" cy="646331"/>
          </a:xfrm>
          <a:prstGeom prst="rect">
            <a:avLst/>
          </a:prstGeom>
          <a:noFill/>
          <a:ln>
            <a:solidFill>
              <a:schemeClr val="accent1"/>
            </a:solidFill>
          </a:ln>
        </p:spPr>
        <p:txBody>
          <a:bodyPr wrap="square" rtlCol="0">
            <a:spAutoFit/>
          </a:bodyPr>
          <a:lstStyle/>
          <a:p>
            <a:r>
              <a:rPr kumimoji="0" lang="en-US" altLang="en-US" sz="1800" b="0" i="0" u="none" strike="noStrike" cap="none" normalizeH="0" baseline="0">
                <a:ln>
                  <a:noFill/>
                </a:ln>
                <a:solidFill>
                  <a:schemeClr val="tx1"/>
                </a:solidFill>
                <a:effectLst/>
              </a:rPr>
              <a:t>&gt;&gt; cd </a:t>
            </a:r>
            <a:r>
              <a:rPr lang="en-US" altLang="en-US"/>
              <a:t>~/[xxx]_</a:t>
            </a:r>
            <a:r>
              <a:rPr lang="en-US" altLang="en-US" err="1"/>
              <a:t>ws</a:t>
            </a:r>
            <a:r>
              <a:rPr lang="en-US" altLang="en-US"/>
              <a:t>/</a:t>
            </a:r>
            <a:r>
              <a:rPr lang="en-US" altLang="en-US" err="1"/>
              <a:t>src</a:t>
            </a:r>
            <a:br>
              <a:rPr lang="en-US" altLang="en-US"/>
            </a:br>
            <a:r>
              <a:rPr kumimoji="0" lang="en-US" altLang="en-US" sz="1800" b="0" i="0" u="none" strike="noStrike" cap="none" normalizeH="0" baseline="0">
                <a:ln>
                  <a:noFill/>
                </a:ln>
                <a:solidFill>
                  <a:schemeClr val="tx1"/>
                </a:solidFill>
                <a:effectLst/>
              </a:rPr>
              <a:t>&gt;&gt; ros2 pkg create --build-type </a:t>
            </a:r>
            <a:r>
              <a:rPr kumimoji="0" lang="en-US" altLang="en-US" sz="1800" b="0" i="0" u="none" strike="noStrike" cap="none" normalizeH="0" baseline="0" err="1">
                <a:ln>
                  <a:noFill/>
                </a:ln>
                <a:solidFill>
                  <a:schemeClr val="tx1"/>
                </a:solidFill>
                <a:effectLst/>
              </a:rPr>
              <a:t>ament_</a:t>
            </a:r>
            <a:r>
              <a:rPr lang="en-US" altLang="en-US" err="1"/>
              <a:t>cmake</a:t>
            </a:r>
            <a:r>
              <a:rPr kumimoji="0" lang="en-US" altLang="en-US" sz="1800" b="0" i="0" u="none" strike="noStrike" cap="none" normalizeH="0" baseline="0">
                <a:ln>
                  <a:noFill/>
                </a:ln>
                <a:solidFill>
                  <a:schemeClr val="tx1"/>
                </a:solidFill>
                <a:effectLst/>
              </a:rPr>
              <a:t> [</a:t>
            </a:r>
            <a:r>
              <a:rPr kumimoji="0" lang="en-US" altLang="en-US" sz="1800" b="0" i="0" u="none" strike="noStrike" cap="none" normalizeH="0" baseline="0" err="1">
                <a:ln>
                  <a:noFill/>
                </a:ln>
                <a:solidFill>
                  <a:schemeClr val="tx1"/>
                </a:solidFill>
                <a:effectLst/>
              </a:rPr>
              <a:t>package_name</a:t>
            </a:r>
            <a:r>
              <a:rPr kumimoji="0" lang="en-US" altLang="en-US" sz="1800" b="0" i="0" u="none" strike="noStrike" cap="none" normalizeH="0" baseline="0">
                <a:ln>
                  <a:noFill/>
                </a:ln>
                <a:solidFill>
                  <a:schemeClr val="tx1"/>
                </a:solidFill>
                <a:effectLst/>
              </a:rPr>
              <a:t>]</a:t>
            </a:r>
          </a:p>
        </p:txBody>
      </p:sp>
      <p:pic>
        <p:nvPicPr>
          <p:cNvPr id="5" name="Google Shape;67;p15">
            <a:extLst>
              <a:ext uri="{FF2B5EF4-FFF2-40B4-BE49-F238E27FC236}">
                <a16:creationId xmlns:a16="http://schemas.microsoft.com/office/drawing/2014/main" id="{18A0D90F-A67D-5696-8D21-FBD7B903EA86}"/>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6" name="TextBox 5">
            <a:extLst>
              <a:ext uri="{FF2B5EF4-FFF2-40B4-BE49-F238E27FC236}">
                <a16:creationId xmlns:a16="http://schemas.microsoft.com/office/drawing/2014/main" id="{D0FC3FB9-6F59-642D-42B9-79D95B6E7229}"/>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7" name="TextBox 2">
            <a:extLst>
              <a:ext uri="{FF2B5EF4-FFF2-40B4-BE49-F238E27FC236}">
                <a16:creationId xmlns:a16="http://schemas.microsoft.com/office/drawing/2014/main" id="{06E44BF9-BAA7-10F6-8EB5-2C4CBCA11D8B}"/>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48383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CF9A-EA33-4D42-9362-41DFD92FD335}"/>
              </a:ext>
            </a:extLst>
          </p:cNvPr>
          <p:cNvSpPr>
            <a:spLocks noGrp="1"/>
          </p:cNvSpPr>
          <p:nvPr>
            <p:ph type="title"/>
          </p:nvPr>
        </p:nvSpPr>
        <p:spPr/>
        <p:txBody>
          <a:bodyPr/>
          <a:lstStyle/>
          <a:p>
            <a:r>
              <a:rPr lang="th-TH" dirty="0">
                <a:cs typeface="Angsana New"/>
              </a:rPr>
              <a:t>Creating my_first_pkg</a:t>
            </a:r>
            <a:endParaRPr lang="en-US" dirty="0"/>
          </a:p>
        </p:txBody>
      </p:sp>
      <p:sp>
        <p:nvSpPr>
          <p:cNvPr id="4" name="Slide Number Placeholder 3">
            <a:extLst>
              <a:ext uri="{FF2B5EF4-FFF2-40B4-BE49-F238E27FC236}">
                <a16:creationId xmlns:a16="http://schemas.microsoft.com/office/drawing/2014/main" id="{C734EEDE-955B-463B-9775-01647BDC5CDE}"/>
              </a:ext>
            </a:extLst>
          </p:cNvPr>
          <p:cNvSpPr>
            <a:spLocks noGrp="1"/>
          </p:cNvSpPr>
          <p:nvPr>
            <p:ph type="sldNum" sz="quarter" idx="12"/>
          </p:nvPr>
        </p:nvSpPr>
        <p:spPr/>
        <p:txBody>
          <a:bodyPr/>
          <a:lstStyle/>
          <a:p>
            <a:fld id="{CB38A507-EE2F-4DA2-8FD6-EA9443559B23}" type="slidenum">
              <a:rPr lang="en-US" smtClean="0"/>
              <a:t>54</a:t>
            </a:fld>
            <a:endParaRPr lang="en-US"/>
          </a:p>
        </p:txBody>
      </p:sp>
      <p:sp>
        <p:nvSpPr>
          <p:cNvPr id="13" name="TextBox 12">
            <a:extLst>
              <a:ext uri="{FF2B5EF4-FFF2-40B4-BE49-F238E27FC236}">
                <a16:creationId xmlns:a16="http://schemas.microsoft.com/office/drawing/2014/main" id="{66EF0498-EB3F-41D9-8641-403C4A80ED74}"/>
              </a:ext>
            </a:extLst>
          </p:cNvPr>
          <p:cNvSpPr txBox="1"/>
          <p:nvPr/>
        </p:nvSpPr>
        <p:spPr>
          <a:xfrm>
            <a:off x="2809874" y="2527791"/>
            <a:ext cx="6519940" cy="2862322"/>
          </a:xfrm>
          <a:prstGeom prst="rect">
            <a:avLst/>
          </a:prstGeom>
          <a:noFill/>
          <a:ln>
            <a:solidFill>
              <a:schemeClr val="accent1"/>
            </a:solidFill>
          </a:ln>
        </p:spPr>
        <p:txBody>
          <a:bodyPr wrap="square" lIns="91440" tIns="45720" rIns="91440" bIns="45720" rtlCol="0" anchor="t">
            <a:spAutoFit/>
          </a:bodyPr>
          <a:lstStyle/>
          <a:p>
            <a:r>
              <a:rPr kumimoji="0" lang="en-US" altLang="en-US" sz="1800" b="0" i="0" u="none" strike="noStrike" cap="none" normalizeH="0" baseline="0" dirty="0">
                <a:ln>
                  <a:noFill/>
                </a:ln>
                <a:effectLst/>
              </a:rPr>
              <a:t>&gt;&gt; cd </a:t>
            </a:r>
            <a:r>
              <a:rPr lang="en-US" altLang="en-US" dirty="0"/>
              <a:t>~/[xxx]_</a:t>
            </a:r>
            <a:r>
              <a:rPr lang="en-US" altLang="en-US" dirty="0" err="1"/>
              <a:t>ws</a:t>
            </a:r>
            <a:r>
              <a:rPr lang="en-US" altLang="en-US" dirty="0"/>
              <a:t>/</a:t>
            </a:r>
            <a:r>
              <a:rPr lang="en-US" altLang="en-US" dirty="0" err="1"/>
              <a:t>src</a:t>
            </a:r>
            <a:br>
              <a:rPr lang="en-US" altLang="en-US" dirty="0"/>
            </a:br>
            <a:r>
              <a:rPr kumimoji="0" lang="en-US" altLang="en-US" sz="1800" b="0" i="0" u="none" strike="noStrike" cap="none" normalizeH="0" baseline="0" dirty="0">
                <a:ln>
                  <a:noFill/>
                </a:ln>
                <a:effectLst/>
              </a:rPr>
              <a:t>&gt;&gt; ros2 pkg create --build-type </a:t>
            </a:r>
            <a:r>
              <a:rPr kumimoji="0" lang="en-US" altLang="en-US" sz="1800" b="0" i="0" u="none" strike="noStrike" cap="none" normalizeH="0" baseline="0" dirty="0" err="1">
                <a:ln>
                  <a:noFill/>
                </a:ln>
                <a:effectLst/>
              </a:rPr>
              <a:t>ament_python</a:t>
            </a:r>
            <a:r>
              <a:rPr kumimoji="0" lang="en-US" altLang="en-US" sz="1800" b="0" i="0" u="none" strike="noStrike" cap="none" normalizeH="0" baseline="0" dirty="0">
                <a:ln>
                  <a:noFill/>
                </a:ln>
                <a:effectLst/>
              </a:rPr>
              <a:t> </a:t>
            </a:r>
            <a:r>
              <a:rPr lang="en-US" altLang="en-US" dirty="0" err="1"/>
              <a:t>my_first</a:t>
            </a:r>
            <a:r>
              <a:rPr kumimoji="0" lang="en-US" altLang="en-US" sz="1800" b="0" i="0" u="none" strike="noStrike" cap="none" normalizeH="0" baseline="0" dirty="0" err="1">
                <a:ln>
                  <a:noFill/>
                </a:ln>
                <a:effectLst/>
              </a:rPr>
              <a:t>_</a:t>
            </a:r>
            <a:r>
              <a:rPr lang="en-US" altLang="en-US" dirty="0" err="1"/>
              <a:t>pkg</a:t>
            </a:r>
            <a:br>
              <a:rPr lang="en-US" altLang="en-US" sz="1800" b="0" i="0" u="none" strike="noStrike" cap="none" normalizeH="0" baseline="0" dirty="0">
                <a:ln>
                  <a:noFill/>
                </a:ln>
                <a:effectLst/>
              </a:rPr>
            </a:br>
            <a:r>
              <a:rPr kumimoji="0" lang="en-US" altLang="en-US" sz="1800" b="0" i="0" u="none" strike="noStrike" cap="none" normalizeH="0" baseline="0" dirty="0">
                <a:ln>
                  <a:noFill/>
                </a:ln>
                <a:effectLst/>
              </a:rPr>
              <a:t>&gt;&gt; cd ..</a:t>
            </a:r>
            <a:br>
              <a:rPr lang="en-US" altLang="en-US" sz="1800" b="0" i="0" u="none" strike="noStrike" cap="none" normalizeH="0" baseline="0" dirty="0">
                <a:ln>
                  <a:noFill/>
                </a:ln>
                <a:effectLst/>
              </a:rPr>
            </a:br>
            <a:r>
              <a:rPr kumimoji="0" lang="en-US" altLang="en-US" sz="1800" b="0" i="0" u="none" strike="noStrike" cap="none" normalizeH="0" baseline="0" dirty="0">
                <a:ln>
                  <a:noFill/>
                </a:ln>
                <a:effectLst/>
              </a:rPr>
              <a:t>&gt;&gt; </a:t>
            </a:r>
            <a:r>
              <a:rPr kumimoji="0" lang="en-US" altLang="en-US" sz="1800" b="0" i="0" u="none" strike="noStrike" cap="none" normalizeH="0" baseline="0" dirty="0" err="1">
                <a:ln>
                  <a:noFill/>
                </a:ln>
                <a:effectLst/>
              </a:rPr>
              <a:t>colcon</a:t>
            </a:r>
            <a:r>
              <a:rPr kumimoji="0" lang="en-US" altLang="en-US" sz="1800" b="0" i="0" u="none" strike="noStrike" cap="none" normalizeH="0" baseline="0" dirty="0">
                <a:ln>
                  <a:noFill/>
                </a:ln>
                <a:effectLst/>
              </a:rPr>
              <a:t> build --packages-select </a:t>
            </a:r>
            <a:r>
              <a:rPr lang="en-US" altLang="en-US" dirty="0" err="1"/>
              <a:t>my</a:t>
            </a:r>
            <a:r>
              <a:rPr kumimoji="0" lang="en-US" altLang="en-US" sz="1800" b="0" i="0" u="none" strike="noStrike" cap="none" normalizeH="0" baseline="0" dirty="0" err="1">
                <a:ln>
                  <a:noFill/>
                </a:ln>
                <a:effectLst/>
              </a:rPr>
              <a:t>_</a:t>
            </a:r>
            <a:r>
              <a:rPr lang="en-US" altLang="en-US" dirty="0" err="1"/>
              <a:t>first_pkg</a:t>
            </a:r>
            <a:br>
              <a:rPr lang="en-US" altLang="en-US" sz="1800" b="0" i="0" u="none" strike="noStrike" cap="none" normalizeH="0" baseline="0" dirty="0">
                <a:ln>
                  <a:noFill/>
                </a:ln>
                <a:effectLst/>
              </a:rPr>
            </a:br>
            <a:br>
              <a:rPr lang="en-US" altLang="en-US" sz="1800" b="0" i="0" u="none" strike="noStrike" cap="none" normalizeH="0" baseline="0" dirty="0">
                <a:ln>
                  <a:noFill/>
                </a:ln>
                <a:effectLst/>
              </a:rPr>
            </a:br>
            <a:r>
              <a:rPr kumimoji="0" lang="en-US" altLang="en-US" sz="1800" b="0" i="0" u="none" strike="noStrike" cap="none" normalizeH="0" baseline="0" dirty="0">
                <a:ln>
                  <a:noFill/>
                </a:ln>
                <a:effectLst/>
              </a:rPr>
              <a:t>&gt;&gt; cd </a:t>
            </a:r>
            <a:r>
              <a:rPr kumimoji="0" lang="en-US" altLang="en-US" sz="1800" b="0" i="0" u="none" strike="noStrike" cap="none" normalizeH="0" baseline="0" dirty="0" err="1">
                <a:ln>
                  <a:noFill/>
                </a:ln>
                <a:effectLst/>
              </a:rPr>
              <a:t>src</a:t>
            </a:r>
            <a:r>
              <a:rPr lang="en-US" altLang="en-US" dirty="0"/>
              <a:t>/</a:t>
            </a:r>
            <a:r>
              <a:rPr lang="en-US" dirty="0" err="1"/>
              <a:t>my_first_pkg</a:t>
            </a:r>
            <a:br>
              <a:rPr lang="en-US" altLang="en-US" dirty="0"/>
            </a:br>
            <a:r>
              <a:rPr lang="en-US" altLang="en-US" dirty="0"/>
              <a:t>&gt;&gt; code package.xml</a:t>
            </a:r>
          </a:p>
          <a:p>
            <a:br>
              <a:rPr lang="en-US" altLang="en-US" sz="1800" b="0" i="0" u="none" strike="noStrike" cap="none" normalizeH="0" baseline="0" dirty="0">
                <a:ln>
                  <a:noFill/>
                </a:ln>
                <a:effectLst/>
              </a:rPr>
            </a:br>
            <a:r>
              <a:rPr kumimoji="0" lang="en-US" altLang="en-US" sz="1800" b="0" i="0" u="none" strike="noStrike" cap="none" normalizeH="0" baseline="0" dirty="0">
                <a:ln>
                  <a:noFill/>
                </a:ln>
                <a:effectLst/>
              </a:rPr>
              <a:t>&gt;&gt; cd </a:t>
            </a:r>
            <a:r>
              <a:rPr lang="en-US" dirty="0" err="1"/>
              <a:t>my_first</a:t>
            </a:r>
            <a:r>
              <a:rPr kumimoji="0" lang="en-US" sz="1800" b="0" i="0" u="none" strike="noStrike" cap="none" normalizeH="0" baseline="0" dirty="0" err="1">
                <a:ln>
                  <a:noFill/>
                </a:ln>
                <a:effectLst/>
              </a:rPr>
              <a:t>_</a:t>
            </a:r>
            <a:r>
              <a:rPr lang="en-US" dirty="0" err="1"/>
              <a:t>pkg</a:t>
            </a:r>
            <a:br>
              <a:rPr lang="en-US" altLang="en-US" sz="1800" b="0" i="0" u="none" strike="noStrike" cap="none" normalizeH="0" baseline="0" dirty="0">
                <a:ln>
                  <a:noFill/>
                </a:ln>
                <a:effectLst/>
              </a:rPr>
            </a:br>
            <a:r>
              <a:rPr kumimoji="0" lang="en-US" altLang="en-US" sz="1800" b="0" i="0" u="none" strike="noStrike" cap="none" normalizeH="0" baseline="0" dirty="0">
                <a:ln>
                  <a:noFill/>
                </a:ln>
                <a:effectLst/>
              </a:rPr>
              <a:t>&gt;&gt; code </a:t>
            </a:r>
            <a:r>
              <a:rPr lang="en-US" altLang="en-US" dirty="0"/>
              <a:t>my_first_script.</a:t>
            </a:r>
            <a:r>
              <a:rPr kumimoji="0" lang="en-US" altLang="en-US" sz="1800" b="0" i="0" u="none" strike="noStrike" cap="none" normalizeH="0" baseline="0" dirty="0">
                <a:ln>
                  <a:noFill/>
                </a:ln>
                <a:effectLst/>
              </a:rPr>
              <a:t>py</a:t>
            </a:r>
            <a:endParaRPr lang="en-US" altLang="en-US" sz="1800" b="0" i="0" u="none" strike="noStrike" cap="none" normalizeH="0" baseline="0" dirty="0">
              <a:ln>
                <a:noFill/>
              </a:ln>
              <a:effectLst/>
              <a:cs typeface="Calibri"/>
            </a:endParaRPr>
          </a:p>
        </p:txBody>
      </p:sp>
      <p:sp>
        <p:nvSpPr>
          <p:cNvPr id="17" name="TextBox 16">
            <a:extLst>
              <a:ext uri="{FF2B5EF4-FFF2-40B4-BE49-F238E27FC236}">
                <a16:creationId xmlns:a16="http://schemas.microsoft.com/office/drawing/2014/main" id="{9C8773C9-1375-4A3A-BE1B-23F9830BFA42}"/>
              </a:ext>
            </a:extLst>
          </p:cNvPr>
          <p:cNvSpPr txBox="1"/>
          <p:nvPr/>
        </p:nvSpPr>
        <p:spPr>
          <a:xfrm>
            <a:off x="2954460" y="5564057"/>
            <a:ext cx="5982089" cy="369332"/>
          </a:xfrm>
          <a:prstGeom prst="rect">
            <a:avLst/>
          </a:prstGeom>
          <a:noFill/>
        </p:spPr>
        <p:txBody>
          <a:bodyPr wrap="square" lIns="91440" tIns="45720" rIns="91440" bIns="45720" anchor="t">
            <a:spAutoFit/>
          </a:bodyPr>
          <a:lstStyle/>
          <a:p>
            <a:r>
              <a:rPr lang="en-US" b="0" i="0">
                <a:solidFill>
                  <a:srgbClr val="24292F"/>
                </a:solidFill>
                <a:effectLst/>
                <a:latin typeface="ui-monospace"/>
              </a:rPr>
              <a:t>https://</a:t>
            </a:r>
            <a:r>
              <a:rPr lang="en-US">
                <a:solidFill>
                  <a:srgbClr val="24292F"/>
                </a:solidFill>
                <a:latin typeface="ui-monospace"/>
              </a:rPr>
              <a:t>ocs</a:t>
            </a:r>
            <a:r>
              <a:rPr lang="en-US" b="0" i="0">
                <a:solidFill>
                  <a:srgbClr val="24292F"/>
                </a:solidFill>
                <a:effectLst/>
                <a:latin typeface="ui-monospace"/>
              </a:rPr>
              <a:t>.ros.org/en/diamondback/api/licenses.html</a:t>
            </a:r>
            <a:endParaRPr lang="en-US"/>
          </a:p>
        </p:txBody>
      </p:sp>
      <p:pic>
        <p:nvPicPr>
          <p:cNvPr id="5" name="Google Shape;67;p15">
            <a:extLst>
              <a:ext uri="{FF2B5EF4-FFF2-40B4-BE49-F238E27FC236}">
                <a16:creationId xmlns:a16="http://schemas.microsoft.com/office/drawing/2014/main" id="{7FCDCE58-68B4-9EF2-956F-72E601CA6E62}"/>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8" name="TextBox 7">
            <a:extLst>
              <a:ext uri="{FF2B5EF4-FFF2-40B4-BE49-F238E27FC236}">
                <a16:creationId xmlns:a16="http://schemas.microsoft.com/office/drawing/2014/main" id="{DDBD8BB1-7E17-6A3B-AE35-18F975ECB615}"/>
              </a:ext>
            </a:extLst>
          </p:cNvPr>
          <p:cNvSpPr txBox="1"/>
          <p:nvPr/>
        </p:nvSpPr>
        <p:spPr>
          <a:xfrm>
            <a:off x="98612" y="6462993"/>
            <a:ext cx="343180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3" name="TextBox 2">
            <a:extLst>
              <a:ext uri="{FF2B5EF4-FFF2-40B4-BE49-F238E27FC236}">
                <a16:creationId xmlns:a16="http://schemas.microsoft.com/office/drawing/2014/main" id="{74962527-7E5C-BFC2-FE99-420D3A37FC9F}"/>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92646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DAC-6082-A9A0-92AA-892BD1381206}"/>
              </a:ext>
            </a:extLst>
          </p:cNvPr>
          <p:cNvSpPr>
            <a:spLocks noGrp="1"/>
          </p:cNvSpPr>
          <p:nvPr>
            <p:ph type="title"/>
          </p:nvPr>
        </p:nvSpPr>
        <p:spPr/>
        <p:txBody>
          <a:bodyPr/>
          <a:lstStyle/>
          <a:p>
            <a:r>
              <a:rPr lang="th-TH" sz="3600" err="1">
                <a:cs typeface="Angsana New"/>
              </a:rPr>
              <a:t>Node</a:t>
            </a:r>
            <a:r>
              <a:rPr lang="th-TH" sz="3600">
                <a:cs typeface="Angsana New"/>
              </a:rPr>
              <a:t> </a:t>
            </a:r>
            <a:r>
              <a:rPr lang="th-TH" sz="3600" err="1">
                <a:cs typeface="Angsana New"/>
              </a:rPr>
              <a:t>class</a:t>
            </a:r>
            <a:r>
              <a:rPr lang="th-TH" sz="3600">
                <a:cs typeface="Angsana New"/>
              </a:rPr>
              <a:t> </a:t>
            </a:r>
            <a:r>
              <a:rPr lang="th-TH" sz="3600" err="1">
                <a:cs typeface="Angsana New"/>
              </a:rPr>
              <a:t>in</a:t>
            </a:r>
            <a:r>
              <a:rPr lang="th-TH" sz="3600">
                <a:cs typeface="Angsana New"/>
              </a:rPr>
              <a:t> ROS </a:t>
            </a:r>
            <a:r>
              <a:rPr lang="th-TH" sz="3600" err="1">
                <a:cs typeface="Angsana New"/>
              </a:rPr>
              <a:t>Client</a:t>
            </a:r>
            <a:r>
              <a:rPr lang="th-TH" sz="3600">
                <a:cs typeface="Angsana New"/>
              </a:rPr>
              <a:t> </a:t>
            </a:r>
            <a:r>
              <a:rPr lang="th-TH" sz="3600" err="1">
                <a:cs typeface="Angsana New"/>
              </a:rPr>
              <a:t>Library</a:t>
            </a:r>
            <a:r>
              <a:rPr lang="th-TH" sz="3600">
                <a:cs typeface="Angsana New"/>
              </a:rPr>
              <a:t> </a:t>
            </a:r>
            <a:r>
              <a:rPr lang="th-TH" sz="3600" err="1">
                <a:cs typeface="Angsana New"/>
              </a:rPr>
              <a:t>for</a:t>
            </a:r>
            <a:r>
              <a:rPr lang="th-TH" sz="3600">
                <a:cs typeface="Angsana New"/>
              </a:rPr>
              <a:t> </a:t>
            </a:r>
            <a:r>
              <a:rPr lang="th-TH" sz="3600" err="1">
                <a:cs typeface="Angsana New"/>
              </a:rPr>
              <a:t>Python</a:t>
            </a:r>
            <a:r>
              <a:rPr lang="th-TH" sz="3600">
                <a:cs typeface="Angsana New"/>
              </a:rPr>
              <a:t> (</a:t>
            </a:r>
            <a:r>
              <a:rPr lang="en-US" sz="3600"/>
              <a:t>RCLPY)</a:t>
            </a:r>
          </a:p>
        </p:txBody>
      </p:sp>
      <p:sp>
        <p:nvSpPr>
          <p:cNvPr id="4" name="Slide Number Placeholder 3">
            <a:extLst>
              <a:ext uri="{FF2B5EF4-FFF2-40B4-BE49-F238E27FC236}">
                <a16:creationId xmlns:a16="http://schemas.microsoft.com/office/drawing/2014/main" id="{3AF07124-8EEF-EA9D-92FC-FD33AF0CFE34}"/>
              </a:ext>
            </a:extLst>
          </p:cNvPr>
          <p:cNvSpPr>
            <a:spLocks noGrp="1"/>
          </p:cNvSpPr>
          <p:nvPr>
            <p:ph type="sldNum" sz="quarter" idx="12"/>
          </p:nvPr>
        </p:nvSpPr>
        <p:spPr/>
        <p:txBody>
          <a:bodyPr/>
          <a:lstStyle/>
          <a:p>
            <a:fld id="{CB38A507-EE2F-4DA2-8FD6-EA9443559B23}" type="slidenum">
              <a:rPr lang="en-US" smtClean="0"/>
              <a:t>55</a:t>
            </a:fld>
            <a:endParaRPr lang="en-US"/>
          </a:p>
        </p:txBody>
      </p:sp>
      <p:sp>
        <p:nvSpPr>
          <p:cNvPr id="5" name="Rectangle 4">
            <a:extLst>
              <a:ext uri="{FF2B5EF4-FFF2-40B4-BE49-F238E27FC236}">
                <a16:creationId xmlns:a16="http://schemas.microsoft.com/office/drawing/2014/main" id="{4D9F46CC-AAD3-DF62-3C3A-C02323905939}"/>
              </a:ext>
            </a:extLst>
          </p:cNvPr>
          <p:cNvSpPr/>
          <p:nvPr/>
        </p:nvSpPr>
        <p:spPr>
          <a:xfrm>
            <a:off x="1283892" y="2319444"/>
            <a:ext cx="1775637" cy="12971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publishers</a:t>
            </a:r>
          </a:p>
          <a:p>
            <a:r>
              <a:rPr lang="en-US" sz="1400">
                <a:solidFill>
                  <a:schemeClr val="tx1"/>
                </a:solidFill>
              </a:rPr>
              <a:t>subscriptions</a:t>
            </a:r>
          </a:p>
          <a:p>
            <a:r>
              <a:rPr lang="en-US" sz="1400">
                <a:solidFill>
                  <a:schemeClr val="tx1"/>
                </a:solidFill>
              </a:rPr>
              <a:t>timers</a:t>
            </a:r>
          </a:p>
          <a:p>
            <a:r>
              <a:rPr lang="en-US" sz="1400">
                <a:solidFill>
                  <a:schemeClr val="tx1"/>
                </a:solidFill>
              </a:rPr>
              <a:t>services</a:t>
            </a:r>
          </a:p>
          <a:p>
            <a:r>
              <a:rPr lang="en-US" sz="1400">
                <a:solidFill>
                  <a:schemeClr val="tx1"/>
                </a:solidFill>
              </a:rPr>
              <a:t>clients</a:t>
            </a:r>
          </a:p>
          <a:p>
            <a:r>
              <a:rPr lang="en-US" sz="1400">
                <a:solidFill>
                  <a:schemeClr val="tx1"/>
                </a:solidFill>
              </a:rPr>
              <a:t>executor</a:t>
            </a:r>
          </a:p>
        </p:txBody>
      </p:sp>
      <p:sp>
        <p:nvSpPr>
          <p:cNvPr id="6" name="Rectangle 5">
            <a:extLst>
              <a:ext uri="{FF2B5EF4-FFF2-40B4-BE49-F238E27FC236}">
                <a16:creationId xmlns:a16="http://schemas.microsoft.com/office/drawing/2014/main" id="{DDB80F46-B378-4E93-E361-DDE6C4CFA00D}"/>
              </a:ext>
            </a:extLst>
          </p:cNvPr>
          <p:cNvSpPr/>
          <p:nvPr/>
        </p:nvSpPr>
        <p:spPr>
          <a:xfrm>
            <a:off x="1283891" y="2004011"/>
            <a:ext cx="1775637" cy="3154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rclpy.node.Node</a:t>
            </a:r>
            <a:endParaRPr lang="en-US">
              <a:solidFill>
                <a:schemeClr val="tx1"/>
              </a:solidFill>
            </a:endParaRPr>
          </a:p>
        </p:txBody>
      </p:sp>
      <p:sp>
        <p:nvSpPr>
          <p:cNvPr id="7" name="Rectangle 6">
            <a:extLst>
              <a:ext uri="{FF2B5EF4-FFF2-40B4-BE49-F238E27FC236}">
                <a16:creationId xmlns:a16="http://schemas.microsoft.com/office/drawing/2014/main" id="{C4031622-4E67-5B48-2776-FAD9C05FCBFF}"/>
              </a:ext>
            </a:extLst>
          </p:cNvPr>
          <p:cNvSpPr/>
          <p:nvPr/>
        </p:nvSpPr>
        <p:spPr>
          <a:xfrm>
            <a:off x="1283890" y="3616616"/>
            <a:ext cx="1775637" cy="19878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err="1">
                <a:solidFill>
                  <a:schemeClr val="tx1"/>
                </a:solidFill>
              </a:rPr>
              <a:t>create_publisher</a:t>
            </a:r>
            <a:endParaRPr lang="en-US" sz="1400">
              <a:solidFill>
                <a:schemeClr val="tx1"/>
              </a:solidFill>
            </a:endParaRPr>
          </a:p>
          <a:p>
            <a:r>
              <a:rPr lang="en-US" sz="1400" err="1">
                <a:solidFill>
                  <a:schemeClr val="tx1"/>
                </a:solidFill>
              </a:rPr>
              <a:t>create_subscription</a:t>
            </a:r>
            <a:endParaRPr lang="en-US" sz="1400">
              <a:solidFill>
                <a:schemeClr val="tx1"/>
              </a:solidFill>
            </a:endParaRPr>
          </a:p>
          <a:p>
            <a:r>
              <a:rPr lang="en-US" sz="1400" err="1">
                <a:solidFill>
                  <a:schemeClr val="tx1"/>
                </a:solidFill>
              </a:rPr>
              <a:t>create_timer</a:t>
            </a:r>
            <a:endParaRPr lang="en-US" sz="1400">
              <a:solidFill>
                <a:schemeClr val="tx1"/>
              </a:solidFill>
            </a:endParaRPr>
          </a:p>
          <a:p>
            <a:r>
              <a:rPr lang="en-US" sz="1400" err="1">
                <a:solidFill>
                  <a:schemeClr val="tx1"/>
                </a:solidFill>
              </a:rPr>
              <a:t>create_service</a:t>
            </a:r>
            <a:endParaRPr lang="en-US" sz="1400">
              <a:solidFill>
                <a:schemeClr val="tx1"/>
              </a:solidFill>
            </a:endParaRPr>
          </a:p>
          <a:p>
            <a:r>
              <a:rPr lang="en-US" sz="1400" err="1">
                <a:solidFill>
                  <a:schemeClr val="tx1"/>
                </a:solidFill>
              </a:rPr>
              <a:t>create_client</a:t>
            </a:r>
            <a:endParaRPr lang="en-US" sz="1400">
              <a:solidFill>
                <a:schemeClr val="tx1"/>
              </a:solidFill>
            </a:endParaRPr>
          </a:p>
          <a:p>
            <a:r>
              <a:rPr lang="en-US" sz="1400" err="1">
                <a:solidFill>
                  <a:schemeClr val="tx1"/>
                </a:solidFill>
              </a:rPr>
              <a:t>get_clock</a:t>
            </a:r>
            <a:endParaRPr lang="en-US" sz="1400">
              <a:solidFill>
                <a:schemeClr val="tx1"/>
              </a:solidFill>
            </a:endParaRPr>
          </a:p>
          <a:p>
            <a:r>
              <a:rPr lang="en-US" sz="1400" err="1">
                <a:solidFill>
                  <a:schemeClr val="tx1"/>
                </a:solidFill>
              </a:rPr>
              <a:t>get_logger</a:t>
            </a:r>
            <a:endParaRPr lang="en-US" sz="1400">
              <a:solidFill>
                <a:schemeClr val="tx1"/>
              </a:solidFill>
            </a:endParaRPr>
          </a:p>
          <a:p>
            <a:r>
              <a:rPr lang="en-US" sz="1400" err="1">
                <a:solidFill>
                  <a:schemeClr val="tx1"/>
                </a:solidFill>
              </a:rPr>
              <a:t>get_name</a:t>
            </a:r>
            <a:endParaRPr lang="en-US" sz="1400">
              <a:solidFill>
                <a:schemeClr val="tx1"/>
              </a:solidFill>
            </a:endParaRPr>
          </a:p>
          <a:p>
            <a:endParaRPr lang="en-US" sz="1400">
              <a:solidFill>
                <a:schemeClr val="tx1"/>
              </a:solidFill>
            </a:endParaRPr>
          </a:p>
        </p:txBody>
      </p:sp>
      <p:sp>
        <p:nvSpPr>
          <p:cNvPr id="10" name="Rectangle 9">
            <a:extLst>
              <a:ext uri="{FF2B5EF4-FFF2-40B4-BE49-F238E27FC236}">
                <a16:creationId xmlns:a16="http://schemas.microsoft.com/office/drawing/2014/main" id="{C445ABF5-0BBA-0412-B340-74CE9139A15A}"/>
              </a:ext>
            </a:extLst>
          </p:cNvPr>
          <p:cNvSpPr/>
          <p:nvPr/>
        </p:nvSpPr>
        <p:spPr>
          <a:xfrm>
            <a:off x="4440750" y="2319444"/>
            <a:ext cx="2951580" cy="3154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err="1">
                <a:solidFill>
                  <a:schemeClr val="tx1"/>
                </a:solidFill>
              </a:rPr>
              <a:t>topic_name</a:t>
            </a:r>
            <a:endParaRPr lang="en-US" sz="1400">
              <a:solidFill>
                <a:schemeClr val="tx1"/>
              </a:solidFill>
            </a:endParaRPr>
          </a:p>
        </p:txBody>
      </p:sp>
      <p:sp>
        <p:nvSpPr>
          <p:cNvPr id="11" name="Rectangle 10">
            <a:extLst>
              <a:ext uri="{FF2B5EF4-FFF2-40B4-BE49-F238E27FC236}">
                <a16:creationId xmlns:a16="http://schemas.microsoft.com/office/drawing/2014/main" id="{BEAC8F06-90F0-8551-66AA-6009ED78EFCC}"/>
              </a:ext>
            </a:extLst>
          </p:cNvPr>
          <p:cNvSpPr/>
          <p:nvPr/>
        </p:nvSpPr>
        <p:spPr>
          <a:xfrm>
            <a:off x="4440749" y="2004011"/>
            <a:ext cx="2951585" cy="3154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rclpy.pusblisher.Publisher</a:t>
            </a:r>
            <a:endParaRPr lang="en-US">
              <a:solidFill>
                <a:schemeClr val="tx1"/>
              </a:solidFill>
            </a:endParaRPr>
          </a:p>
        </p:txBody>
      </p:sp>
      <p:sp>
        <p:nvSpPr>
          <p:cNvPr id="12" name="Rectangle 11">
            <a:extLst>
              <a:ext uri="{FF2B5EF4-FFF2-40B4-BE49-F238E27FC236}">
                <a16:creationId xmlns:a16="http://schemas.microsoft.com/office/drawing/2014/main" id="{0092EEAC-8C7C-12BE-914D-35DB0428BC1D}"/>
              </a:ext>
            </a:extLst>
          </p:cNvPr>
          <p:cNvSpPr/>
          <p:nvPr/>
        </p:nvSpPr>
        <p:spPr>
          <a:xfrm>
            <a:off x="4440749" y="2650247"/>
            <a:ext cx="2951580" cy="3154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publish</a:t>
            </a:r>
          </a:p>
        </p:txBody>
      </p:sp>
      <p:sp>
        <p:nvSpPr>
          <p:cNvPr id="13" name="Rectangle 12">
            <a:extLst>
              <a:ext uri="{FF2B5EF4-FFF2-40B4-BE49-F238E27FC236}">
                <a16:creationId xmlns:a16="http://schemas.microsoft.com/office/drawing/2014/main" id="{2F7C4269-08FC-18B2-4D25-1A0BC4F71E18}"/>
              </a:ext>
            </a:extLst>
          </p:cNvPr>
          <p:cNvSpPr/>
          <p:nvPr/>
        </p:nvSpPr>
        <p:spPr>
          <a:xfrm>
            <a:off x="4440750" y="3884058"/>
            <a:ext cx="2951580" cy="3154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a:t>
            </a:r>
          </a:p>
        </p:txBody>
      </p:sp>
      <p:sp>
        <p:nvSpPr>
          <p:cNvPr id="14" name="Rectangle 13">
            <a:extLst>
              <a:ext uri="{FF2B5EF4-FFF2-40B4-BE49-F238E27FC236}">
                <a16:creationId xmlns:a16="http://schemas.microsoft.com/office/drawing/2014/main" id="{9F8784F0-561B-447F-EBC6-DD289287B5B7}"/>
              </a:ext>
            </a:extLst>
          </p:cNvPr>
          <p:cNvSpPr/>
          <p:nvPr/>
        </p:nvSpPr>
        <p:spPr>
          <a:xfrm>
            <a:off x="4440749" y="3568625"/>
            <a:ext cx="2951585" cy="3154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rclpy.client.Client</a:t>
            </a:r>
            <a:endParaRPr lang="en-US">
              <a:solidFill>
                <a:schemeClr val="tx1"/>
              </a:solidFill>
            </a:endParaRPr>
          </a:p>
        </p:txBody>
      </p:sp>
      <p:sp>
        <p:nvSpPr>
          <p:cNvPr id="15" name="Rectangle 14">
            <a:extLst>
              <a:ext uri="{FF2B5EF4-FFF2-40B4-BE49-F238E27FC236}">
                <a16:creationId xmlns:a16="http://schemas.microsoft.com/office/drawing/2014/main" id="{658269FD-5EB5-AF92-B2E1-BB2CAF5F8701}"/>
              </a:ext>
            </a:extLst>
          </p:cNvPr>
          <p:cNvSpPr/>
          <p:nvPr/>
        </p:nvSpPr>
        <p:spPr>
          <a:xfrm>
            <a:off x="4440749" y="4214861"/>
            <a:ext cx="2951580" cy="13896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call</a:t>
            </a:r>
          </a:p>
          <a:p>
            <a:r>
              <a:rPr lang="en-US" sz="1400" err="1">
                <a:solidFill>
                  <a:schemeClr val="tx1"/>
                </a:solidFill>
              </a:rPr>
              <a:t>call_async</a:t>
            </a:r>
            <a:endParaRPr lang="en-US" sz="1400">
              <a:solidFill>
                <a:schemeClr val="tx1"/>
              </a:solidFill>
            </a:endParaRPr>
          </a:p>
          <a:p>
            <a:r>
              <a:rPr lang="en-US" sz="1400" err="1">
                <a:solidFill>
                  <a:schemeClr val="tx1"/>
                </a:solidFill>
              </a:rPr>
              <a:t>remove_pending_request</a:t>
            </a:r>
            <a:endParaRPr lang="en-US" sz="1400">
              <a:solidFill>
                <a:schemeClr val="tx1"/>
              </a:solidFill>
            </a:endParaRPr>
          </a:p>
          <a:p>
            <a:r>
              <a:rPr lang="en-US" sz="1400" err="1">
                <a:solidFill>
                  <a:schemeClr val="tx1"/>
                </a:solidFill>
              </a:rPr>
              <a:t>service_is_ready</a:t>
            </a:r>
            <a:endParaRPr lang="en-US" sz="1400">
              <a:solidFill>
                <a:schemeClr val="tx1"/>
              </a:solidFill>
            </a:endParaRPr>
          </a:p>
          <a:p>
            <a:r>
              <a:rPr lang="en-US" sz="1400" err="1">
                <a:solidFill>
                  <a:schemeClr val="tx1"/>
                </a:solidFill>
              </a:rPr>
              <a:t>wait_for_service</a:t>
            </a:r>
            <a:endParaRPr lang="en-US" sz="1400">
              <a:solidFill>
                <a:schemeClr val="tx1"/>
              </a:solidFill>
            </a:endParaRPr>
          </a:p>
        </p:txBody>
      </p:sp>
      <p:sp>
        <p:nvSpPr>
          <p:cNvPr id="16" name="Rectangle 15">
            <a:extLst>
              <a:ext uri="{FF2B5EF4-FFF2-40B4-BE49-F238E27FC236}">
                <a16:creationId xmlns:a16="http://schemas.microsoft.com/office/drawing/2014/main" id="{2621794C-3BD3-FF8B-C917-831136359593}"/>
              </a:ext>
            </a:extLst>
          </p:cNvPr>
          <p:cNvSpPr/>
          <p:nvPr/>
        </p:nvSpPr>
        <p:spPr>
          <a:xfrm>
            <a:off x="8829190" y="2004011"/>
            <a:ext cx="2078918" cy="11194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Subscriber callback</a:t>
            </a:r>
          </a:p>
          <a:p>
            <a:r>
              <a:rPr lang="en-US" sz="1400" err="1">
                <a:solidFill>
                  <a:schemeClr val="tx1"/>
                </a:solidFill>
              </a:rPr>
              <a:t>Timer_callback</a:t>
            </a:r>
            <a:endParaRPr lang="en-US" sz="1400">
              <a:solidFill>
                <a:schemeClr val="tx1"/>
              </a:solidFill>
            </a:endParaRPr>
          </a:p>
          <a:p>
            <a:r>
              <a:rPr lang="en-US" sz="1400">
                <a:solidFill>
                  <a:schemeClr val="tx1"/>
                </a:solidFill>
              </a:rPr>
              <a:t>Service server callback</a:t>
            </a:r>
          </a:p>
        </p:txBody>
      </p:sp>
      <p:pic>
        <p:nvPicPr>
          <p:cNvPr id="18" name="Google Shape;67;p15">
            <a:extLst>
              <a:ext uri="{FF2B5EF4-FFF2-40B4-BE49-F238E27FC236}">
                <a16:creationId xmlns:a16="http://schemas.microsoft.com/office/drawing/2014/main" id="{47B1680A-73CE-06D8-EE01-3A354B08EAF0}"/>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8" name="TextBox 7">
            <a:extLst>
              <a:ext uri="{FF2B5EF4-FFF2-40B4-BE49-F238E27FC236}">
                <a16:creationId xmlns:a16="http://schemas.microsoft.com/office/drawing/2014/main" id="{80C27060-AFCC-F333-CB97-8B7652620ADD}"/>
              </a:ext>
            </a:extLst>
          </p:cNvPr>
          <p:cNvSpPr txBox="1"/>
          <p:nvPr/>
        </p:nvSpPr>
        <p:spPr>
          <a:xfrm>
            <a:off x="98612" y="6462993"/>
            <a:ext cx="2960915"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ea typeface="Arial"/>
                <a:cs typeface="Arial"/>
              </a:rPr>
              <a:t>Introduction to ROS2</a:t>
            </a:r>
            <a:endParaRPr lang="en-US" dirty="0"/>
          </a:p>
        </p:txBody>
      </p:sp>
      <p:sp>
        <p:nvSpPr>
          <p:cNvPr id="9" name="TextBox 2">
            <a:extLst>
              <a:ext uri="{FF2B5EF4-FFF2-40B4-BE49-F238E27FC236}">
                <a16:creationId xmlns:a16="http://schemas.microsoft.com/office/drawing/2014/main" id="{A0BBDF0F-2CC4-D178-9A9D-012A37DEF64E}"/>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2270673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DAC-6082-A9A0-92AA-892BD1381206}"/>
              </a:ext>
            </a:extLst>
          </p:cNvPr>
          <p:cNvSpPr>
            <a:spLocks noGrp="1"/>
          </p:cNvSpPr>
          <p:nvPr>
            <p:ph type="title"/>
          </p:nvPr>
        </p:nvSpPr>
        <p:spPr/>
        <p:txBody>
          <a:bodyPr>
            <a:normAutofit/>
          </a:bodyPr>
          <a:lstStyle/>
          <a:p>
            <a:r>
              <a:rPr lang="th-TH" sz="3600">
                <a:cs typeface="Angsana New"/>
              </a:rPr>
              <a:t>General </a:t>
            </a:r>
            <a:r>
              <a:rPr lang="th-TH" sz="3600" err="1">
                <a:cs typeface="Angsana New"/>
              </a:rPr>
              <a:t>procedure</a:t>
            </a:r>
            <a:r>
              <a:rPr lang="th-TH" sz="3600">
                <a:cs typeface="Angsana New"/>
              </a:rPr>
              <a:t> </a:t>
            </a:r>
            <a:r>
              <a:rPr lang="th-TH" sz="3600" err="1">
                <a:cs typeface="Angsana New"/>
              </a:rPr>
              <a:t>on</a:t>
            </a:r>
            <a:r>
              <a:rPr lang="th-TH" sz="3600">
                <a:cs typeface="Angsana New"/>
              </a:rPr>
              <a:t> "</a:t>
            </a:r>
            <a:r>
              <a:rPr lang="th-TH" sz="3600" err="1">
                <a:cs typeface="Angsana New"/>
              </a:rPr>
              <a:t>running</a:t>
            </a:r>
            <a:r>
              <a:rPr lang="th-TH" sz="3600">
                <a:cs typeface="Angsana New"/>
              </a:rPr>
              <a:t>" a </a:t>
            </a:r>
            <a:r>
              <a:rPr lang="th-TH" sz="3600" err="1">
                <a:cs typeface="Angsana New"/>
              </a:rPr>
              <a:t>node</a:t>
            </a:r>
            <a:r>
              <a:rPr lang="th-TH" sz="3600">
                <a:cs typeface="Angsana New"/>
              </a:rPr>
              <a:t> </a:t>
            </a:r>
            <a:r>
              <a:rPr lang="th-TH" sz="3600" err="1">
                <a:cs typeface="Angsana New"/>
              </a:rPr>
              <a:t>using</a:t>
            </a:r>
            <a:r>
              <a:rPr lang="th-TH" sz="3600">
                <a:cs typeface="Angsana New"/>
              </a:rPr>
              <a:t> RCLPY</a:t>
            </a:r>
            <a:endParaRPr lang="en-US" sz="3600">
              <a:cs typeface="Calibri Light"/>
            </a:endParaRPr>
          </a:p>
        </p:txBody>
      </p:sp>
      <p:sp>
        <p:nvSpPr>
          <p:cNvPr id="4" name="Slide Number Placeholder 3">
            <a:extLst>
              <a:ext uri="{FF2B5EF4-FFF2-40B4-BE49-F238E27FC236}">
                <a16:creationId xmlns:a16="http://schemas.microsoft.com/office/drawing/2014/main" id="{3AF07124-8EEF-EA9D-92FC-FD33AF0CFE34}"/>
              </a:ext>
            </a:extLst>
          </p:cNvPr>
          <p:cNvSpPr>
            <a:spLocks noGrp="1"/>
          </p:cNvSpPr>
          <p:nvPr>
            <p:ph type="sldNum" sz="quarter" idx="12"/>
          </p:nvPr>
        </p:nvSpPr>
        <p:spPr/>
        <p:txBody>
          <a:bodyPr/>
          <a:lstStyle/>
          <a:p>
            <a:fld id="{CB38A507-EE2F-4DA2-8FD6-EA9443559B23}" type="slidenum">
              <a:rPr lang="en-US" smtClean="0"/>
              <a:t>56</a:t>
            </a:fld>
            <a:endParaRPr lang="en-US"/>
          </a:p>
        </p:txBody>
      </p:sp>
      <p:pic>
        <p:nvPicPr>
          <p:cNvPr id="18" name="Google Shape;67;p15">
            <a:extLst>
              <a:ext uri="{FF2B5EF4-FFF2-40B4-BE49-F238E27FC236}">
                <a16:creationId xmlns:a16="http://schemas.microsoft.com/office/drawing/2014/main" id="{47B1680A-73CE-06D8-EE01-3A354B08EAF0}"/>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3" name="TextBox 2">
            <a:extLst>
              <a:ext uri="{FF2B5EF4-FFF2-40B4-BE49-F238E27FC236}">
                <a16:creationId xmlns:a16="http://schemas.microsoft.com/office/drawing/2014/main" id="{16E8570F-8D03-D0B8-3FD8-4ED7E2EFA681}"/>
              </a:ext>
            </a:extLst>
          </p:cNvPr>
          <p:cNvSpPr txBox="1"/>
          <p:nvPr/>
        </p:nvSpPr>
        <p:spPr>
          <a:xfrm>
            <a:off x="1554480" y="2618932"/>
            <a:ext cx="9216301" cy="2677656"/>
          </a:xfrm>
          <a:prstGeom prst="rect">
            <a:avLst/>
          </a:prstGeom>
          <a:noFill/>
        </p:spPr>
        <p:txBody>
          <a:bodyPr wrap="square" lIns="91440" tIns="45720" rIns="91440" bIns="45720" rtlCol="0" anchor="t">
            <a:spAutoFit/>
          </a:bodyPr>
          <a:lstStyle/>
          <a:p>
            <a:pPr marL="342900" indent="-342900">
              <a:buFont typeface="+mj-lt"/>
              <a:buAutoNum type="arabicPeriod"/>
            </a:pPr>
            <a:r>
              <a:rPr lang="th-TH" sz="2800" err="1">
                <a:cs typeface="Cordia New"/>
              </a:rPr>
              <a:t>Initialize</a:t>
            </a:r>
            <a:r>
              <a:rPr lang="th-TH" sz="2800">
                <a:cs typeface="Cordia New"/>
              </a:rPr>
              <a:t> </a:t>
            </a:r>
            <a:r>
              <a:rPr lang="th-TH" sz="2800" err="1">
                <a:cs typeface="Cordia New"/>
              </a:rPr>
              <a:t>rclpy</a:t>
            </a:r>
            <a:r>
              <a:rPr lang="th-TH" sz="2800">
                <a:cs typeface="Cordia New"/>
              </a:rPr>
              <a:t> </a:t>
            </a:r>
            <a:r>
              <a:rPr lang="th-TH" sz="2800" err="1">
                <a:cs typeface="Cordia New"/>
              </a:rPr>
              <a:t>using</a:t>
            </a:r>
            <a:r>
              <a:rPr lang="th-TH" sz="2800">
                <a:cs typeface="Cordia New"/>
              </a:rPr>
              <a:t> '</a:t>
            </a:r>
            <a:r>
              <a:rPr lang="en-US" sz="2800" err="1"/>
              <a:t>rclpy.init</a:t>
            </a:r>
            <a:r>
              <a:rPr lang="en-US" sz="2800"/>
              <a:t>'</a:t>
            </a:r>
          </a:p>
          <a:p>
            <a:pPr marL="342900" indent="-342900">
              <a:buFont typeface="+mj-lt"/>
              <a:buAutoNum type="arabicPeriod"/>
            </a:pPr>
            <a:r>
              <a:rPr lang="th-TH" sz="2800" err="1">
                <a:cs typeface="Cordia New"/>
              </a:rPr>
              <a:t>Instantiate</a:t>
            </a:r>
            <a:r>
              <a:rPr lang="th-TH" sz="2800">
                <a:cs typeface="Cordia New"/>
              </a:rPr>
              <a:t> a "</a:t>
            </a:r>
            <a:r>
              <a:rPr lang="th-TH" sz="2800" err="1">
                <a:cs typeface="Cordia New"/>
              </a:rPr>
              <a:t>Node</a:t>
            </a:r>
            <a:r>
              <a:rPr lang="th-TH" sz="2800">
                <a:cs typeface="Cordia New"/>
              </a:rPr>
              <a:t>" </a:t>
            </a:r>
            <a:r>
              <a:rPr lang="th-TH" sz="2800" err="1">
                <a:cs typeface="Cordia New"/>
              </a:rPr>
              <a:t>object</a:t>
            </a:r>
            <a:r>
              <a:rPr lang="th-TH" sz="2800">
                <a:cs typeface="Cordia New"/>
              </a:rPr>
              <a:t> </a:t>
            </a:r>
            <a:endParaRPr lang="en-US" sz="2800">
              <a:cs typeface="Calibri"/>
            </a:endParaRPr>
          </a:p>
          <a:p>
            <a:pPr marL="342900" indent="-342900">
              <a:buFont typeface="+mj-lt"/>
              <a:buAutoNum type="arabicPeriod"/>
            </a:pPr>
            <a:r>
              <a:rPr lang="en-US" sz="2800"/>
              <a:t>Spin</a:t>
            </a:r>
            <a:r>
              <a:rPr lang="th-TH" sz="2800">
                <a:cs typeface="Cordia New"/>
              </a:rPr>
              <a:t> </a:t>
            </a:r>
            <a:r>
              <a:rPr lang="en-US" sz="2800"/>
              <a:t>node</a:t>
            </a:r>
            <a:r>
              <a:rPr lang="th-TH" sz="2800">
                <a:cs typeface="Cordia New"/>
              </a:rPr>
              <a:t> </a:t>
            </a:r>
            <a:r>
              <a:rPr lang="th-TH" sz="2800" err="1">
                <a:cs typeface="Cordia New"/>
              </a:rPr>
              <a:t>using</a:t>
            </a:r>
            <a:r>
              <a:rPr lang="th-TH" sz="2800">
                <a:cs typeface="Cordia New"/>
              </a:rPr>
              <a:t> </a:t>
            </a:r>
            <a:r>
              <a:rPr lang="en-US" sz="2800" err="1"/>
              <a:t>rclpy.spin</a:t>
            </a:r>
            <a:r>
              <a:rPr lang="en-US" sz="2800"/>
              <a:t> or spin once in a while-loop </a:t>
            </a:r>
            <a:endParaRPr lang="en-US" sz="2800">
              <a:cs typeface="Calibri"/>
            </a:endParaRPr>
          </a:p>
          <a:p>
            <a:pPr marL="342900" indent="-342900">
              <a:buFont typeface="+mj-lt"/>
              <a:buAutoNum type="arabicPeriod"/>
            </a:pPr>
            <a:r>
              <a:rPr lang="th-TH" sz="2800" err="1">
                <a:cs typeface="Cordia New"/>
              </a:rPr>
              <a:t>If</a:t>
            </a:r>
            <a:r>
              <a:rPr lang="th-TH" sz="2800">
                <a:cs typeface="Cordia New"/>
              </a:rPr>
              <a:t> </a:t>
            </a:r>
            <a:r>
              <a:rPr lang="th-TH" sz="2800" err="1">
                <a:cs typeface="Cordia New"/>
              </a:rPr>
              <a:t>the</a:t>
            </a:r>
            <a:r>
              <a:rPr lang="th-TH" sz="2800">
                <a:cs typeface="Cordia New"/>
              </a:rPr>
              <a:t> </a:t>
            </a:r>
            <a:r>
              <a:rPr lang="th-TH" sz="2800" err="1">
                <a:cs typeface="Cordia New"/>
              </a:rPr>
              <a:t>processs</a:t>
            </a:r>
            <a:r>
              <a:rPr lang="th-TH" sz="2800">
                <a:cs typeface="Cordia New"/>
              </a:rPr>
              <a:t> </a:t>
            </a:r>
            <a:r>
              <a:rPr lang="th-TH" sz="2800" err="1">
                <a:cs typeface="Cordia New"/>
              </a:rPr>
              <a:t>exits</a:t>
            </a:r>
            <a:r>
              <a:rPr lang="th-TH" sz="2800">
                <a:cs typeface="Cordia New"/>
              </a:rPr>
              <a:t> </a:t>
            </a:r>
            <a:r>
              <a:rPr lang="th-TH" sz="2800" err="1">
                <a:cs typeface="Cordia New"/>
              </a:rPr>
              <a:t>the</a:t>
            </a:r>
            <a:r>
              <a:rPr lang="th-TH" sz="2800">
                <a:cs typeface="Cordia New"/>
              </a:rPr>
              <a:t> </a:t>
            </a:r>
            <a:r>
              <a:rPr lang="th-TH" sz="2800" err="1">
                <a:cs typeface="Cordia New"/>
              </a:rPr>
              <a:t>loop</a:t>
            </a:r>
            <a:r>
              <a:rPr lang="th-TH" sz="2800">
                <a:cs typeface="Cordia New"/>
              </a:rPr>
              <a:t>, </a:t>
            </a:r>
            <a:r>
              <a:rPr lang="th-TH" sz="2800" err="1">
                <a:cs typeface="Cordia New"/>
              </a:rPr>
              <a:t>de</a:t>
            </a:r>
            <a:r>
              <a:rPr lang="th-TH" sz="2800">
                <a:cs typeface="Cordia New"/>
              </a:rPr>
              <a:t>-</a:t>
            </a:r>
            <a:r>
              <a:rPr lang="th-TH" sz="2800" err="1">
                <a:cs typeface="Cordia New"/>
              </a:rPr>
              <a:t>construct</a:t>
            </a:r>
            <a:r>
              <a:rPr lang="th-TH" sz="2800">
                <a:cs typeface="Cordia New"/>
              </a:rPr>
              <a:t> </a:t>
            </a:r>
            <a:r>
              <a:rPr lang="th-TH" sz="2800" err="1">
                <a:cs typeface="Cordia New"/>
              </a:rPr>
              <a:t>the</a:t>
            </a:r>
            <a:r>
              <a:rPr lang="th-TH" sz="2800">
                <a:cs typeface="Cordia New"/>
              </a:rPr>
              <a:t> </a:t>
            </a:r>
            <a:r>
              <a:rPr lang="th-TH" sz="2800" err="1">
                <a:cs typeface="Cordia New"/>
              </a:rPr>
              <a:t>node</a:t>
            </a:r>
            <a:endParaRPr lang="en-US" sz="2800" err="1">
              <a:cs typeface="Calibri"/>
            </a:endParaRPr>
          </a:p>
          <a:p>
            <a:pPr marL="342900" indent="-342900">
              <a:buFont typeface="+mj-lt"/>
              <a:buAutoNum type="arabicPeriod"/>
            </a:pPr>
            <a:r>
              <a:rPr lang="th-TH" sz="2800" err="1">
                <a:cs typeface="Cordia New"/>
              </a:rPr>
              <a:t>Shut</a:t>
            </a:r>
            <a:r>
              <a:rPr lang="th-TH" sz="2800">
                <a:cs typeface="Cordia New"/>
              </a:rPr>
              <a:t> </a:t>
            </a:r>
            <a:r>
              <a:rPr lang="th-TH" sz="2800" err="1">
                <a:cs typeface="Cordia New"/>
              </a:rPr>
              <a:t>down</a:t>
            </a:r>
            <a:r>
              <a:rPr lang="th-TH" sz="2800">
                <a:cs typeface="Cordia New"/>
              </a:rPr>
              <a:t> </a:t>
            </a:r>
            <a:r>
              <a:rPr lang="th-TH" sz="2800" err="1">
                <a:cs typeface="Cordia New"/>
              </a:rPr>
              <a:t>rclpy</a:t>
            </a:r>
            <a:r>
              <a:rPr lang="th-TH" sz="2800">
                <a:cs typeface="Cordia New"/>
              </a:rPr>
              <a:t> </a:t>
            </a:r>
            <a:r>
              <a:rPr lang="th-TH" sz="2800" err="1">
                <a:cs typeface="Cordia New"/>
              </a:rPr>
              <a:t>using</a:t>
            </a:r>
            <a:r>
              <a:rPr lang="th-TH" sz="2800">
                <a:cs typeface="Cordia New"/>
              </a:rPr>
              <a:t>  </a:t>
            </a:r>
            <a:r>
              <a:rPr lang="en-US" sz="2800" err="1"/>
              <a:t>rclpy.shutdown</a:t>
            </a:r>
            <a:endParaRPr lang="en-US" sz="2800">
              <a:cs typeface="Calibri"/>
            </a:endParaRPr>
          </a:p>
          <a:p>
            <a:pPr marL="342900" indent="-342900">
              <a:buFont typeface="+mj-lt"/>
              <a:buAutoNum type="arabicPeriod"/>
            </a:pPr>
            <a:endParaRPr lang="en-US" sz="2800"/>
          </a:p>
        </p:txBody>
      </p:sp>
      <p:sp>
        <p:nvSpPr>
          <p:cNvPr id="7" name="TextBox 6">
            <a:extLst>
              <a:ext uri="{FF2B5EF4-FFF2-40B4-BE49-F238E27FC236}">
                <a16:creationId xmlns:a16="http://schemas.microsoft.com/office/drawing/2014/main" id="{587A4FB0-B92C-5520-9A69-DF0A6BCA3AB3}"/>
              </a:ext>
            </a:extLst>
          </p:cNvPr>
          <p:cNvSpPr txBox="1"/>
          <p:nvPr/>
        </p:nvSpPr>
        <p:spPr>
          <a:xfrm>
            <a:off x="98612" y="6462993"/>
            <a:ext cx="3984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5" name="TextBox 2">
            <a:extLst>
              <a:ext uri="{FF2B5EF4-FFF2-40B4-BE49-F238E27FC236}">
                <a16:creationId xmlns:a16="http://schemas.microsoft.com/office/drawing/2014/main" id="{795F7FCB-B2AA-0235-E7E6-7D0134378FF4}"/>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748382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DAC-6082-A9A0-92AA-892BD1381206}"/>
              </a:ext>
            </a:extLst>
          </p:cNvPr>
          <p:cNvSpPr>
            <a:spLocks noGrp="1"/>
          </p:cNvSpPr>
          <p:nvPr>
            <p:ph type="title"/>
          </p:nvPr>
        </p:nvSpPr>
        <p:spPr/>
        <p:txBody>
          <a:bodyPr>
            <a:normAutofit/>
          </a:bodyPr>
          <a:lstStyle/>
          <a:p>
            <a:r>
              <a:rPr lang="th-TH" sz="3600" dirty="0">
                <a:cs typeface="Angsana New"/>
              </a:rPr>
              <a:t>Inheriting a Node class from RCLPY</a:t>
            </a:r>
          </a:p>
        </p:txBody>
      </p:sp>
      <p:sp>
        <p:nvSpPr>
          <p:cNvPr id="4" name="Slide Number Placeholder 3">
            <a:extLst>
              <a:ext uri="{FF2B5EF4-FFF2-40B4-BE49-F238E27FC236}">
                <a16:creationId xmlns:a16="http://schemas.microsoft.com/office/drawing/2014/main" id="{3AF07124-8EEF-EA9D-92FC-FD33AF0CFE34}"/>
              </a:ext>
            </a:extLst>
          </p:cNvPr>
          <p:cNvSpPr>
            <a:spLocks noGrp="1"/>
          </p:cNvSpPr>
          <p:nvPr>
            <p:ph type="sldNum" sz="quarter" idx="12"/>
          </p:nvPr>
        </p:nvSpPr>
        <p:spPr/>
        <p:txBody>
          <a:bodyPr/>
          <a:lstStyle/>
          <a:p>
            <a:fld id="{CB38A507-EE2F-4DA2-8FD6-EA9443559B23}" type="slidenum">
              <a:rPr lang="en-US" smtClean="0"/>
              <a:t>57</a:t>
            </a:fld>
            <a:endParaRPr lang="en-US"/>
          </a:p>
        </p:txBody>
      </p:sp>
      <p:pic>
        <p:nvPicPr>
          <p:cNvPr id="18" name="Google Shape;67;p15">
            <a:extLst>
              <a:ext uri="{FF2B5EF4-FFF2-40B4-BE49-F238E27FC236}">
                <a16:creationId xmlns:a16="http://schemas.microsoft.com/office/drawing/2014/main" id="{47B1680A-73CE-06D8-EE01-3A354B08EAF0}"/>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7" name="TextBox 6">
            <a:extLst>
              <a:ext uri="{FF2B5EF4-FFF2-40B4-BE49-F238E27FC236}">
                <a16:creationId xmlns:a16="http://schemas.microsoft.com/office/drawing/2014/main" id="{6654830F-AA14-C659-354E-954AB8BCE1C8}"/>
              </a:ext>
            </a:extLst>
          </p:cNvPr>
          <p:cNvSpPr txBox="1"/>
          <p:nvPr/>
        </p:nvSpPr>
        <p:spPr>
          <a:xfrm>
            <a:off x="1516380" y="2447482"/>
            <a:ext cx="9216301" cy="523220"/>
          </a:xfrm>
          <a:prstGeom prst="rect">
            <a:avLst/>
          </a:prstGeom>
          <a:noFill/>
        </p:spPr>
        <p:txBody>
          <a:bodyPr wrap="square" lIns="91440" tIns="45720" rIns="91440" bIns="45720" rtlCol="0" anchor="t">
            <a:spAutoFit/>
          </a:bodyPr>
          <a:lstStyle/>
          <a:p>
            <a:endParaRPr lang="en-US" sz="2800">
              <a:cs typeface="Calibri" panose="020F0502020204030204"/>
            </a:endParaRPr>
          </a:p>
        </p:txBody>
      </p:sp>
      <p:sp>
        <p:nvSpPr>
          <p:cNvPr id="9" name="TextBox 8">
            <a:extLst>
              <a:ext uri="{FF2B5EF4-FFF2-40B4-BE49-F238E27FC236}">
                <a16:creationId xmlns:a16="http://schemas.microsoft.com/office/drawing/2014/main" id="{863C8F6E-6999-67E2-D0F1-EAD70B84D38C}"/>
              </a:ext>
            </a:extLst>
          </p:cNvPr>
          <p:cNvSpPr txBox="1"/>
          <p:nvPr/>
        </p:nvSpPr>
        <p:spPr>
          <a:xfrm>
            <a:off x="1516380" y="1885507"/>
            <a:ext cx="9216301" cy="5016758"/>
          </a:xfrm>
          <a:prstGeom prst="rect">
            <a:avLst/>
          </a:prstGeom>
          <a:noFill/>
        </p:spPr>
        <p:txBody>
          <a:bodyPr wrap="square" lIns="91440" tIns="45720" rIns="91440" bIns="45720" rtlCol="0" anchor="t">
            <a:spAutoFit/>
          </a:bodyPr>
          <a:lstStyle/>
          <a:p>
            <a:r>
              <a:rPr lang="en-US" sz="2400" dirty="0">
                <a:ea typeface="+mn-lt"/>
                <a:cs typeface="+mn-lt"/>
              </a:rPr>
              <a:t>from </a:t>
            </a:r>
            <a:r>
              <a:rPr lang="en-US" sz="2400" dirty="0" err="1">
                <a:ea typeface="+mn-lt"/>
                <a:cs typeface="+mn-lt"/>
              </a:rPr>
              <a:t>rclpy.node</a:t>
            </a:r>
            <a:r>
              <a:rPr lang="en-US" sz="2400" dirty="0">
                <a:ea typeface="+mn-lt"/>
                <a:cs typeface="+mn-lt"/>
              </a:rPr>
              <a:t> import Node</a:t>
            </a:r>
          </a:p>
          <a:p>
            <a:endParaRPr lang="en-US" sz="2400" dirty="0">
              <a:ea typeface="+mn-lt"/>
              <a:cs typeface="+mn-lt"/>
            </a:endParaRPr>
          </a:p>
          <a:p>
            <a:r>
              <a:rPr lang="en-US" sz="2400" dirty="0">
                <a:ea typeface="+mn-lt"/>
                <a:cs typeface="+mn-lt"/>
              </a:rPr>
              <a:t>class </a:t>
            </a:r>
            <a:r>
              <a:rPr lang="en-US" sz="2400" dirty="0" err="1">
                <a:ea typeface="+mn-lt"/>
                <a:cs typeface="+mn-lt"/>
              </a:rPr>
              <a:t>NewNode</a:t>
            </a:r>
            <a:r>
              <a:rPr lang="en-US" sz="2400" dirty="0">
                <a:ea typeface="+mn-lt"/>
                <a:cs typeface="+mn-lt"/>
              </a:rPr>
              <a:t>(Node):</a:t>
            </a:r>
            <a:endParaRPr lang="en-US" sz="2400" dirty="0">
              <a:cs typeface="Calibri" panose="020F0502020204030204"/>
            </a:endParaRPr>
          </a:p>
          <a:p>
            <a:r>
              <a:rPr lang="en-US" sz="2400" dirty="0">
                <a:ea typeface="+mn-lt"/>
                <a:cs typeface="+mn-lt"/>
              </a:rPr>
              <a:t>    def __</a:t>
            </a:r>
            <a:r>
              <a:rPr lang="en-US" sz="2400" dirty="0" err="1">
                <a:ea typeface="+mn-lt"/>
                <a:cs typeface="+mn-lt"/>
              </a:rPr>
              <a:t>init</a:t>
            </a:r>
            <a:r>
              <a:rPr lang="en-US" sz="2400" dirty="0">
                <a:ea typeface="+mn-lt"/>
                <a:cs typeface="+mn-lt"/>
              </a:rPr>
              <a:t>__(self):</a:t>
            </a:r>
            <a:endParaRPr lang="th-TH" sz="2400" dirty="0">
              <a:cs typeface="Cordia New"/>
            </a:endParaRPr>
          </a:p>
          <a:p>
            <a:r>
              <a:rPr lang="en-US" sz="2400" dirty="0">
                <a:ea typeface="+mn-lt"/>
                <a:cs typeface="+mn-lt"/>
              </a:rPr>
              <a:t>        super().__</a:t>
            </a:r>
            <a:r>
              <a:rPr lang="en-US" sz="2400" dirty="0" err="1">
                <a:ea typeface="+mn-lt"/>
                <a:cs typeface="+mn-lt"/>
              </a:rPr>
              <a:t>init</a:t>
            </a:r>
            <a:r>
              <a:rPr lang="en-US" sz="2400" dirty="0">
                <a:ea typeface="+mn-lt"/>
                <a:cs typeface="+mn-lt"/>
              </a:rPr>
              <a:t>__('</a:t>
            </a:r>
            <a:r>
              <a:rPr lang="en-US" sz="2400" dirty="0" err="1">
                <a:ea typeface="+mn-lt"/>
                <a:cs typeface="+mn-lt"/>
              </a:rPr>
              <a:t>node_name</a:t>
            </a:r>
            <a:r>
              <a:rPr lang="en-US" sz="2400" dirty="0">
                <a:ea typeface="+mn-lt"/>
                <a:cs typeface="+mn-lt"/>
              </a:rPr>
              <a:t>')</a:t>
            </a:r>
            <a:endParaRPr lang="th-TH" sz="2400" dirty="0">
              <a:cs typeface="Cordia New"/>
            </a:endParaRPr>
          </a:p>
          <a:p>
            <a:r>
              <a:rPr lang="en-US" sz="2400" dirty="0">
                <a:ea typeface="+mn-lt"/>
                <a:cs typeface="+mn-lt"/>
              </a:rPr>
              <a:t>def main(</a:t>
            </a:r>
            <a:r>
              <a:rPr lang="en-US" sz="2400" dirty="0" err="1">
                <a:ea typeface="+mn-lt"/>
                <a:cs typeface="+mn-lt"/>
              </a:rPr>
              <a:t>args</a:t>
            </a:r>
            <a:r>
              <a:rPr lang="en-US" sz="2400" dirty="0">
                <a:ea typeface="+mn-lt"/>
                <a:cs typeface="+mn-lt"/>
              </a:rPr>
              <a:t>=None):</a:t>
            </a:r>
            <a:endParaRPr lang="en-US" sz="2400" dirty="0">
              <a:cs typeface="Calibri" panose="020F0502020204030204"/>
            </a:endParaRPr>
          </a:p>
          <a:p>
            <a:r>
              <a:rPr lang="en-US" sz="2400" dirty="0">
                <a:ea typeface="+mn-lt"/>
                <a:cs typeface="+mn-lt"/>
              </a:rPr>
              <a:t>    </a:t>
            </a:r>
            <a:r>
              <a:rPr lang="en-US" sz="2400" dirty="0" err="1">
                <a:ea typeface="+mn-lt"/>
                <a:cs typeface="+mn-lt"/>
              </a:rPr>
              <a:t>rclpy.init</a:t>
            </a:r>
            <a:r>
              <a:rPr lang="en-US" sz="2400" dirty="0">
                <a:ea typeface="+mn-lt"/>
                <a:cs typeface="+mn-lt"/>
              </a:rPr>
              <a:t>(</a:t>
            </a:r>
            <a:r>
              <a:rPr lang="en-US" sz="2400" dirty="0" err="1">
                <a:ea typeface="+mn-lt"/>
                <a:cs typeface="+mn-lt"/>
              </a:rPr>
              <a:t>args</a:t>
            </a:r>
            <a:r>
              <a:rPr lang="en-US" sz="2400" dirty="0">
                <a:ea typeface="+mn-lt"/>
                <a:cs typeface="+mn-lt"/>
              </a:rPr>
              <a:t>=</a:t>
            </a:r>
            <a:r>
              <a:rPr lang="en-US" sz="2400" dirty="0" err="1">
                <a:ea typeface="+mn-lt"/>
                <a:cs typeface="+mn-lt"/>
              </a:rPr>
              <a:t>args</a:t>
            </a:r>
            <a:r>
              <a:rPr lang="en-US" sz="2400" dirty="0">
                <a:ea typeface="+mn-lt"/>
                <a:cs typeface="+mn-lt"/>
              </a:rPr>
              <a:t>)</a:t>
            </a:r>
            <a:endParaRPr lang="en-US" sz="2400" dirty="0">
              <a:cs typeface="Calibri" panose="020F0502020204030204"/>
            </a:endParaRPr>
          </a:p>
          <a:p>
            <a:r>
              <a:rPr lang="en-US" sz="2400" dirty="0">
                <a:ea typeface="+mn-lt"/>
                <a:cs typeface="+mn-lt"/>
              </a:rPr>
              <a:t>    node = </a:t>
            </a:r>
            <a:r>
              <a:rPr lang="en-US" sz="2400" dirty="0" err="1">
                <a:ea typeface="+mn-lt"/>
                <a:cs typeface="+mn-lt"/>
              </a:rPr>
              <a:t>NewNode</a:t>
            </a:r>
            <a:r>
              <a:rPr lang="en-US" sz="2400" dirty="0">
                <a:ea typeface="+mn-lt"/>
                <a:cs typeface="+mn-lt"/>
              </a:rPr>
              <a:t>()</a:t>
            </a:r>
            <a:endParaRPr lang="th-TH" sz="2400" dirty="0">
              <a:cs typeface="Cordia New"/>
            </a:endParaRPr>
          </a:p>
          <a:p>
            <a:r>
              <a:rPr lang="en-US" sz="2400" dirty="0">
                <a:ea typeface="+mn-lt"/>
                <a:cs typeface="+mn-lt"/>
              </a:rPr>
              <a:t>    </a:t>
            </a:r>
            <a:r>
              <a:rPr lang="en-US" sz="2400" dirty="0" err="1">
                <a:ea typeface="+mn-lt"/>
                <a:cs typeface="+mn-lt"/>
              </a:rPr>
              <a:t>rclpy.spin</a:t>
            </a:r>
            <a:r>
              <a:rPr lang="en-US" sz="2400" dirty="0">
                <a:ea typeface="+mn-lt"/>
                <a:cs typeface="+mn-lt"/>
              </a:rPr>
              <a:t>(node)</a:t>
            </a:r>
            <a:endParaRPr lang="en-US" sz="2400" dirty="0">
              <a:cs typeface="Calibri" panose="020F0502020204030204"/>
            </a:endParaRPr>
          </a:p>
          <a:p>
            <a:r>
              <a:rPr lang="en-US" sz="2400" dirty="0">
                <a:ea typeface="+mn-lt"/>
                <a:cs typeface="+mn-lt"/>
              </a:rPr>
              <a:t>    </a:t>
            </a:r>
            <a:r>
              <a:rPr lang="en-US" sz="2400" dirty="0" err="1">
                <a:ea typeface="+mn-lt"/>
                <a:cs typeface="+mn-lt"/>
              </a:rPr>
              <a:t>node.destroy_node</a:t>
            </a:r>
            <a:r>
              <a:rPr lang="en-US" sz="2400" dirty="0">
                <a:ea typeface="+mn-lt"/>
                <a:cs typeface="+mn-lt"/>
              </a:rPr>
              <a:t>()</a:t>
            </a:r>
            <a:endParaRPr lang="en-US" sz="2400" dirty="0">
              <a:cs typeface="Calibri" panose="020F0502020204030204"/>
            </a:endParaRPr>
          </a:p>
          <a:p>
            <a:r>
              <a:rPr lang="en-US" sz="2400" dirty="0">
                <a:ea typeface="+mn-lt"/>
                <a:cs typeface="+mn-lt"/>
              </a:rPr>
              <a:t>    </a:t>
            </a:r>
            <a:r>
              <a:rPr lang="en-US" sz="2400" dirty="0" err="1">
                <a:ea typeface="+mn-lt"/>
                <a:cs typeface="+mn-lt"/>
              </a:rPr>
              <a:t>rclpy.shutdown</a:t>
            </a:r>
            <a:r>
              <a:rPr lang="en-US" sz="2400" dirty="0">
                <a:ea typeface="+mn-lt"/>
                <a:cs typeface="+mn-lt"/>
              </a:rPr>
              <a:t>()</a:t>
            </a:r>
            <a:br>
              <a:rPr lang="en-US" sz="1600" dirty="0"/>
            </a:br>
            <a:br>
              <a:rPr lang="en-US" sz="1600" dirty="0"/>
            </a:br>
            <a:endParaRPr lang="en-US" sz="1600" dirty="0">
              <a:cs typeface="Calibri"/>
            </a:endParaRPr>
          </a:p>
          <a:p>
            <a:pPr marL="342900" indent="-342900">
              <a:buAutoNum type="arabicPeriod"/>
            </a:pPr>
            <a:endParaRPr lang="en-US" sz="2400" dirty="0">
              <a:cs typeface="Calibri"/>
            </a:endParaRPr>
          </a:p>
        </p:txBody>
      </p:sp>
      <p:sp>
        <p:nvSpPr>
          <p:cNvPr id="5" name="Rectangle 4">
            <a:extLst>
              <a:ext uri="{FF2B5EF4-FFF2-40B4-BE49-F238E27FC236}">
                <a16:creationId xmlns:a16="http://schemas.microsoft.com/office/drawing/2014/main" id="{C710BD11-B58C-400A-1F75-884B45902B3A}"/>
              </a:ext>
            </a:extLst>
          </p:cNvPr>
          <p:cNvSpPr/>
          <p:nvPr/>
        </p:nvSpPr>
        <p:spPr>
          <a:xfrm>
            <a:off x="8124824" y="1857374"/>
            <a:ext cx="33528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Import the superclass "Node"</a:t>
            </a:r>
            <a:endParaRPr lang="en-US" dirty="0">
              <a:solidFill>
                <a:schemeClr val="tx1"/>
              </a:solidFill>
            </a:endParaRPr>
          </a:p>
        </p:txBody>
      </p:sp>
      <p:cxnSp>
        <p:nvCxnSpPr>
          <p:cNvPr id="8" name="Straight Arrow Connector 7">
            <a:extLst>
              <a:ext uri="{FF2B5EF4-FFF2-40B4-BE49-F238E27FC236}">
                <a16:creationId xmlns:a16="http://schemas.microsoft.com/office/drawing/2014/main" id="{437507A9-FB60-36B9-B7EB-B1553C01E894}"/>
              </a:ext>
            </a:extLst>
          </p:cNvPr>
          <p:cNvCxnSpPr>
            <a:cxnSpLocks/>
          </p:cNvCxnSpPr>
          <p:nvPr/>
        </p:nvCxnSpPr>
        <p:spPr>
          <a:xfrm flipH="1">
            <a:off x="5476875" y="2114550"/>
            <a:ext cx="2409825" cy="95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C5F1ADF-5C31-7392-FFA0-706B42732A1B}"/>
              </a:ext>
            </a:extLst>
          </p:cNvPr>
          <p:cNvSpPr/>
          <p:nvPr/>
        </p:nvSpPr>
        <p:spPr>
          <a:xfrm>
            <a:off x="8086724" y="2600324"/>
            <a:ext cx="33528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a:t>
            </a:r>
            <a:r>
              <a:rPr lang="en-US" dirty="0" err="1">
                <a:solidFill>
                  <a:schemeClr val="tx1"/>
                </a:solidFill>
                <a:cs typeface="Calibri"/>
              </a:rPr>
              <a:t>NewNode</a:t>
            </a:r>
            <a:r>
              <a:rPr lang="en-US" dirty="0">
                <a:solidFill>
                  <a:schemeClr val="tx1"/>
                </a:solidFill>
                <a:cs typeface="Calibri"/>
              </a:rPr>
              <a:t>" inherits from "Node"</a:t>
            </a:r>
          </a:p>
        </p:txBody>
      </p:sp>
      <p:cxnSp>
        <p:nvCxnSpPr>
          <p:cNvPr id="11" name="Straight Arrow Connector 10">
            <a:extLst>
              <a:ext uri="{FF2B5EF4-FFF2-40B4-BE49-F238E27FC236}">
                <a16:creationId xmlns:a16="http://schemas.microsoft.com/office/drawing/2014/main" id="{6ED96AF2-102F-E50B-9D1C-B5EB65196E42}"/>
              </a:ext>
            </a:extLst>
          </p:cNvPr>
          <p:cNvCxnSpPr>
            <a:cxnSpLocks/>
          </p:cNvCxnSpPr>
          <p:nvPr/>
        </p:nvCxnSpPr>
        <p:spPr>
          <a:xfrm flipH="1">
            <a:off x="5438775" y="2857500"/>
            <a:ext cx="2409825" cy="95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A924B6B-0F8F-C6D5-512D-A8EB420C1324}"/>
              </a:ext>
            </a:extLst>
          </p:cNvPr>
          <p:cNvSpPr/>
          <p:nvPr/>
        </p:nvSpPr>
        <p:spPr>
          <a:xfrm>
            <a:off x="8124824" y="4695824"/>
            <a:ext cx="360045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Running a node of class "</a:t>
            </a:r>
            <a:r>
              <a:rPr lang="en-US" dirty="0" err="1">
                <a:solidFill>
                  <a:schemeClr val="tx1"/>
                </a:solidFill>
                <a:cs typeface="Calibri"/>
              </a:rPr>
              <a:t>NewNode</a:t>
            </a:r>
            <a:r>
              <a:rPr lang="en-US" dirty="0">
                <a:solidFill>
                  <a:schemeClr val="tx1"/>
                </a:solidFill>
                <a:cs typeface="Calibri"/>
              </a:rPr>
              <a:t>"</a:t>
            </a:r>
            <a:endParaRPr lang="en-US" dirty="0">
              <a:solidFill>
                <a:schemeClr val="tx1"/>
              </a:solidFill>
            </a:endParaRPr>
          </a:p>
        </p:txBody>
      </p:sp>
      <p:cxnSp>
        <p:nvCxnSpPr>
          <p:cNvPr id="13" name="Straight Arrow Connector 12">
            <a:extLst>
              <a:ext uri="{FF2B5EF4-FFF2-40B4-BE49-F238E27FC236}">
                <a16:creationId xmlns:a16="http://schemas.microsoft.com/office/drawing/2014/main" id="{2EEB5D4A-27F7-C299-8337-28673D301F75}"/>
              </a:ext>
            </a:extLst>
          </p:cNvPr>
          <p:cNvCxnSpPr>
            <a:cxnSpLocks/>
          </p:cNvCxnSpPr>
          <p:nvPr/>
        </p:nvCxnSpPr>
        <p:spPr>
          <a:xfrm flipH="1">
            <a:off x="5438775" y="4933950"/>
            <a:ext cx="2409825" cy="95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4" name="Right Brace 13">
            <a:extLst>
              <a:ext uri="{FF2B5EF4-FFF2-40B4-BE49-F238E27FC236}">
                <a16:creationId xmlns:a16="http://schemas.microsoft.com/office/drawing/2014/main" id="{5CEA914E-2E42-103E-5C59-68F47383D711}"/>
              </a:ext>
            </a:extLst>
          </p:cNvPr>
          <p:cNvSpPr/>
          <p:nvPr/>
        </p:nvSpPr>
        <p:spPr>
          <a:xfrm>
            <a:off x="4886324" y="4152899"/>
            <a:ext cx="314325" cy="1762125"/>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0F2CA865-8BF2-5D04-111E-A9297403F23A}"/>
              </a:ext>
            </a:extLst>
          </p:cNvPr>
          <p:cNvSpPr txBox="1"/>
          <p:nvPr/>
        </p:nvSpPr>
        <p:spPr>
          <a:xfrm>
            <a:off x="98612" y="6462993"/>
            <a:ext cx="3984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5" name="TextBox 2">
            <a:extLst>
              <a:ext uri="{FF2B5EF4-FFF2-40B4-BE49-F238E27FC236}">
                <a16:creationId xmlns:a16="http://schemas.microsoft.com/office/drawing/2014/main" id="{9D3AE1C1-65FE-1DA1-F4B4-68F4F9190AA1}"/>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38694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DAC-6082-A9A0-92AA-892BD1381206}"/>
              </a:ext>
            </a:extLst>
          </p:cNvPr>
          <p:cNvSpPr>
            <a:spLocks noGrp="1"/>
          </p:cNvSpPr>
          <p:nvPr>
            <p:ph type="title"/>
          </p:nvPr>
        </p:nvSpPr>
        <p:spPr/>
        <p:txBody>
          <a:bodyPr>
            <a:normAutofit/>
          </a:bodyPr>
          <a:lstStyle/>
          <a:p>
            <a:r>
              <a:rPr lang="th-TH" sz="3600" err="1">
                <a:cs typeface="Angsana New"/>
              </a:rPr>
              <a:t>Attaching</a:t>
            </a:r>
            <a:r>
              <a:rPr lang="th-TH" sz="3600">
                <a:cs typeface="Angsana New"/>
              </a:rPr>
              <a:t> a </a:t>
            </a:r>
            <a:r>
              <a:rPr lang="th-TH" sz="3600" err="1">
                <a:cs typeface="Angsana New"/>
              </a:rPr>
              <a:t>timer</a:t>
            </a:r>
            <a:r>
              <a:rPr lang="th-TH" sz="3600">
                <a:cs typeface="Angsana New"/>
              </a:rPr>
              <a:t> </a:t>
            </a:r>
            <a:r>
              <a:rPr lang="th-TH" sz="3600" err="1">
                <a:cs typeface="Angsana New"/>
              </a:rPr>
              <a:t>to</a:t>
            </a:r>
            <a:r>
              <a:rPr lang="th-TH" sz="3600">
                <a:cs typeface="Angsana New"/>
              </a:rPr>
              <a:t> </a:t>
            </a:r>
            <a:r>
              <a:rPr lang="th-TH" sz="3600" err="1">
                <a:cs typeface="Angsana New"/>
              </a:rPr>
              <a:t>the</a:t>
            </a:r>
            <a:r>
              <a:rPr lang="th-TH" sz="3600">
                <a:cs typeface="Angsana New"/>
              </a:rPr>
              <a:t> </a:t>
            </a:r>
            <a:r>
              <a:rPr lang="th-TH" sz="3600" err="1">
                <a:cs typeface="Angsana New"/>
              </a:rPr>
              <a:t>node</a:t>
            </a:r>
          </a:p>
        </p:txBody>
      </p:sp>
      <p:sp>
        <p:nvSpPr>
          <p:cNvPr id="4" name="Slide Number Placeholder 3">
            <a:extLst>
              <a:ext uri="{FF2B5EF4-FFF2-40B4-BE49-F238E27FC236}">
                <a16:creationId xmlns:a16="http://schemas.microsoft.com/office/drawing/2014/main" id="{3AF07124-8EEF-EA9D-92FC-FD33AF0CFE34}"/>
              </a:ext>
            </a:extLst>
          </p:cNvPr>
          <p:cNvSpPr>
            <a:spLocks noGrp="1"/>
          </p:cNvSpPr>
          <p:nvPr>
            <p:ph type="sldNum" sz="quarter" idx="12"/>
          </p:nvPr>
        </p:nvSpPr>
        <p:spPr/>
        <p:txBody>
          <a:bodyPr/>
          <a:lstStyle/>
          <a:p>
            <a:fld id="{CB38A507-EE2F-4DA2-8FD6-EA9443559B23}" type="slidenum">
              <a:rPr lang="en-US" smtClean="0"/>
              <a:t>58</a:t>
            </a:fld>
            <a:endParaRPr lang="en-US"/>
          </a:p>
        </p:txBody>
      </p:sp>
      <p:pic>
        <p:nvPicPr>
          <p:cNvPr id="18" name="Google Shape;67;p15">
            <a:extLst>
              <a:ext uri="{FF2B5EF4-FFF2-40B4-BE49-F238E27FC236}">
                <a16:creationId xmlns:a16="http://schemas.microsoft.com/office/drawing/2014/main" id="{47B1680A-73CE-06D8-EE01-3A354B08EAF0}"/>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7" name="TextBox 6">
            <a:extLst>
              <a:ext uri="{FF2B5EF4-FFF2-40B4-BE49-F238E27FC236}">
                <a16:creationId xmlns:a16="http://schemas.microsoft.com/office/drawing/2014/main" id="{6654830F-AA14-C659-354E-954AB8BCE1C8}"/>
              </a:ext>
            </a:extLst>
          </p:cNvPr>
          <p:cNvSpPr txBox="1"/>
          <p:nvPr/>
        </p:nvSpPr>
        <p:spPr>
          <a:xfrm>
            <a:off x="1516380" y="2447482"/>
            <a:ext cx="9216301" cy="523220"/>
          </a:xfrm>
          <a:prstGeom prst="rect">
            <a:avLst/>
          </a:prstGeom>
          <a:noFill/>
        </p:spPr>
        <p:txBody>
          <a:bodyPr wrap="square" lIns="91440" tIns="45720" rIns="91440" bIns="45720" rtlCol="0" anchor="t">
            <a:spAutoFit/>
          </a:bodyPr>
          <a:lstStyle/>
          <a:p>
            <a:endParaRPr lang="en-US" sz="2800">
              <a:cs typeface="Calibri" panose="020F0502020204030204"/>
            </a:endParaRPr>
          </a:p>
        </p:txBody>
      </p:sp>
      <p:sp>
        <p:nvSpPr>
          <p:cNvPr id="9" name="TextBox 8">
            <a:extLst>
              <a:ext uri="{FF2B5EF4-FFF2-40B4-BE49-F238E27FC236}">
                <a16:creationId xmlns:a16="http://schemas.microsoft.com/office/drawing/2014/main" id="{863C8F6E-6999-67E2-D0F1-EAD70B84D38C}"/>
              </a:ext>
            </a:extLst>
          </p:cNvPr>
          <p:cNvSpPr txBox="1"/>
          <p:nvPr/>
        </p:nvSpPr>
        <p:spPr>
          <a:xfrm>
            <a:off x="1516380" y="1885507"/>
            <a:ext cx="9216301" cy="3108543"/>
          </a:xfrm>
          <a:prstGeom prst="rect">
            <a:avLst/>
          </a:prstGeom>
          <a:noFill/>
        </p:spPr>
        <p:txBody>
          <a:bodyPr wrap="square" lIns="91440" tIns="45720" rIns="91440" bIns="45720" rtlCol="0" anchor="t">
            <a:spAutoFit/>
          </a:bodyPr>
          <a:lstStyle/>
          <a:p>
            <a:r>
              <a:rPr lang="en-US" sz="2800">
                <a:ea typeface="+mn-lt"/>
                <a:cs typeface="+mn-lt"/>
              </a:rPr>
              <a:t>class </a:t>
            </a:r>
            <a:r>
              <a:rPr lang="en-US" sz="2800" err="1">
                <a:ea typeface="+mn-lt"/>
                <a:cs typeface="+mn-lt"/>
              </a:rPr>
              <a:t>NewNode</a:t>
            </a:r>
            <a:r>
              <a:rPr lang="en-US" sz="2800">
                <a:ea typeface="+mn-lt"/>
                <a:cs typeface="+mn-lt"/>
              </a:rPr>
              <a:t>(Node):</a:t>
            </a:r>
            <a:endParaRPr lang="en-US">
              <a:cs typeface="Calibri" panose="020F0502020204030204"/>
            </a:endParaRPr>
          </a:p>
          <a:p>
            <a:r>
              <a:rPr lang="en-US" sz="2800">
                <a:ea typeface="+mn-lt"/>
                <a:cs typeface="+mn-lt"/>
              </a:rPr>
              <a:t>    def __</a:t>
            </a:r>
            <a:r>
              <a:rPr lang="en-US" sz="2800" err="1">
                <a:ea typeface="+mn-lt"/>
                <a:cs typeface="+mn-lt"/>
              </a:rPr>
              <a:t>init</a:t>
            </a:r>
            <a:r>
              <a:rPr lang="en-US" sz="2800">
                <a:ea typeface="+mn-lt"/>
                <a:cs typeface="+mn-lt"/>
              </a:rPr>
              <a:t>__(self):</a:t>
            </a:r>
            <a:endParaRPr lang="th-TH"/>
          </a:p>
          <a:p>
            <a:r>
              <a:rPr lang="en-US" sz="2800">
                <a:ea typeface="+mn-lt"/>
                <a:cs typeface="+mn-lt"/>
              </a:rPr>
              <a:t>        super().__</a:t>
            </a:r>
            <a:r>
              <a:rPr lang="en-US" sz="2800" err="1">
                <a:ea typeface="+mn-lt"/>
                <a:cs typeface="+mn-lt"/>
              </a:rPr>
              <a:t>init</a:t>
            </a:r>
            <a:r>
              <a:rPr lang="en-US" sz="2800">
                <a:ea typeface="+mn-lt"/>
                <a:cs typeface="+mn-lt"/>
              </a:rPr>
              <a:t>__('</a:t>
            </a:r>
            <a:r>
              <a:rPr lang="en-US" sz="2800" err="1">
                <a:ea typeface="+mn-lt"/>
                <a:cs typeface="+mn-lt"/>
              </a:rPr>
              <a:t>node_name</a:t>
            </a:r>
            <a:r>
              <a:rPr lang="en-US" sz="2800">
                <a:ea typeface="+mn-lt"/>
                <a:cs typeface="+mn-lt"/>
              </a:rPr>
              <a:t>')</a:t>
            </a:r>
            <a:endParaRPr lang="th-TH"/>
          </a:p>
          <a:p>
            <a:r>
              <a:rPr lang="en-US" sz="2800">
                <a:ea typeface="+mn-lt"/>
                <a:cs typeface="+mn-lt"/>
              </a:rPr>
              <a:t>        </a:t>
            </a:r>
            <a:r>
              <a:rPr lang="en-US" sz="2800" err="1">
                <a:ea typeface="+mn-lt"/>
                <a:cs typeface="+mn-lt"/>
              </a:rPr>
              <a:t>self.timer</a:t>
            </a:r>
            <a:r>
              <a:rPr lang="en-US" sz="2800">
                <a:ea typeface="+mn-lt"/>
                <a:cs typeface="+mn-lt"/>
              </a:rPr>
              <a:t> = </a:t>
            </a:r>
            <a:r>
              <a:rPr lang="en-US" sz="2800" err="1">
                <a:ea typeface="+mn-lt"/>
                <a:cs typeface="+mn-lt"/>
              </a:rPr>
              <a:t>self.create_timer</a:t>
            </a:r>
            <a:r>
              <a:rPr lang="en-US" sz="2800">
                <a:ea typeface="+mn-lt"/>
                <a:cs typeface="+mn-lt"/>
              </a:rPr>
              <a:t>(1.0,timer_callback)</a:t>
            </a:r>
          </a:p>
          <a:p>
            <a:r>
              <a:rPr lang="en-US" sz="2800">
                <a:ea typeface="+mn-lt"/>
                <a:cs typeface="+mn-lt"/>
              </a:rPr>
              <a:t>def </a:t>
            </a:r>
            <a:r>
              <a:rPr lang="en-US" sz="2800" err="1">
                <a:ea typeface="+mn-lt"/>
                <a:cs typeface="+mn-lt"/>
              </a:rPr>
              <a:t>timer_callback</a:t>
            </a:r>
            <a:r>
              <a:rPr lang="en-US" sz="2800">
                <a:ea typeface="+mn-lt"/>
                <a:cs typeface="+mn-lt"/>
              </a:rPr>
              <a:t>():</a:t>
            </a:r>
            <a:endParaRPr lang="en-US">
              <a:cs typeface="Calibri" panose="020F0502020204030204"/>
            </a:endParaRPr>
          </a:p>
          <a:p>
            <a:r>
              <a:rPr lang="en-US" sz="2800">
                <a:cs typeface="Calibri"/>
              </a:rPr>
              <a:t>    print('Hello World')</a:t>
            </a:r>
          </a:p>
          <a:p>
            <a:pPr marL="342900" indent="-342900">
              <a:buAutoNum type="arabicPeriod"/>
            </a:pPr>
            <a:endParaRPr lang="en-US" sz="2800">
              <a:cs typeface="Calibri"/>
            </a:endParaRPr>
          </a:p>
        </p:txBody>
      </p:sp>
      <p:sp>
        <p:nvSpPr>
          <p:cNvPr id="5" name="Rectangle 4">
            <a:extLst>
              <a:ext uri="{FF2B5EF4-FFF2-40B4-BE49-F238E27FC236}">
                <a16:creationId xmlns:a16="http://schemas.microsoft.com/office/drawing/2014/main" id="{813B6534-0572-8748-803B-A498E47A6D88}"/>
              </a:ext>
            </a:extLst>
          </p:cNvPr>
          <p:cNvSpPr/>
          <p:nvPr/>
        </p:nvSpPr>
        <p:spPr>
          <a:xfrm>
            <a:off x="7467599" y="2047874"/>
            <a:ext cx="33528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Period of the timer</a:t>
            </a:r>
            <a:endParaRPr lang="en-US" dirty="0">
              <a:solidFill>
                <a:schemeClr val="tx1"/>
              </a:solidFill>
            </a:endParaRPr>
          </a:p>
        </p:txBody>
      </p:sp>
      <p:cxnSp>
        <p:nvCxnSpPr>
          <p:cNvPr id="8" name="Straight Arrow Connector 7">
            <a:extLst>
              <a:ext uri="{FF2B5EF4-FFF2-40B4-BE49-F238E27FC236}">
                <a16:creationId xmlns:a16="http://schemas.microsoft.com/office/drawing/2014/main" id="{71879BB5-F249-989B-B0F9-E7E698AD43E8}"/>
              </a:ext>
            </a:extLst>
          </p:cNvPr>
          <p:cNvCxnSpPr>
            <a:cxnSpLocks/>
          </p:cNvCxnSpPr>
          <p:nvPr/>
        </p:nvCxnSpPr>
        <p:spPr>
          <a:xfrm flipH="1">
            <a:off x="6800850" y="2647950"/>
            <a:ext cx="1743075" cy="5429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E85C3D1-AA4B-934C-6F8D-CC9BAB7BFBA7}"/>
              </a:ext>
            </a:extLst>
          </p:cNvPr>
          <p:cNvSpPr/>
          <p:nvPr/>
        </p:nvSpPr>
        <p:spPr>
          <a:xfrm>
            <a:off x="7905749" y="4181474"/>
            <a:ext cx="33528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Attaching the callback</a:t>
            </a:r>
            <a:endParaRPr lang="en-US" dirty="0">
              <a:solidFill>
                <a:schemeClr val="tx1"/>
              </a:solidFill>
            </a:endParaRPr>
          </a:p>
        </p:txBody>
      </p:sp>
      <p:cxnSp>
        <p:nvCxnSpPr>
          <p:cNvPr id="11" name="Straight Arrow Connector 10">
            <a:extLst>
              <a:ext uri="{FF2B5EF4-FFF2-40B4-BE49-F238E27FC236}">
                <a16:creationId xmlns:a16="http://schemas.microsoft.com/office/drawing/2014/main" id="{16079632-A274-AC9C-3395-BF3650E18442}"/>
              </a:ext>
            </a:extLst>
          </p:cNvPr>
          <p:cNvCxnSpPr>
            <a:cxnSpLocks/>
          </p:cNvCxnSpPr>
          <p:nvPr/>
        </p:nvCxnSpPr>
        <p:spPr>
          <a:xfrm flipH="1" flipV="1">
            <a:off x="7915275" y="3705225"/>
            <a:ext cx="1400175" cy="38100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693E0AE-A5F2-9393-7CD3-1947AF37D39E}"/>
              </a:ext>
            </a:extLst>
          </p:cNvPr>
          <p:cNvSpPr/>
          <p:nvPr/>
        </p:nvSpPr>
        <p:spPr>
          <a:xfrm>
            <a:off x="561974" y="5048249"/>
            <a:ext cx="33528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Defining callback as a function</a:t>
            </a:r>
            <a:endParaRPr lang="en-US" dirty="0">
              <a:solidFill>
                <a:schemeClr val="tx1"/>
              </a:solidFill>
            </a:endParaRPr>
          </a:p>
        </p:txBody>
      </p:sp>
      <p:cxnSp>
        <p:nvCxnSpPr>
          <p:cNvPr id="13" name="Straight Arrow Connector 12">
            <a:extLst>
              <a:ext uri="{FF2B5EF4-FFF2-40B4-BE49-F238E27FC236}">
                <a16:creationId xmlns:a16="http://schemas.microsoft.com/office/drawing/2014/main" id="{5F3A31B8-85C7-4239-5F0A-76AC1FC3FAF4}"/>
              </a:ext>
            </a:extLst>
          </p:cNvPr>
          <p:cNvCxnSpPr>
            <a:cxnSpLocks/>
          </p:cNvCxnSpPr>
          <p:nvPr/>
        </p:nvCxnSpPr>
        <p:spPr>
          <a:xfrm flipV="1">
            <a:off x="1314450" y="4171950"/>
            <a:ext cx="419100" cy="78105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A9D5975-128C-3286-2101-806694EB1124}"/>
              </a:ext>
            </a:extLst>
          </p:cNvPr>
          <p:cNvSpPr txBox="1"/>
          <p:nvPr/>
        </p:nvSpPr>
        <p:spPr>
          <a:xfrm>
            <a:off x="98612" y="6462993"/>
            <a:ext cx="3984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4" name="TextBox 2">
            <a:extLst>
              <a:ext uri="{FF2B5EF4-FFF2-40B4-BE49-F238E27FC236}">
                <a16:creationId xmlns:a16="http://schemas.microsoft.com/office/drawing/2014/main" id="{49E815DF-5E19-2729-C775-FC6B563C5A31}"/>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259739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DAC-6082-A9A0-92AA-892BD1381206}"/>
              </a:ext>
            </a:extLst>
          </p:cNvPr>
          <p:cNvSpPr>
            <a:spLocks noGrp="1"/>
          </p:cNvSpPr>
          <p:nvPr>
            <p:ph type="title"/>
          </p:nvPr>
        </p:nvSpPr>
        <p:spPr/>
        <p:txBody>
          <a:bodyPr>
            <a:normAutofit/>
          </a:bodyPr>
          <a:lstStyle/>
          <a:p>
            <a:r>
              <a:rPr lang="th-TH" sz="3600" err="1">
                <a:cs typeface="Angsana New"/>
              </a:rPr>
              <a:t>Attaching</a:t>
            </a:r>
            <a:r>
              <a:rPr lang="th-TH" sz="3600">
                <a:cs typeface="Angsana New"/>
              </a:rPr>
              <a:t> a </a:t>
            </a:r>
            <a:r>
              <a:rPr lang="th-TH" sz="3600" err="1">
                <a:cs typeface="Angsana New"/>
              </a:rPr>
              <a:t>timer</a:t>
            </a:r>
            <a:r>
              <a:rPr lang="th-TH" sz="3600">
                <a:cs typeface="Angsana New"/>
              </a:rPr>
              <a:t> </a:t>
            </a:r>
            <a:r>
              <a:rPr lang="th-TH" sz="3600" err="1">
                <a:cs typeface="Angsana New"/>
              </a:rPr>
              <a:t>to</a:t>
            </a:r>
            <a:r>
              <a:rPr lang="th-TH" sz="3600">
                <a:cs typeface="Angsana New"/>
              </a:rPr>
              <a:t> </a:t>
            </a:r>
            <a:r>
              <a:rPr lang="th-TH" sz="3600" err="1">
                <a:cs typeface="Angsana New"/>
              </a:rPr>
              <a:t>the</a:t>
            </a:r>
            <a:r>
              <a:rPr lang="th-TH" sz="3600">
                <a:cs typeface="Angsana New"/>
              </a:rPr>
              <a:t> </a:t>
            </a:r>
            <a:r>
              <a:rPr lang="th-TH" sz="3600" err="1">
                <a:cs typeface="Angsana New"/>
              </a:rPr>
              <a:t>node</a:t>
            </a:r>
          </a:p>
        </p:txBody>
      </p:sp>
      <p:sp>
        <p:nvSpPr>
          <p:cNvPr id="4" name="Slide Number Placeholder 3">
            <a:extLst>
              <a:ext uri="{FF2B5EF4-FFF2-40B4-BE49-F238E27FC236}">
                <a16:creationId xmlns:a16="http://schemas.microsoft.com/office/drawing/2014/main" id="{3AF07124-8EEF-EA9D-92FC-FD33AF0CFE34}"/>
              </a:ext>
            </a:extLst>
          </p:cNvPr>
          <p:cNvSpPr>
            <a:spLocks noGrp="1"/>
          </p:cNvSpPr>
          <p:nvPr>
            <p:ph type="sldNum" sz="quarter" idx="12"/>
          </p:nvPr>
        </p:nvSpPr>
        <p:spPr/>
        <p:txBody>
          <a:bodyPr/>
          <a:lstStyle/>
          <a:p>
            <a:fld id="{CB38A507-EE2F-4DA2-8FD6-EA9443559B23}" type="slidenum">
              <a:rPr lang="en-US" smtClean="0"/>
              <a:t>59</a:t>
            </a:fld>
            <a:endParaRPr lang="en-US"/>
          </a:p>
        </p:txBody>
      </p:sp>
      <p:pic>
        <p:nvPicPr>
          <p:cNvPr id="18" name="Google Shape;67;p15">
            <a:extLst>
              <a:ext uri="{FF2B5EF4-FFF2-40B4-BE49-F238E27FC236}">
                <a16:creationId xmlns:a16="http://schemas.microsoft.com/office/drawing/2014/main" id="{47B1680A-73CE-06D8-EE01-3A354B08EAF0}"/>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7" name="TextBox 6">
            <a:extLst>
              <a:ext uri="{FF2B5EF4-FFF2-40B4-BE49-F238E27FC236}">
                <a16:creationId xmlns:a16="http://schemas.microsoft.com/office/drawing/2014/main" id="{6654830F-AA14-C659-354E-954AB8BCE1C8}"/>
              </a:ext>
            </a:extLst>
          </p:cNvPr>
          <p:cNvSpPr txBox="1"/>
          <p:nvPr/>
        </p:nvSpPr>
        <p:spPr>
          <a:xfrm>
            <a:off x="1516380" y="2447482"/>
            <a:ext cx="9216301" cy="523220"/>
          </a:xfrm>
          <a:prstGeom prst="rect">
            <a:avLst/>
          </a:prstGeom>
          <a:noFill/>
        </p:spPr>
        <p:txBody>
          <a:bodyPr wrap="square" lIns="91440" tIns="45720" rIns="91440" bIns="45720" rtlCol="0" anchor="t">
            <a:spAutoFit/>
          </a:bodyPr>
          <a:lstStyle/>
          <a:p>
            <a:endParaRPr lang="en-US" sz="2800">
              <a:cs typeface="Calibri" panose="020F0502020204030204"/>
            </a:endParaRPr>
          </a:p>
        </p:txBody>
      </p:sp>
      <p:sp>
        <p:nvSpPr>
          <p:cNvPr id="9" name="TextBox 8">
            <a:extLst>
              <a:ext uri="{FF2B5EF4-FFF2-40B4-BE49-F238E27FC236}">
                <a16:creationId xmlns:a16="http://schemas.microsoft.com/office/drawing/2014/main" id="{863C8F6E-6999-67E2-D0F1-EAD70B84D38C}"/>
              </a:ext>
            </a:extLst>
          </p:cNvPr>
          <p:cNvSpPr txBox="1"/>
          <p:nvPr/>
        </p:nvSpPr>
        <p:spPr>
          <a:xfrm>
            <a:off x="1516380" y="1885507"/>
            <a:ext cx="9216301" cy="3970318"/>
          </a:xfrm>
          <a:prstGeom prst="rect">
            <a:avLst/>
          </a:prstGeom>
          <a:noFill/>
        </p:spPr>
        <p:txBody>
          <a:bodyPr wrap="square" lIns="91440" tIns="45720" rIns="91440" bIns="45720" rtlCol="0" anchor="t">
            <a:spAutoFit/>
          </a:bodyPr>
          <a:lstStyle/>
          <a:p>
            <a:r>
              <a:rPr lang="en-US" sz="2800" dirty="0">
                <a:ea typeface="+mn-lt"/>
                <a:cs typeface="+mn-lt"/>
              </a:rPr>
              <a:t>class </a:t>
            </a:r>
            <a:r>
              <a:rPr lang="en-US" sz="2800" dirty="0" err="1">
                <a:ea typeface="+mn-lt"/>
                <a:cs typeface="+mn-lt"/>
              </a:rPr>
              <a:t>NewNode</a:t>
            </a:r>
            <a:r>
              <a:rPr lang="en-US" sz="2800" dirty="0">
                <a:ea typeface="+mn-lt"/>
                <a:cs typeface="+mn-lt"/>
              </a:rPr>
              <a:t>(Node):</a:t>
            </a:r>
            <a:endParaRPr lang="en-US" dirty="0">
              <a:cs typeface="Calibri" panose="020F0502020204030204"/>
            </a:endParaRPr>
          </a:p>
          <a:p>
            <a:r>
              <a:rPr lang="en-US" sz="2800" dirty="0">
                <a:ea typeface="+mn-lt"/>
                <a:cs typeface="+mn-lt"/>
              </a:rPr>
              <a:t>    def __</a:t>
            </a:r>
            <a:r>
              <a:rPr lang="en-US" sz="2800" dirty="0" err="1">
                <a:ea typeface="+mn-lt"/>
                <a:cs typeface="+mn-lt"/>
              </a:rPr>
              <a:t>init</a:t>
            </a:r>
            <a:r>
              <a:rPr lang="en-US" sz="2800" dirty="0">
                <a:ea typeface="+mn-lt"/>
                <a:cs typeface="+mn-lt"/>
              </a:rPr>
              <a:t>__(self):</a:t>
            </a:r>
            <a:endParaRPr lang="th-TH" dirty="0"/>
          </a:p>
          <a:p>
            <a:r>
              <a:rPr lang="en-US" sz="2800" dirty="0">
                <a:ea typeface="+mn-lt"/>
                <a:cs typeface="+mn-lt"/>
              </a:rPr>
              <a:t>        super().__</a:t>
            </a:r>
            <a:r>
              <a:rPr lang="en-US" sz="2800" dirty="0" err="1">
                <a:ea typeface="+mn-lt"/>
                <a:cs typeface="+mn-lt"/>
              </a:rPr>
              <a:t>init</a:t>
            </a:r>
            <a:r>
              <a:rPr lang="en-US" sz="2800" dirty="0">
                <a:ea typeface="+mn-lt"/>
                <a:cs typeface="+mn-lt"/>
              </a:rPr>
              <a:t>__('</a:t>
            </a:r>
            <a:r>
              <a:rPr lang="en-US" sz="2800" dirty="0" err="1">
                <a:ea typeface="+mn-lt"/>
                <a:cs typeface="+mn-lt"/>
              </a:rPr>
              <a:t>node_name</a:t>
            </a:r>
            <a:r>
              <a:rPr lang="en-US" sz="2800" dirty="0">
                <a:ea typeface="+mn-lt"/>
                <a:cs typeface="+mn-lt"/>
              </a:rPr>
              <a:t>')</a:t>
            </a:r>
            <a:endParaRPr lang="th-TH" dirty="0"/>
          </a:p>
          <a:p>
            <a:r>
              <a:rPr lang="en-US" sz="2800" dirty="0">
                <a:ea typeface="+mn-lt"/>
                <a:cs typeface="+mn-lt"/>
              </a:rPr>
              <a:t>        </a:t>
            </a:r>
            <a:r>
              <a:rPr lang="en-US" sz="2800" dirty="0" err="1">
                <a:ea typeface="+mn-lt"/>
                <a:cs typeface="+mn-lt"/>
              </a:rPr>
              <a:t>self.count</a:t>
            </a:r>
            <a:r>
              <a:rPr lang="en-US" sz="2800" dirty="0">
                <a:ea typeface="+mn-lt"/>
                <a:cs typeface="+mn-lt"/>
              </a:rPr>
              <a:t> = 0</a:t>
            </a:r>
          </a:p>
          <a:p>
            <a:r>
              <a:rPr lang="en-US" sz="2800" dirty="0">
                <a:ea typeface="+mn-lt"/>
                <a:cs typeface="+mn-lt"/>
              </a:rPr>
              <a:t>        </a:t>
            </a:r>
            <a:r>
              <a:rPr lang="en-US" sz="2800" dirty="0" err="1">
                <a:ea typeface="+mn-lt"/>
                <a:cs typeface="+mn-lt"/>
              </a:rPr>
              <a:t>self.timer</a:t>
            </a:r>
            <a:r>
              <a:rPr lang="en-US" sz="2800" dirty="0">
                <a:ea typeface="+mn-lt"/>
                <a:cs typeface="+mn-lt"/>
              </a:rPr>
              <a:t> = </a:t>
            </a:r>
            <a:r>
              <a:rPr lang="en-US" sz="2800" dirty="0" err="1">
                <a:ea typeface="+mn-lt"/>
                <a:cs typeface="+mn-lt"/>
              </a:rPr>
              <a:t>self.create_timer</a:t>
            </a:r>
            <a:r>
              <a:rPr lang="en-US" sz="2800" dirty="0">
                <a:ea typeface="+mn-lt"/>
                <a:cs typeface="+mn-lt"/>
              </a:rPr>
              <a:t>(1.0,self.timer_callback)</a:t>
            </a:r>
          </a:p>
          <a:p>
            <a:r>
              <a:rPr lang="en-US" sz="2800" dirty="0">
                <a:ea typeface="+mn-lt"/>
                <a:cs typeface="+mn-lt"/>
              </a:rPr>
              <a:t>    def </a:t>
            </a:r>
            <a:r>
              <a:rPr lang="en-US" sz="2800" dirty="0" err="1">
                <a:ea typeface="+mn-lt"/>
                <a:cs typeface="+mn-lt"/>
              </a:rPr>
              <a:t>timer_callback</a:t>
            </a:r>
            <a:r>
              <a:rPr lang="en-US" sz="2800" dirty="0">
                <a:ea typeface="+mn-lt"/>
                <a:cs typeface="+mn-lt"/>
              </a:rPr>
              <a:t>(self):</a:t>
            </a:r>
            <a:endParaRPr lang="en-US" dirty="0">
              <a:cs typeface="Calibri" panose="020F0502020204030204"/>
            </a:endParaRPr>
          </a:p>
          <a:p>
            <a:r>
              <a:rPr lang="en-US" sz="2800" dirty="0">
                <a:cs typeface="Calibri"/>
              </a:rPr>
              <a:t>        print(</a:t>
            </a:r>
            <a:r>
              <a:rPr lang="en-US" sz="2800" dirty="0" err="1">
                <a:cs typeface="Calibri"/>
              </a:rPr>
              <a:t>self.count</a:t>
            </a:r>
            <a:r>
              <a:rPr lang="en-US" sz="2800" dirty="0">
                <a:cs typeface="Calibri"/>
              </a:rPr>
              <a:t>)</a:t>
            </a:r>
          </a:p>
          <a:p>
            <a:r>
              <a:rPr lang="en-US" sz="2800" dirty="0">
                <a:cs typeface="Calibri"/>
              </a:rPr>
              <a:t>        </a:t>
            </a:r>
            <a:r>
              <a:rPr lang="en-US" sz="2800" dirty="0" err="1">
                <a:ea typeface="+mn-lt"/>
                <a:cs typeface="+mn-lt"/>
              </a:rPr>
              <a:t>self.count</a:t>
            </a:r>
            <a:r>
              <a:rPr lang="en-US" sz="2800" dirty="0">
                <a:ea typeface="+mn-lt"/>
                <a:cs typeface="+mn-lt"/>
              </a:rPr>
              <a:t> = </a:t>
            </a:r>
            <a:r>
              <a:rPr lang="en-US" sz="2800" dirty="0" err="1">
                <a:ea typeface="+mn-lt"/>
                <a:cs typeface="+mn-lt"/>
              </a:rPr>
              <a:t>self.count</a:t>
            </a:r>
            <a:r>
              <a:rPr lang="en-US" sz="2800" dirty="0">
                <a:ea typeface="+mn-lt"/>
                <a:cs typeface="+mn-lt"/>
              </a:rPr>
              <a:t> + 1</a:t>
            </a:r>
          </a:p>
          <a:p>
            <a:pPr marL="342900" indent="-342900">
              <a:buAutoNum type="arabicPeriod"/>
            </a:pPr>
            <a:endParaRPr lang="en-US" sz="2800" dirty="0">
              <a:cs typeface="Calibri"/>
            </a:endParaRPr>
          </a:p>
        </p:txBody>
      </p:sp>
      <p:sp>
        <p:nvSpPr>
          <p:cNvPr id="5" name="Rectangle 4">
            <a:extLst>
              <a:ext uri="{FF2B5EF4-FFF2-40B4-BE49-F238E27FC236}">
                <a16:creationId xmlns:a16="http://schemas.microsoft.com/office/drawing/2014/main" id="{E0F89C0F-AB6A-ABC3-1EDC-C416BAAAB439}"/>
              </a:ext>
            </a:extLst>
          </p:cNvPr>
          <p:cNvSpPr/>
          <p:nvPr/>
        </p:nvSpPr>
        <p:spPr>
          <a:xfrm>
            <a:off x="361949" y="5505449"/>
            <a:ext cx="414337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Defining callback as a method of the class</a:t>
            </a:r>
            <a:endParaRPr lang="en-US" dirty="0">
              <a:solidFill>
                <a:schemeClr val="tx1"/>
              </a:solidFill>
            </a:endParaRPr>
          </a:p>
        </p:txBody>
      </p:sp>
      <p:cxnSp>
        <p:nvCxnSpPr>
          <p:cNvPr id="8" name="Straight Arrow Connector 7">
            <a:extLst>
              <a:ext uri="{FF2B5EF4-FFF2-40B4-BE49-F238E27FC236}">
                <a16:creationId xmlns:a16="http://schemas.microsoft.com/office/drawing/2014/main" id="{2CBA3BA7-194B-ECD3-1306-8D78AA5F127B}"/>
              </a:ext>
            </a:extLst>
          </p:cNvPr>
          <p:cNvCxnSpPr>
            <a:cxnSpLocks/>
          </p:cNvCxnSpPr>
          <p:nvPr/>
        </p:nvCxnSpPr>
        <p:spPr>
          <a:xfrm flipV="1">
            <a:off x="1619250" y="4533900"/>
            <a:ext cx="361950" cy="87630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B665B89-1747-5220-0637-0DA88C9E5920}"/>
              </a:ext>
            </a:extLst>
          </p:cNvPr>
          <p:cNvSpPr/>
          <p:nvPr/>
        </p:nvSpPr>
        <p:spPr>
          <a:xfrm>
            <a:off x="7105649" y="3038474"/>
            <a:ext cx="3352800"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Defining new attribute</a:t>
            </a:r>
            <a:endParaRPr lang="en-US" dirty="0">
              <a:solidFill>
                <a:schemeClr val="tx1"/>
              </a:solidFill>
            </a:endParaRPr>
          </a:p>
        </p:txBody>
      </p:sp>
      <p:cxnSp>
        <p:nvCxnSpPr>
          <p:cNvPr id="11" name="Straight Arrow Connector 10">
            <a:extLst>
              <a:ext uri="{FF2B5EF4-FFF2-40B4-BE49-F238E27FC236}">
                <a16:creationId xmlns:a16="http://schemas.microsoft.com/office/drawing/2014/main" id="{83EEB7B6-DFB1-36D7-E0AB-1EBC27D14AD2}"/>
              </a:ext>
            </a:extLst>
          </p:cNvPr>
          <p:cNvCxnSpPr>
            <a:cxnSpLocks/>
          </p:cNvCxnSpPr>
          <p:nvPr/>
        </p:nvCxnSpPr>
        <p:spPr>
          <a:xfrm flipH="1">
            <a:off x="4543424" y="3303052"/>
            <a:ext cx="2562225" cy="11430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E13D7FC-C768-ABAF-4DBE-A0A5FFA14796}"/>
              </a:ext>
            </a:extLst>
          </p:cNvPr>
          <p:cNvSpPr/>
          <p:nvPr/>
        </p:nvSpPr>
        <p:spPr>
          <a:xfrm>
            <a:off x="6657974" y="4467224"/>
            <a:ext cx="414337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Make a value persist by accessing the </a:t>
            </a:r>
            <a:r>
              <a:rPr lang="en-US" dirty="0" err="1">
                <a:solidFill>
                  <a:schemeClr val="tx1"/>
                </a:solidFill>
                <a:cs typeface="Calibri"/>
              </a:rPr>
              <a:t>attribuate</a:t>
            </a:r>
            <a:r>
              <a:rPr lang="en-US" dirty="0">
                <a:solidFill>
                  <a:schemeClr val="tx1"/>
                </a:solidFill>
                <a:cs typeface="Calibri"/>
              </a:rPr>
              <a:t> of the instance</a:t>
            </a:r>
            <a:endParaRPr lang="en-US" dirty="0">
              <a:solidFill>
                <a:schemeClr val="tx1"/>
              </a:solidFill>
            </a:endParaRPr>
          </a:p>
        </p:txBody>
      </p:sp>
      <p:cxnSp>
        <p:nvCxnSpPr>
          <p:cNvPr id="13" name="Straight Arrow Connector 12">
            <a:extLst>
              <a:ext uri="{FF2B5EF4-FFF2-40B4-BE49-F238E27FC236}">
                <a16:creationId xmlns:a16="http://schemas.microsoft.com/office/drawing/2014/main" id="{8E299004-D117-98BB-2363-D335FF006FE1}"/>
              </a:ext>
            </a:extLst>
          </p:cNvPr>
          <p:cNvCxnSpPr>
            <a:cxnSpLocks/>
          </p:cNvCxnSpPr>
          <p:nvPr/>
        </p:nvCxnSpPr>
        <p:spPr>
          <a:xfrm flipH="1">
            <a:off x="4896992" y="4711444"/>
            <a:ext cx="1729360"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179AB1B-1AF0-6C53-F7AD-A7B3EA1DD1DA}"/>
              </a:ext>
            </a:extLst>
          </p:cNvPr>
          <p:cNvSpPr txBox="1"/>
          <p:nvPr/>
        </p:nvSpPr>
        <p:spPr>
          <a:xfrm>
            <a:off x="98612" y="6462993"/>
            <a:ext cx="3984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4" name="TextBox 2">
            <a:extLst>
              <a:ext uri="{FF2B5EF4-FFF2-40B4-BE49-F238E27FC236}">
                <a16:creationId xmlns:a16="http://schemas.microsoft.com/office/drawing/2014/main" id="{7610772A-37BB-0DFB-8231-20350FFCA158}"/>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1807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2DAC-6082-A9A0-92AA-892BD1381206}"/>
              </a:ext>
            </a:extLst>
          </p:cNvPr>
          <p:cNvSpPr>
            <a:spLocks noGrp="1"/>
          </p:cNvSpPr>
          <p:nvPr>
            <p:ph type="title"/>
          </p:nvPr>
        </p:nvSpPr>
        <p:spPr/>
        <p:txBody>
          <a:bodyPr>
            <a:normAutofit/>
          </a:bodyPr>
          <a:lstStyle/>
          <a:p>
            <a:r>
              <a:rPr lang="th-TH" sz="3200" dirty="0">
                <a:cs typeface="Angsana New"/>
              </a:rPr>
              <a:t>Attaching a publisher and publishing a message in a timer</a:t>
            </a:r>
          </a:p>
        </p:txBody>
      </p:sp>
      <p:sp>
        <p:nvSpPr>
          <p:cNvPr id="4" name="Slide Number Placeholder 3">
            <a:extLst>
              <a:ext uri="{FF2B5EF4-FFF2-40B4-BE49-F238E27FC236}">
                <a16:creationId xmlns:a16="http://schemas.microsoft.com/office/drawing/2014/main" id="{3AF07124-8EEF-EA9D-92FC-FD33AF0CFE34}"/>
              </a:ext>
            </a:extLst>
          </p:cNvPr>
          <p:cNvSpPr>
            <a:spLocks noGrp="1"/>
          </p:cNvSpPr>
          <p:nvPr>
            <p:ph type="sldNum" sz="quarter" idx="12"/>
          </p:nvPr>
        </p:nvSpPr>
        <p:spPr/>
        <p:txBody>
          <a:bodyPr/>
          <a:lstStyle/>
          <a:p>
            <a:fld id="{CB38A507-EE2F-4DA2-8FD6-EA9443559B23}" type="slidenum">
              <a:rPr lang="en-US" smtClean="0"/>
              <a:t>60</a:t>
            </a:fld>
            <a:endParaRPr lang="en-US"/>
          </a:p>
        </p:txBody>
      </p:sp>
      <p:pic>
        <p:nvPicPr>
          <p:cNvPr id="18" name="Google Shape;67;p15">
            <a:extLst>
              <a:ext uri="{FF2B5EF4-FFF2-40B4-BE49-F238E27FC236}">
                <a16:creationId xmlns:a16="http://schemas.microsoft.com/office/drawing/2014/main" id="{47B1680A-73CE-06D8-EE01-3A354B08EAF0}"/>
              </a:ext>
            </a:extLst>
          </p:cNvPr>
          <p:cNvPicPr preferRelativeResize="0"/>
          <p:nvPr/>
        </p:nvPicPr>
        <p:blipFill rotWithShape="1">
          <a:blip r:embed="rId3">
            <a:alphaModFix/>
          </a:blip>
          <a:srcRect r="9974"/>
          <a:stretch/>
        </p:blipFill>
        <p:spPr>
          <a:xfrm>
            <a:off x="11151038" y="40772"/>
            <a:ext cx="1653550" cy="232750"/>
          </a:xfrm>
          <a:prstGeom prst="rect">
            <a:avLst/>
          </a:prstGeom>
          <a:noFill/>
          <a:ln>
            <a:noFill/>
          </a:ln>
        </p:spPr>
      </p:pic>
      <p:sp>
        <p:nvSpPr>
          <p:cNvPr id="7" name="TextBox 6">
            <a:extLst>
              <a:ext uri="{FF2B5EF4-FFF2-40B4-BE49-F238E27FC236}">
                <a16:creationId xmlns:a16="http://schemas.microsoft.com/office/drawing/2014/main" id="{6654830F-AA14-C659-354E-954AB8BCE1C8}"/>
              </a:ext>
            </a:extLst>
          </p:cNvPr>
          <p:cNvSpPr txBox="1"/>
          <p:nvPr/>
        </p:nvSpPr>
        <p:spPr>
          <a:xfrm>
            <a:off x="1516380" y="2447482"/>
            <a:ext cx="9216301" cy="523220"/>
          </a:xfrm>
          <a:prstGeom prst="rect">
            <a:avLst/>
          </a:prstGeom>
          <a:noFill/>
        </p:spPr>
        <p:txBody>
          <a:bodyPr wrap="square" lIns="91440" tIns="45720" rIns="91440" bIns="45720" rtlCol="0" anchor="t">
            <a:spAutoFit/>
          </a:bodyPr>
          <a:lstStyle/>
          <a:p>
            <a:endParaRPr lang="en-US" sz="2800">
              <a:cs typeface="Calibri" panose="020F0502020204030204"/>
            </a:endParaRPr>
          </a:p>
        </p:txBody>
      </p:sp>
      <p:sp>
        <p:nvSpPr>
          <p:cNvPr id="9" name="TextBox 8">
            <a:extLst>
              <a:ext uri="{FF2B5EF4-FFF2-40B4-BE49-F238E27FC236}">
                <a16:creationId xmlns:a16="http://schemas.microsoft.com/office/drawing/2014/main" id="{863C8F6E-6999-67E2-D0F1-EAD70B84D38C}"/>
              </a:ext>
            </a:extLst>
          </p:cNvPr>
          <p:cNvSpPr txBox="1"/>
          <p:nvPr/>
        </p:nvSpPr>
        <p:spPr>
          <a:xfrm>
            <a:off x="1516380" y="1885507"/>
            <a:ext cx="9216301" cy="4524315"/>
          </a:xfrm>
          <a:prstGeom prst="rect">
            <a:avLst/>
          </a:prstGeom>
          <a:noFill/>
        </p:spPr>
        <p:txBody>
          <a:bodyPr wrap="square" lIns="91440" tIns="45720" rIns="91440" bIns="45720" rtlCol="0" anchor="t">
            <a:spAutoFit/>
          </a:bodyPr>
          <a:lstStyle/>
          <a:p>
            <a:r>
              <a:rPr lang="en-US" sz="2000" dirty="0">
                <a:ea typeface="+mn-lt"/>
                <a:cs typeface="+mn-lt"/>
              </a:rPr>
              <a:t>from std_msgs.msg import Int32</a:t>
            </a:r>
          </a:p>
          <a:p>
            <a:endParaRPr lang="en-US" sz="2000" dirty="0">
              <a:ea typeface="+mn-lt"/>
              <a:cs typeface="+mn-lt"/>
            </a:endParaRPr>
          </a:p>
          <a:p>
            <a:r>
              <a:rPr lang="en-US" sz="2000" dirty="0">
                <a:ea typeface="+mn-lt"/>
                <a:cs typeface="+mn-lt"/>
              </a:rPr>
              <a:t>class </a:t>
            </a:r>
            <a:r>
              <a:rPr lang="en-US" sz="2000" dirty="0" err="1">
                <a:ea typeface="+mn-lt"/>
                <a:cs typeface="+mn-lt"/>
              </a:rPr>
              <a:t>NewNode</a:t>
            </a:r>
            <a:r>
              <a:rPr lang="en-US" sz="2000" dirty="0">
                <a:ea typeface="+mn-lt"/>
                <a:cs typeface="+mn-lt"/>
              </a:rPr>
              <a:t>(Node):</a:t>
            </a:r>
            <a:endParaRPr lang="en-US" sz="2000" dirty="0">
              <a:cs typeface="Calibri" panose="020F0502020204030204"/>
            </a:endParaRPr>
          </a:p>
          <a:p>
            <a:r>
              <a:rPr lang="en-US" sz="2000" dirty="0">
                <a:ea typeface="+mn-lt"/>
                <a:cs typeface="+mn-lt"/>
              </a:rPr>
              <a:t>    def __</a:t>
            </a:r>
            <a:r>
              <a:rPr lang="en-US" sz="2000" dirty="0" err="1">
                <a:ea typeface="+mn-lt"/>
                <a:cs typeface="+mn-lt"/>
              </a:rPr>
              <a:t>init</a:t>
            </a:r>
            <a:r>
              <a:rPr lang="en-US" sz="2000" dirty="0">
                <a:ea typeface="+mn-lt"/>
                <a:cs typeface="+mn-lt"/>
              </a:rPr>
              <a:t>__(self):</a:t>
            </a:r>
            <a:endParaRPr lang="th-TH" sz="2000" dirty="0">
              <a:cs typeface="Cordia New"/>
            </a:endParaRPr>
          </a:p>
          <a:p>
            <a:r>
              <a:rPr lang="en-US" sz="2000" dirty="0">
                <a:ea typeface="+mn-lt"/>
                <a:cs typeface="+mn-lt"/>
              </a:rPr>
              <a:t>        super().__</a:t>
            </a:r>
            <a:r>
              <a:rPr lang="en-US" sz="2000" dirty="0" err="1">
                <a:ea typeface="+mn-lt"/>
                <a:cs typeface="+mn-lt"/>
              </a:rPr>
              <a:t>init</a:t>
            </a:r>
            <a:r>
              <a:rPr lang="en-US" sz="2000" dirty="0">
                <a:ea typeface="+mn-lt"/>
                <a:cs typeface="+mn-lt"/>
              </a:rPr>
              <a:t>__('</a:t>
            </a:r>
            <a:r>
              <a:rPr lang="en-US" sz="2000" dirty="0" err="1">
                <a:ea typeface="+mn-lt"/>
                <a:cs typeface="+mn-lt"/>
              </a:rPr>
              <a:t>node_name</a:t>
            </a:r>
            <a:r>
              <a:rPr lang="en-US" sz="2000" dirty="0">
                <a:ea typeface="+mn-lt"/>
                <a:cs typeface="+mn-lt"/>
              </a:rPr>
              <a:t>')</a:t>
            </a:r>
            <a:endParaRPr lang="th-TH" sz="2000" dirty="0">
              <a:cs typeface="Cordia New"/>
            </a:endParaRPr>
          </a:p>
          <a:p>
            <a:r>
              <a:rPr lang="en-US" sz="2000" dirty="0">
                <a:ea typeface="+mn-lt"/>
                <a:cs typeface="+mn-lt"/>
              </a:rPr>
              <a:t>        </a:t>
            </a:r>
            <a:r>
              <a:rPr lang="en-US" sz="2000" dirty="0" err="1">
                <a:ea typeface="+mn-lt"/>
                <a:cs typeface="+mn-lt"/>
              </a:rPr>
              <a:t>self.count</a:t>
            </a:r>
            <a:r>
              <a:rPr lang="en-US" sz="2000" dirty="0">
                <a:ea typeface="+mn-lt"/>
                <a:cs typeface="+mn-lt"/>
              </a:rPr>
              <a:t> = 0</a:t>
            </a:r>
          </a:p>
          <a:p>
            <a:r>
              <a:rPr lang="en-US" sz="2000" dirty="0">
                <a:ea typeface="+mn-lt"/>
                <a:cs typeface="+mn-lt"/>
              </a:rPr>
              <a:t>        </a:t>
            </a:r>
            <a:r>
              <a:rPr lang="en-US" sz="2000" dirty="0" err="1">
                <a:ea typeface="+mn-lt"/>
                <a:cs typeface="+mn-lt"/>
              </a:rPr>
              <a:t>self.timer</a:t>
            </a:r>
            <a:r>
              <a:rPr lang="en-US" sz="2000" dirty="0">
                <a:ea typeface="+mn-lt"/>
                <a:cs typeface="+mn-lt"/>
              </a:rPr>
              <a:t> = </a:t>
            </a:r>
            <a:r>
              <a:rPr lang="en-US" sz="2000" dirty="0" err="1">
                <a:ea typeface="+mn-lt"/>
                <a:cs typeface="+mn-lt"/>
              </a:rPr>
              <a:t>self.create_timer</a:t>
            </a:r>
            <a:r>
              <a:rPr lang="en-US" sz="2000" dirty="0">
                <a:ea typeface="+mn-lt"/>
                <a:cs typeface="+mn-lt"/>
              </a:rPr>
              <a:t>(1.0,self.timer_callback)</a:t>
            </a:r>
          </a:p>
          <a:p>
            <a:r>
              <a:rPr lang="en-US" sz="2000" dirty="0">
                <a:ea typeface="+mn-lt"/>
                <a:cs typeface="+mn-lt"/>
              </a:rPr>
              <a:t>        self.pub = </a:t>
            </a:r>
            <a:r>
              <a:rPr lang="en-US" sz="2000" dirty="0" err="1">
                <a:ea typeface="+mn-lt"/>
                <a:cs typeface="+mn-lt"/>
              </a:rPr>
              <a:t>self.create_publisher</a:t>
            </a:r>
            <a:r>
              <a:rPr lang="en-US" sz="2000" dirty="0">
                <a:ea typeface="+mn-lt"/>
                <a:cs typeface="+mn-lt"/>
              </a:rPr>
              <a:t>(Int32,'output',10)</a:t>
            </a:r>
          </a:p>
          <a:p>
            <a:r>
              <a:rPr lang="en-US" sz="2000" dirty="0">
                <a:ea typeface="+mn-lt"/>
                <a:cs typeface="+mn-lt"/>
              </a:rPr>
              <a:t>    def </a:t>
            </a:r>
            <a:r>
              <a:rPr lang="en-US" sz="2000" dirty="0" err="1">
                <a:ea typeface="+mn-lt"/>
                <a:cs typeface="+mn-lt"/>
              </a:rPr>
              <a:t>timer_callback</a:t>
            </a:r>
            <a:r>
              <a:rPr lang="en-US" sz="2000" dirty="0">
                <a:ea typeface="+mn-lt"/>
                <a:cs typeface="+mn-lt"/>
              </a:rPr>
              <a:t>(self):</a:t>
            </a:r>
            <a:endParaRPr lang="en-US" sz="2000" dirty="0">
              <a:cs typeface="Calibri" panose="020F0502020204030204"/>
            </a:endParaRPr>
          </a:p>
          <a:p>
            <a:r>
              <a:rPr lang="en-US" sz="2000" dirty="0">
                <a:cs typeface="Calibri" panose="020F0502020204030204"/>
              </a:rPr>
              <a:t>        </a:t>
            </a:r>
            <a:r>
              <a:rPr lang="en-US" sz="2000" dirty="0" err="1">
                <a:ea typeface="+mn-lt"/>
                <a:cs typeface="+mn-lt"/>
              </a:rPr>
              <a:t>self.count</a:t>
            </a:r>
            <a:r>
              <a:rPr lang="en-US" sz="2000" dirty="0">
                <a:ea typeface="+mn-lt"/>
                <a:cs typeface="+mn-lt"/>
              </a:rPr>
              <a:t> = </a:t>
            </a:r>
            <a:r>
              <a:rPr lang="en-US" sz="2000" dirty="0" err="1">
                <a:ea typeface="+mn-lt"/>
                <a:cs typeface="+mn-lt"/>
              </a:rPr>
              <a:t>self.count</a:t>
            </a:r>
            <a:r>
              <a:rPr lang="en-US" sz="2000" dirty="0">
                <a:ea typeface="+mn-lt"/>
                <a:cs typeface="+mn-lt"/>
              </a:rPr>
              <a:t> + 1</a:t>
            </a:r>
          </a:p>
          <a:p>
            <a:r>
              <a:rPr lang="en-US" sz="2000" dirty="0">
                <a:cs typeface="Calibri"/>
              </a:rPr>
              <a:t>        msg = Int32()</a:t>
            </a:r>
          </a:p>
          <a:p>
            <a:r>
              <a:rPr lang="en-US" sz="2000" dirty="0">
                <a:cs typeface="Calibri"/>
              </a:rPr>
              <a:t>        </a:t>
            </a:r>
            <a:r>
              <a:rPr lang="en-US" sz="2000" dirty="0" err="1">
                <a:cs typeface="Calibri"/>
              </a:rPr>
              <a:t>msg.data</a:t>
            </a:r>
            <a:r>
              <a:rPr lang="en-US" sz="2000" dirty="0">
                <a:cs typeface="Calibri"/>
              </a:rPr>
              <a:t> = </a:t>
            </a:r>
            <a:r>
              <a:rPr lang="en-US" sz="2000" dirty="0" err="1">
                <a:cs typeface="Calibri"/>
              </a:rPr>
              <a:t>self.count</a:t>
            </a:r>
            <a:endParaRPr lang="en-US" sz="2000" dirty="0">
              <a:cs typeface="Calibri"/>
            </a:endParaRPr>
          </a:p>
          <a:p>
            <a:r>
              <a:rPr lang="en-US" sz="2000" dirty="0">
                <a:cs typeface="Calibri"/>
              </a:rPr>
              <a:t>        </a:t>
            </a:r>
            <a:r>
              <a:rPr lang="en-US" sz="2000" dirty="0" err="1">
                <a:cs typeface="Calibri"/>
              </a:rPr>
              <a:t>self.pub.publish</a:t>
            </a:r>
            <a:r>
              <a:rPr lang="en-US" sz="2000" dirty="0">
                <a:cs typeface="Calibri"/>
              </a:rPr>
              <a:t>(msg)</a:t>
            </a:r>
          </a:p>
          <a:p>
            <a:pPr marL="342900" indent="-342900">
              <a:buAutoNum type="arabicPeriod"/>
            </a:pPr>
            <a:endParaRPr lang="en-US" sz="2800" dirty="0">
              <a:cs typeface="Calibri"/>
            </a:endParaRPr>
          </a:p>
        </p:txBody>
      </p:sp>
      <p:cxnSp>
        <p:nvCxnSpPr>
          <p:cNvPr id="3" name="Straight Arrow Connector 2">
            <a:extLst>
              <a:ext uri="{FF2B5EF4-FFF2-40B4-BE49-F238E27FC236}">
                <a16:creationId xmlns:a16="http://schemas.microsoft.com/office/drawing/2014/main" id="{00EB2CE2-AA00-631F-CE22-CF59BB8CD228}"/>
              </a:ext>
            </a:extLst>
          </p:cNvPr>
          <p:cNvCxnSpPr>
            <a:cxnSpLocks/>
          </p:cNvCxnSpPr>
          <p:nvPr/>
        </p:nvCxnSpPr>
        <p:spPr>
          <a:xfrm flipH="1">
            <a:off x="7715628" y="4200525"/>
            <a:ext cx="447296"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7BEC96A-4188-F7C8-3A79-7B6AD8E50D74}"/>
              </a:ext>
            </a:extLst>
          </p:cNvPr>
          <p:cNvSpPr/>
          <p:nvPr/>
        </p:nvSpPr>
        <p:spPr>
          <a:xfrm>
            <a:off x="8191499" y="3952875"/>
            <a:ext cx="280987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Calibri"/>
              </a:rPr>
              <a:t>create a publisher</a:t>
            </a:r>
            <a:endParaRPr lang="en-US" dirty="0">
              <a:solidFill>
                <a:schemeClr val="tx1"/>
              </a:solidFill>
            </a:endParaRPr>
          </a:p>
        </p:txBody>
      </p:sp>
      <p:sp>
        <p:nvSpPr>
          <p:cNvPr id="6" name="Rectangle 5">
            <a:extLst>
              <a:ext uri="{FF2B5EF4-FFF2-40B4-BE49-F238E27FC236}">
                <a16:creationId xmlns:a16="http://schemas.microsoft.com/office/drawing/2014/main" id="{8547E846-B47F-60C2-438E-C042DD47664D}"/>
              </a:ext>
            </a:extLst>
          </p:cNvPr>
          <p:cNvSpPr/>
          <p:nvPr/>
        </p:nvSpPr>
        <p:spPr>
          <a:xfrm>
            <a:off x="8191499" y="5476874"/>
            <a:ext cx="280987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publish a message</a:t>
            </a:r>
            <a:endParaRPr lang="en-US" dirty="0">
              <a:solidFill>
                <a:schemeClr val="tx1"/>
              </a:solidFill>
            </a:endParaRPr>
          </a:p>
        </p:txBody>
      </p:sp>
      <p:cxnSp>
        <p:nvCxnSpPr>
          <p:cNvPr id="8" name="Straight Arrow Connector 7">
            <a:extLst>
              <a:ext uri="{FF2B5EF4-FFF2-40B4-BE49-F238E27FC236}">
                <a16:creationId xmlns:a16="http://schemas.microsoft.com/office/drawing/2014/main" id="{838433DD-40AF-2F91-0D0D-E0C028E9D79B}"/>
              </a:ext>
            </a:extLst>
          </p:cNvPr>
          <p:cNvCxnSpPr>
            <a:cxnSpLocks/>
          </p:cNvCxnSpPr>
          <p:nvPr/>
        </p:nvCxnSpPr>
        <p:spPr>
          <a:xfrm flipH="1">
            <a:off x="4602568" y="5743323"/>
            <a:ext cx="3560356" cy="2857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FCD6886-C334-C4A2-A0C9-A77839720506}"/>
              </a:ext>
            </a:extLst>
          </p:cNvPr>
          <p:cNvSpPr/>
          <p:nvPr/>
        </p:nvSpPr>
        <p:spPr>
          <a:xfrm>
            <a:off x="8162924" y="1885949"/>
            <a:ext cx="280987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Import type of message</a:t>
            </a:r>
            <a:endParaRPr lang="en-US" dirty="0">
              <a:solidFill>
                <a:schemeClr val="tx1"/>
              </a:solidFill>
            </a:endParaRPr>
          </a:p>
        </p:txBody>
      </p:sp>
      <p:cxnSp>
        <p:nvCxnSpPr>
          <p:cNvPr id="12" name="Straight Arrow Connector 11">
            <a:extLst>
              <a:ext uri="{FF2B5EF4-FFF2-40B4-BE49-F238E27FC236}">
                <a16:creationId xmlns:a16="http://schemas.microsoft.com/office/drawing/2014/main" id="{53ABA820-8E34-41A5-A400-2BD25C84B598}"/>
              </a:ext>
            </a:extLst>
          </p:cNvPr>
          <p:cNvCxnSpPr>
            <a:cxnSpLocks/>
          </p:cNvCxnSpPr>
          <p:nvPr/>
        </p:nvCxnSpPr>
        <p:spPr>
          <a:xfrm flipH="1" flipV="1">
            <a:off x="5248274" y="2114549"/>
            <a:ext cx="2914650" cy="1905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F8B85DE-95DD-705B-5377-C12A9584D389}"/>
              </a:ext>
            </a:extLst>
          </p:cNvPr>
          <p:cNvSpPr/>
          <p:nvPr/>
        </p:nvSpPr>
        <p:spPr>
          <a:xfrm>
            <a:off x="8191499" y="4791074"/>
            <a:ext cx="280987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Instantiate a new message</a:t>
            </a:r>
          </a:p>
        </p:txBody>
      </p:sp>
      <p:cxnSp>
        <p:nvCxnSpPr>
          <p:cNvPr id="13" name="Straight Arrow Connector 12">
            <a:extLst>
              <a:ext uri="{FF2B5EF4-FFF2-40B4-BE49-F238E27FC236}">
                <a16:creationId xmlns:a16="http://schemas.microsoft.com/office/drawing/2014/main" id="{AA87B3E8-C5CD-A0AF-0000-9B1535027091}"/>
              </a:ext>
            </a:extLst>
          </p:cNvPr>
          <p:cNvCxnSpPr>
            <a:cxnSpLocks/>
          </p:cNvCxnSpPr>
          <p:nvPr/>
        </p:nvCxnSpPr>
        <p:spPr>
          <a:xfrm flipH="1">
            <a:off x="3695698" y="5125295"/>
            <a:ext cx="4467226" cy="2857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D55DFDC-6A77-6C2D-90E7-CFE131F88A67}"/>
              </a:ext>
            </a:extLst>
          </p:cNvPr>
          <p:cNvSpPr txBox="1"/>
          <p:nvPr/>
        </p:nvSpPr>
        <p:spPr>
          <a:xfrm>
            <a:off x="98612" y="6462993"/>
            <a:ext cx="3984251" cy="36933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dirty="0">
                <a:ea typeface="Arial"/>
                <a:cs typeface="Arial"/>
              </a:rPr>
              <a:t>Introduction to ROS2</a:t>
            </a:r>
            <a:endParaRPr lang="en-US" dirty="0"/>
          </a:p>
        </p:txBody>
      </p:sp>
      <p:sp>
        <p:nvSpPr>
          <p:cNvPr id="16" name="TextBox 2">
            <a:extLst>
              <a:ext uri="{FF2B5EF4-FFF2-40B4-BE49-F238E27FC236}">
                <a16:creationId xmlns:a16="http://schemas.microsoft.com/office/drawing/2014/main" id="{A992A246-7864-3778-0DE8-9777DE01AB40}"/>
              </a:ext>
            </a:extLst>
          </p:cNvPr>
          <p:cNvSpPr txBox="1"/>
          <p:nvPr/>
        </p:nvSpPr>
        <p:spPr>
          <a:xfrm>
            <a:off x="9335911" y="10974"/>
            <a:ext cx="2177317" cy="276999"/>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t>For ROS2 Training with Pi </a:t>
            </a:r>
          </a:p>
        </p:txBody>
      </p:sp>
    </p:spTree>
    <p:extLst>
      <p:ext uri="{BB962C8B-B14F-4D97-AF65-F5344CB8AC3E}">
        <p14:creationId xmlns:p14="http://schemas.microsoft.com/office/powerpoint/2010/main" val="375783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4B91-60A5-D3CF-5449-0B5DFB8F3ABC}"/>
              </a:ext>
            </a:extLst>
          </p:cNvPr>
          <p:cNvSpPr>
            <a:spLocks noGrp="1"/>
          </p:cNvSpPr>
          <p:nvPr>
            <p:ph type="title"/>
          </p:nvPr>
        </p:nvSpPr>
        <p:spPr/>
        <p:txBody>
          <a:bodyPr/>
          <a:lstStyle/>
          <a:p>
            <a:r>
              <a:rPr lang="en-US" dirty="0"/>
              <a:t>Code for Exercise : drive turtle in a circle</a:t>
            </a:r>
          </a:p>
        </p:txBody>
      </p:sp>
      <p:sp>
        <p:nvSpPr>
          <p:cNvPr id="3" name="Text Placeholder 2">
            <a:extLst>
              <a:ext uri="{FF2B5EF4-FFF2-40B4-BE49-F238E27FC236}">
                <a16:creationId xmlns:a16="http://schemas.microsoft.com/office/drawing/2014/main" id="{1B916AB4-FB8A-73BF-DF1A-4DC7882456A2}"/>
              </a:ext>
            </a:extLst>
          </p:cNvPr>
          <p:cNvSpPr>
            <a:spLocks noGrp="1"/>
          </p:cNvSpPr>
          <p:nvPr>
            <p:ph type="body" idx="1"/>
          </p:nvPr>
        </p:nvSpPr>
        <p:spPr>
          <a:xfrm>
            <a:off x="259883" y="936010"/>
            <a:ext cx="5674574" cy="5921990"/>
          </a:xfrm>
        </p:spPr>
        <p:txBody>
          <a:bodyPr>
            <a:noAutofit/>
          </a:bodyPr>
          <a:lstStyle/>
          <a:p>
            <a:pPr marL="131445" indent="0">
              <a:buNone/>
            </a:pPr>
            <a:r>
              <a:rPr lang="en-US" sz="1000" dirty="0"/>
              <a:t>Create this file:</a:t>
            </a:r>
          </a:p>
          <a:p>
            <a:pPr marL="131445" indent="0">
              <a:buNone/>
            </a:pPr>
            <a:r>
              <a:rPr lang="en-US" sz="1000" dirty="0"/>
              <a:t>cd ~/me640_ws/</a:t>
            </a:r>
            <a:r>
              <a:rPr lang="en-US" sz="1000" dirty="0" err="1"/>
              <a:t>src</a:t>
            </a:r>
            <a:r>
              <a:rPr lang="en-US" sz="1000" dirty="0"/>
              <a:t>/</a:t>
            </a:r>
            <a:r>
              <a:rPr lang="en-US" sz="1000" dirty="0" err="1"/>
              <a:t>turtlesim_control</a:t>
            </a:r>
            <a:r>
              <a:rPr lang="en-US" sz="1000" dirty="0"/>
              <a:t>/</a:t>
            </a:r>
            <a:r>
              <a:rPr lang="en-US" sz="1000" dirty="0" err="1"/>
              <a:t>turtlesim_control</a:t>
            </a:r>
            <a:br>
              <a:rPr lang="en-US" sz="1000" dirty="0"/>
            </a:br>
            <a:r>
              <a:rPr lang="en-US" sz="1000" dirty="0"/>
              <a:t>code circle_controller.py</a:t>
            </a:r>
          </a:p>
          <a:p>
            <a:pPr marL="131445" indent="0">
              <a:buNone/>
            </a:pPr>
            <a:r>
              <a:rPr lang="en-US" sz="1000" dirty="0"/>
              <a:t>Paste:</a:t>
            </a:r>
          </a:p>
          <a:p>
            <a:pPr marL="131445" indent="0">
              <a:buNone/>
            </a:pPr>
            <a:endParaRPr lang="en-US" sz="1000" dirty="0"/>
          </a:p>
          <a:p>
            <a:pPr marL="131445" indent="0">
              <a:buNone/>
            </a:pPr>
            <a:r>
              <a:rPr lang="en-US" sz="1000" dirty="0"/>
              <a:t>Now edit setup.py:</a:t>
            </a:r>
          </a:p>
          <a:p>
            <a:pPr marL="131445" indent="0">
              <a:buNone/>
            </a:pPr>
            <a:r>
              <a:rPr lang="en-US" sz="1000" dirty="0"/>
              <a:t>cd ~/me640_ws/</a:t>
            </a:r>
            <a:r>
              <a:rPr lang="en-US" sz="1000" dirty="0" err="1"/>
              <a:t>src</a:t>
            </a:r>
            <a:r>
              <a:rPr lang="en-US" sz="1000" dirty="0"/>
              <a:t>/</a:t>
            </a:r>
            <a:r>
              <a:rPr lang="en-US" sz="1000" dirty="0" err="1"/>
              <a:t>turtlesim_control</a:t>
            </a:r>
            <a:br>
              <a:rPr lang="en-US" sz="1000" dirty="0"/>
            </a:br>
            <a:r>
              <a:rPr lang="en-US" sz="1000" dirty="0"/>
              <a:t>code setup.py</a:t>
            </a:r>
          </a:p>
          <a:p>
            <a:pPr marL="131445" indent="0">
              <a:buNone/>
            </a:pPr>
            <a:endParaRPr lang="en-US" sz="1000" dirty="0"/>
          </a:p>
          <a:p>
            <a:pPr marL="131445" indent="0">
              <a:buNone/>
            </a:pPr>
            <a:r>
              <a:rPr lang="en-US" sz="1000" dirty="0"/>
              <a:t>Find </a:t>
            </a:r>
            <a:r>
              <a:rPr lang="en-US" sz="1000" dirty="0" err="1"/>
              <a:t>entry_points</a:t>
            </a:r>
            <a:r>
              <a:rPr lang="en-US" sz="1000" dirty="0"/>
              <a:t> and add:</a:t>
            </a:r>
          </a:p>
          <a:p>
            <a:pPr marL="131445" indent="0">
              <a:buNone/>
            </a:pPr>
            <a:r>
              <a:rPr lang="en-US" sz="1000" dirty="0" err="1"/>
              <a:t>entry_points</a:t>
            </a:r>
            <a:r>
              <a:rPr lang="en-US" sz="1000" dirty="0"/>
              <a:t>={</a:t>
            </a:r>
            <a:br>
              <a:rPr lang="en-US" sz="1000" dirty="0"/>
            </a:br>
            <a:r>
              <a:rPr lang="en-US" sz="1000" dirty="0"/>
              <a:t>'</a:t>
            </a:r>
            <a:r>
              <a:rPr lang="en-US" sz="1000" dirty="0" err="1"/>
              <a:t>console_scripts</a:t>
            </a:r>
            <a:r>
              <a:rPr lang="en-US" sz="1000" dirty="0"/>
              <a:t>': [</a:t>
            </a:r>
            <a:br>
              <a:rPr lang="en-US" sz="1000" dirty="0"/>
            </a:br>
            <a:r>
              <a:rPr lang="en-US" sz="1000" dirty="0"/>
              <a:t>'</a:t>
            </a:r>
            <a:r>
              <a:rPr lang="en-US" sz="1000" dirty="0" err="1"/>
              <a:t>circle_controller</a:t>
            </a:r>
            <a:r>
              <a:rPr lang="en-US" sz="1000" dirty="0"/>
              <a:t> = </a:t>
            </a:r>
            <a:r>
              <a:rPr lang="en-US" sz="1000" dirty="0" err="1"/>
              <a:t>turtlesim_control.circle_controller:main</a:t>
            </a:r>
            <a:r>
              <a:rPr lang="en-US" sz="1000" dirty="0"/>
              <a:t>',</a:t>
            </a:r>
            <a:br>
              <a:rPr lang="en-US" sz="1000" dirty="0"/>
            </a:br>
            <a:r>
              <a:rPr lang="en-US" sz="1000" dirty="0"/>
              <a:t>],</a:t>
            </a:r>
            <a:br>
              <a:rPr lang="en-US" sz="1000" dirty="0"/>
            </a:br>
            <a:r>
              <a:rPr lang="en-US" sz="1000" dirty="0"/>
              <a:t>},</a:t>
            </a:r>
          </a:p>
          <a:p>
            <a:pPr marL="131445" indent="0">
              <a:buNone/>
            </a:pPr>
            <a:endParaRPr lang="en-US" sz="1000" dirty="0"/>
          </a:p>
          <a:p>
            <a:pPr marL="131445" indent="0">
              <a:buNone/>
            </a:pPr>
            <a:r>
              <a:rPr lang="en-US" sz="1000" dirty="0"/>
              <a:t>Build and run:</a:t>
            </a:r>
          </a:p>
          <a:p>
            <a:pPr marL="131445" indent="0">
              <a:buNone/>
            </a:pPr>
            <a:r>
              <a:rPr lang="en-US" sz="1000" dirty="0"/>
              <a:t>cd ~/me640_ws</a:t>
            </a:r>
            <a:br>
              <a:rPr lang="en-US" sz="1000" dirty="0"/>
            </a:br>
            <a:r>
              <a:rPr lang="en-US" sz="1000" dirty="0" err="1"/>
              <a:t>colcon</a:t>
            </a:r>
            <a:r>
              <a:rPr lang="en-US" sz="1000" dirty="0"/>
              <a:t> build --packages-select </a:t>
            </a:r>
            <a:r>
              <a:rPr lang="en-US" sz="1000" dirty="0" err="1"/>
              <a:t>turtlesim_control</a:t>
            </a:r>
            <a:r>
              <a:rPr lang="en-US" sz="1000" dirty="0"/>
              <a:t> --</a:t>
            </a:r>
            <a:r>
              <a:rPr lang="en-US" sz="1000" dirty="0" err="1"/>
              <a:t>symlink</a:t>
            </a:r>
            <a:r>
              <a:rPr lang="en-US" sz="1000" dirty="0"/>
              <a:t>-install</a:t>
            </a:r>
            <a:br>
              <a:rPr lang="en-US" sz="1000" dirty="0"/>
            </a:br>
            <a:r>
              <a:rPr lang="en-US" sz="1000" dirty="0"/>
              <a:t>source install/</a:t>
            </a:r>
            <a:r>
              <a:rPr lang="en-US" sz="1000" dirty="0" err="1"/>
              <a:t>setup.bash</a:t>
            </a:r>
            <a:endParaRPr lang="en-US" sz="1000" dirty="0"/>
          </a:p>
          <a:p>
            <a:pPr marL="131445" indent="0">
              <a:buNone/>
            </a:pPr>
            <a:endParaRPr lang="en-US" sz="1000" dirty="0"/>
          </a:p>
          <a:p>
            <a:pPr marL="131445" indent="0">
              <a:buNone/>
            </a:pPr>
            <a:r>
              <a:rPr lang="en-US" sz="1000" dirty="0"/>
              <a:t>Terminal 1:</a:t>
            </a:r>
          </a:p>
          <a:p>
            <a:pPr marL="131445" indent="0">
              <a:buNone/>
            </a:pPr>
            <a:r>
              <a:rPr lang="en-US" sz="1000" dirty="0"/>
              <a:t>ros2 run </a:t>
            </a:r>
            <a:r>
              <a:rPr lang="en-US" sz="1000" dirty="0" err="1"/>
              <a:t>turtlesim</a:t>
            </a:r>
            <a:r>
              <a:rPr lang="en-US" sz="1000" dirty="0"/>
              <a:t> </a:t>
            </a:r>
            <a:r>
              <a:rPr lang="en-US" sz="1000" dirty="0" err="1"/>
              <a:t>turtlesim_node</a:t>
            </a:r>
            <a:endParaRPr lang="en-US" sz="1000" dirty="0"/>
          </a:p>
          <a:p>
            <a:pPr marL="131445" indent="0">
              <a:buNone/>
            </a:pPr>
            <a:endParaRPr lang="en-US" sz="1000" dirty="0"/>
          </a:p>
          <a:p>
            <a:pPr marL="131445" indent="0">
              <a:buNone/>
            </a:pPr>
            <a:r>
              <a:rPr lang="en-US" sz="1000" dirty="0"/>
              <a:t>Terminal 2:</a:t>
            </a:r>
          </a:p>
          <a:p>
            <a:pPr marL="131445" indent="0">
              <a:buNone/>
            </a:pPr>
            <a:r>
              <a:rPr lang="en-US" sz="1000" dirty="0"/>
              <a:t>ros2 run </a:t>
            </a:r>
            <a:r>
              <a:rPr lang="en-US" sz="1000" dirty="0" err="1"/>
              <a:t>turtlesim_control</a:t>
            </a:r>
            <a:r>
              <a:rPr lang="en-US" sz="1000" dirty="0"/>
              <a:t> </a:t>
            </a:r>
            <a:r>
              <a:rPr lang="en-US" sz="1000" dirty="0" err="1"/>
              <a:t>circle_controller</a:t>
            </a:r>
            <a:endParaRPr lang="en-US" sz="1000" dirty="0"/>
          </a:p>
          <a:p>
            <a:pPr marL="131445" indent="0">
              <a:buNone/>
            </a:pPr>
            <a:endParaRPr lang="en-US" sz="1000" dirty="0"/>
          </a:p>
          <a:p>
            <a:pPr marL="131445" indent="0">
              <a:buNone/>
            </a:pPr>
            <a:endParaRPr lang="en-US" sz="1000" dirty="0"/>
          </a:p>
        </p:txBody>
      </p:sp>
      <p:sp>
        <p:nvSpPr>
          <p:cNvPr id="4" name="Slide Number Placeholder 3">
            <a:extLst>
              <a:ext uri="{FF2B5EF4-FFF2-40B4-BE49-F238E27FC236}">
                <a16:creationId xmlns:a16="http://schemas.microsoft.com/office/drawing/2014/main" id="{4A20F436-4FDF-30FF-92EC-2CD8D5609B4F}"/>
              </a:ext>
            </a:extLst>
          </p:cNvPr>
          <p:cNvSpPr>
            <a:spLocks noGrp="1"/>
          </p:cNvSpPr>
          <p:nvPr>
            <p:ph type="sldNum" idx="12"/>
          </p:nvPr>
        </p:nvSpPr>
        <p:spPr/>
        <p:txBody>
          <a:bodyPr/>
          <a:lstStyle/>
          <a:p>
            <a:pPr marL="0" lvl="0" indent="0" algn="ctr" rtl="0">
              <a:spcBef>
                <a:spcPts val="0"/>
              </a:spcBef>
              <a:spcAft>
                <a:spcPts val="0"/>
              </a:spcAft>
              <a:buNone/>
            </a:pPr>
            <a:r>
              <a:rPr lang="en-US"/>
              <a:t>PAGE  </a:t>
            </a:r>
            <a:fld id="{00000000-1234-1234-1234-123412341234}" type="slidenum">
              <a:rPr lang="en-US" smtClean="0"/>
              <a:t>61</a:t>
            </a:fld>
            <a:endParaRPr/>
          </a:p>
        </p:txBody>
      </p:sp>
      <p:sp>
        <p:nvSpPr>
          <p:cNvPr id="6" name="TextBox 5">
            <a:extLst>
              <a:ext uri="{FF2B5EF4-FFF2-40B4-BE49-F238E27FC236}">
                <a16:creationId xmlns:a16="http://schemas.microsoft.com/office/drawing/2014/main" id="{4708D98A-47E1-32E4-8E57-8B3E06A85D2C}"/>
              </a:ext>
            </a:extLst>
          </p:cNvPr>
          <p:cNvSpPr txBox="1"/>
          <p:nvPr/>
        </p:nvSpPr>
        <p:spPr>
          <a:xfrm>
            <a:off x="7178040" y="1088136"/>
            <a:ext cx="4233672" cy="5570756"/>
          </a:xfrm>
          <a:prstGeom prst="rect">
            <a:avLst/>
          </a:prstGeom>
          <a:noFill/>
        </p:spPr>
        <p:txBody>
          <a:bodyPr wrap="square" rtlCol="0">
            <a:spAutoFit/>
          </a:bodyPr>
          <a:lstStyle/>
          <a:p>
            <a:r>
              <a:rPr lang="en-US" sz="900" dirty="0"/>
              <a:t>#!/usr/bin/env python3</a:t>
            </a:r>
            <a:br>
              <a:rPr lang="en-US" sz="900" dirty="0"/>
            </a:br>
            <a:br>
              <a:rPr lang="en-US" sz="900" dirty="0"/>
            </a:br>
            <a:r>
              <a:rPr lang="en-US" sz="900" dirty="0"/>
              <a:t>import </a:t>
            </a:r>
            <a:r>
              <a:rPr lang="en-US" sz="900" dirty="0" err="1"/>
              <a:t>rclpy</a:t>
            </a:r>
            <a:br>
              <a:rPr lang="en-US" sz="900" dirty="0"/>
            </a:br>
            <a:r>
              <a:rPr lang="en-US" sz="900" dirty="0"/>
              <a:t>from </a:t>
            </a:r>
            <a:r>
              <a:rPr lang="en-US" sz="900" dirty="0" err="1"/>
              <a:t>rclpy.node</a:t>
            </a:r>
            <a:r>
              <a:rPr lang="en-US" sz="900" dirty="0"/>
              <a:t> import Node</a:t>
            </a:r>
            <a:br>
              <a:rPr lang="en-US" sz="900" dirty="0"/>
            </a:br>
            <a:r>
              <a:rPr lang="en-US" sz="900" dirty="0"/>
              <a:t>from geometry_msgs.msg import Twist</a:t>
            </a:r>
            <a:br>
              <a:rPr lang="en-US" sz="900" dirty="0"/>
            </a:br>
            <a:br>
              <a:rPr lang="en-US" sz="900" dirty="0"/>
            </a:br>
            <a:br>
              <a:rPr lang="en-US" sz="900" dirty="0"/>
            </a:br>
            <a:r>
              <a:rPr lang="en-US" sz="900" dirty="0"/>
              <a:t>class </a:t>
            </a:r>
            <a:r>
              <a:rPr lang="en-US" sz="900" dirty="0" err="1"/>
              <a:t>CircleController</a:t>
            </a:r>
            <a:r>
              <a:rPr lang="en-US" sz="900" dirty="0"/>
              <a:t>(Node):</a:t>
            </a:r>
            <a:br>
              <a:rPr lang="en-US" sz="900" dirty="0"/>
            </a:br>
            <a:r>
              <a:rPr lang="en-US" sz="900" dirty="0"/>
              <a:t>    def __</a:t>
            </a:r>
            <a:r>
              <a:rPr lang="en-US" sz="900" dirty="0" err="1"/>
              <a:t>init</a:t>
            </a:r>
            <a:r>
              <a:rPr lang="en-US" sz="900" dirty="0"/>
              <a:t>__(self):</a:t>
            </a:r>
            <a:br>
              <a:rPr lang="en-US" sz="900" dirty="0"/>
            </a:br>
            <a:r>
              <a:rPr lang="en-US" sz="900" dirty="0"/>
              <a:t>        super().__</a:t>
            </a:r>
            <a:r>
              <a:rPr lang="en-US" sz="900" dirty="0" err="1"/>
              <a:t>init</a:t>
            </a:r>
            <a:r>
              <a:rPr lang="en-US" sz="900" dirty="0"/>
              <a:t>__('</a:t>
            </a:r>
            <a:r>
              <a:rPr lang="en-US" sz="900" dirty="0" err="1"/>
              <a:t>circle_controller</a:t>
            </a:r>
            <a:r>
              <a:rPr lang="en-US" sz="900" dirty="0"/>
              <a:t>')</a:t>
            </a:r>
            <a:br>
              <a:rPr lang="en-US" sz="900" dirty="0"/>
            </a:br>
            <a:br>
              <a:rPr lang="en-US" sz="900" dirty="0"/>
            </a:br>
            <a:r>
              <a:rPr lang="en-US" sz="900" dirty="0"/>
              <a:t>        self.pub = </a:t>
            </a:r>
            <a:r>
              <a:rPr lang="en-US" sz="900" dirty="0" err="1"/>
              <a:t>self.create_publisher</a:t>
            </a:r>
            <a:r>
              <a:rPr lang="en-US" sz="900" dirty="0"/>
              <a:t>( Twist, '/turtle1/cmd_vel',10 )</a:t>
            </a:r>
            <a:br>
              <a:rPr lang="en-US" sz="900" dirty="0"/>
            </a:br>
            <a:br>
              <a:rPr lang="en-US" sz="900" dirty="0"/>
            </a:br>
            <a:r>
              <a:rPr lang="en-US" sz="900" dirty="0"/>
              <a:t>        </a:t>
            </a:r>
            <a:r>
              <a:rPr lang="en-US" sz="900" dirty="0" err="1"/>
              <a:t>self.timer</a:t>
            </a:r>
            <a:r>
              <a:rPr lang="en-US" sz="900" dirty="0"/>
              <a:t> = </a:t>
            </a:r>
            <a:r>
              <a:rPr lang="en-US" sz="900" dirty="0" err="1"/>
              <a:t>self.create_timer</a:t>
            </a:r>
            <a:r>
              <a:rPr lang="en-US" sz="900" dirty="0"/>
              <a:t>(0.1, </a:t>
            </a:r>
            <a:r>
              <a:rPr lang="en-US" sz="900" dirty="0" err="1"/>
              <a:t>self.timer_callback</a:t>
            </a:r>
            <a:r>
              <a:rPr lang="en-US" sz="900" dirty="0"/>
              <a:t>)</a:t>
            </a:r>
            <a:br>
              <a:rPr lang="en-US" sz="900" dirty="0"/>
            </a:br>
            <a:br>
              <a:rPr lang="en-US" sz="900" dirty="0"/>
            </a:br>
            <a:r>
              <a:rPr lang="en-US" sz="900" dirty="0"/>
              <a:t>        </a:t>
            </a:r>
            <a:r>
              <a:rPr lang="en-US" sz="900" dirty="0" err="1"/>
              <a:t>self.get_logger</a:t>
            </a:r>
            <a:r>
              <a:rPr lang="en-US" sz="900" dirty="0"/>
              <a:t>().info('Circle controller node has started.')</a:t>
            </a:r>
            <a:br>
              <a:rPr lang="en-US" sz="900" dirty="0"/>
            </a:br>
            <a:br>
              <a:rPr lang="en-US" sz="900" dirty="0"/>
            </a:br>
            <a:r>
              <a:rPr lang="en-US" sz="900" dirty="0"/>
              <a:t>    def </a:t>
            </a:r>
            <a:r>
              <a:rPr lang="en-US" sz="900" dirty="0" err="1"/>
              <a:t>timer_callback</a:t>
            </a:r>
            <a:r>
              <a:rPr lang="en-US" sz="900" dirty="0"/>
              <a:t>(self):</a:t>
            </a:r>
            <a:br>
              <a:rPr lang="en-US" sz="900" dirty="0"/>
            </a:br>
            <a:r>
              <a:rPr lang="en-US" sz="900" dirty="0"/>
              <a:t>        msg = Twist()</a:t>
            </a:r>
            <a:br>
              <a:rPr lang="en-US" sz="900" dirty="0"/>
            </a:br>
            <a:br>
              <a:rPr lang="en-US" sz="900" dirty="0"/>
            </a:br>
            <a:r>
              <a:rPr lang="en-US" sz="900" dirty="0"/>
              <a:t>        </a:t>
            </a:r>
            <a:r>
              <a:rPr lang="en-US" sz="900" dirty="0" err="1"/>
              <a:t>msg.linear.x</a:t>
            </a:r>
            <a:r>
              <a:rPr lang="en-US" sz="900" dirty="0"/>
              <a:t> = 2.0</a:t>
            </a:r>
            <a:br>
              <a:rPr lang="en-US" sz="900" dirty="0"/>
            </a:br>
            <a:r>
              <a:rPr lang="en-US" sz="900" dirty="0"/>
              <a:t>        </a:t>
            </a:r>
            <a:r>
              <a:rPr lang="en-US" sz="900" dirty="0" err="1"/>
              <a:t>msg.angular.z</a:t>
            </a:r>
            <a:r>
              <a:rPr lang="en-US" sz="900" dirty="0"/>
              <a:t> = 1.0</a:t>
            </a:r>
            <a:br>
              <a:rPr lang="en-US" sz="900" dirty="0"/>
            </a:br>
            <a:br>
              <a:rPr lang="en-US" sz="900" dirty="0"/>
            </a:br>
            <a:r>
              <a:rPr lang="en-US" sz="900" dirty="0"/>
              <a:t>        </a:t>
            </a:r>
            <a:r>
              <a:rPr lang="en-US" sz="900" dirty="0" err="1"/>
              <a:t>self.pub.publish</a:t>
            </a:r>
            <a:r>
              <a:rPr lang="en-US" sz="900" dirty="0"/>
              <a:t>(msg)</a:t>
            </a:r>
            <a:br>
              <a:rPr lang="en-US" sz="900" dirty="0"/>
            </a:br>
            <a:br>
              <a:rPr lang="en-US" sz="900" dirty="0"/>
            </a:br>
            <a:br>
              <a:rPr lang="en-US" sz="900" dirty="0"/>
            </a:br>
            <a:r>
              <a:rPr lang="en-US" sz="900" dirty="0"/>
              <a:t>def main(</a:t>
            </a:r>
            <a:r>
              <a:rPr lang="en-US" sz="900" dirty="0" err="1"/>
              <a:t>args</a:t>
            </a:r>
            <a:r>
              <a:rPr lang="en-US" sz="900" dirty="0"/>
              <a:t>=None):</a:t>
            </a:r>
            <a:br>
              <a:rPr lang="en-US" sz="900" dirty="0"/>
            </a:br>
            <a:r>
              <a:rPr lang="en-US" sz="900" dirty="0"/>
              <a:t>    </a:t>
            </a:r>
            <a:r>
              <a:rPr lang="en-US" sz="900" dirty="0" err="1"/>
              <a:t>rclpy.init</a:t>
            </a:r>
            <a:r>
              <a:rPr lang="en-US" sz="900" dirty="0"/>
              <a:t>(</a:t>
            </a:r>
            <a:r>
              <a:rPr lang="en-US" sz="900" dirty="0" err="1"/>
              <a:t>args</a:t>
            </a:r>
            <a:r>
              <a:rPr lang="en-US" sz="900" dirty="0"/>
              <a:t>=</a:t>
            </a:r>
            <a:r>
              <a:rPr lang="en-US" sz="900" dirty="0" err="1"/>
              <a:t>args</a:t>
            </a:r>
            <a:r>
              <a:rPr lang="en-US" sz="900" dirty="0"/>
              <a:t>)</a:t>
            </a:r>
            <a:br>
              <a:rPr lang="en-US" sz="900" dirty="0"/>
            </a:br>
            <a:br>
              <a:rPr lang="en-US" sz="900" dirty="0"/>
            </a:br>
            <a:r>
              <a:rPr lang="en-US" sz="900" dirty="0"/>
              <a:t>    node = </a:t>
            </a:r>
            <a:r>
              <a:rPr lang="en-US" sz="900" dirty="0" err="1"/>
              <a:t>CircleController</a:t>
            </a:r>
            <a:r>
              <a:rPr lang="en-US" sz="900" dirty="0"/>
              <a:t>()</a:t>
            </a:r>
            <a:br>
              <a:rPr lang="en-US" sz="900" dirty="0"/>
            </a:br>
            <a:r>
              <a:rPr lang="en-US" sz="900" dirty="0"/>
              <a:t>    </a:t>
            </a:r>
            <a:r>
              <a:rPr lang="en-US" sz="900" dirty="0" err="1"/>
              <a:t>rclpy.spin</a:t>
            </a:r>
            <a:r>
              <a:rPr lang="en-US" sz="900" dirty="0"/>
              <a:t>(node)</a:t>
            </a:r>
            <a:br>
              <a:rPr lang="en-US" sz="900" dirty="0"/>
            </a:br>
            <a:br>
              <a:rPr lang="en-US" sz="900" dirty="0"/>
            </a:br>
            <a:r>
              <a:rPr lang="en-US" sz="900" dirty="0"/>
              <a:t>    </a:t>
            </a:r>
            <a:r>
              <a:rPr lang="en-US" sz="900" dirty="0" err="1"/>
              <a:t>node.destroy_node</a:t>
            </a:r>
            <a:r>
              <a:rPr lang="en-US" sz="900" dirty="0"/>
              <a:t>()</a:t>
            </a:r>
            <a:br>
              <a:rPr lang="en-US" sz="900" dirty="0"/>
            </a:br>
            <a:r>
              <a:rPr lang="en-US" sz="900" dirty="0"/>
              <a:t>    </a:t>
            </a:r>
            <a:r>
              <a:rPr lang="en-US" sz="900" dirty="0" err="1"/>
              <a:t>rclpy.shutdown</a:t>
            </a:r>
            <a:r>
              <a:rPr lang="en-US" sz="900" dirty="0"/>
              <a:t>()</a:t>
            </a:r>
            <a:br>
              <a:rPr lang="en-US" sz="900" dirty="0"/>
            </a:br>
            <a:br>
              <a:rPr lang="en-US" sz="900" dirty="0"/>
            </a:br>
            <a:br>
              <a:rPr lang="en-US" sz="900" dirty="0"/>
            </a:br>
            <a:r>
              <a:rPr lang="en-US" sz="900" dirty="0"/>
              <a:t>if __name__ == '__main__':</a:t>
            </a:r>
            <a:br>
              <a:rPr lang="en-US" sz="900" dirty="0"/>
            </a:br>
            <a:r>
              <a:rPr lang="en-US" sz="900" dirty="0"/>
              <a:t>    main()</a:t>
            </a:r>
          </a:p>
          <a:p>
            <a:endParaRPr lang="en-US" dirty="0"/>
          </a:p>
        </p:txBody>
      </p:sp>
    </p:spTree>
    <p:extLst>
      <p:ext uri="{BB962C8B-B14F-4D97-AF65-F5344CB8AC3E}">
        <p14:creationId xmlns:p14="http://schemas.microsoft.com/office/powerpoint/2010/main" val="200235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D397-555A-91EC-7C02-70E64EF72084}"/>
              </a:ext>
            </a:extLst>
          </p:cNvPr>
          <p:cNvSpPr>
            <a:spLocks noGrp="1"/>
          </p:cNvSpPr>
          <p:nvPr>
            <p:ph type="title"/>
          </p:nvPr>
        </p:nvSpPr>
        <p:spPr/>
        <p:txBody>
          <a:bodyPr/>
          <a:lstStyle/>
          <a:p>
            <a:r>
              <a:rPr lang="en-US" dirty="0"/>
              <a:t>Code for Exercise : turtle2 follow turtle1</a:t>
            </a:r>
          </a:p>
        </p:txBody>
      </p:sp>
      <p:sp>
        <p:nvSpPr>
          <p:cNvPr id="3" name="Text Placeholder 2">
            <a:extLst>
              <a:ext uri="{FF2B5EF4-FFF2-40B4-BE49-F238E27FC236}">
                <a16:creationId xmlns:a16="http://schemas.microsoft.com/office/drawing/2014/main" id="{7B39D7C5-B017-A087-B366-5C0CD063E431}"/>
              </a:ext>
            </a:extLst>
          </p:cNvPr>
          <p:cNvSpPr>
            <a:spLocks noGrp="1"/>
          </p:cNvSpPr>
          <p:nvPr>
            <p:ph type="body" idx="1"/>
          </p:nvPr>
        </p:nvSpPr>
        <p:spPr>
          <a:xfrm>
            <a:off x="259883" y="1131441"/>
            <a:ext cx="6330794" cy="4595117"/>
          </a:xfrm>
        </p:spPr>
        <p:txBody>
          <a:bodyPr>
            <a:noAutofit/>
          </a:bodyPr>
          <a:lstStyle/>
          <a:p>
            <a:r>
              <a:rPr lang="en-US" sz="1400" b="1" dirty="0"/>
              <a:t>Terminal 1: Start </a:t>
            </a:r>
            <a:r>
              <a:rPr lang="en-US" sz="1400" b="1" dirty="0" err="1"/>
              <a:t>turtlesim</a:t>
            </a:r>
            <a:endParaRPr lang="en-US" sz="1400" b="1" dirty="0"/>
          </a:p>
          <a:p>
            <a:pPr marL="588645" lvl="1" indent="0">
              <a:buNone/>
            </a:pPr>
            <a:r>
              <a:rPr lang="en-US" sz="1400" dirty="0"/>
              <a:t>ros2 run </a:t>
            </a:r>
            <a:r>
              <a:rPr lang="en-US" sz="1400" dirty="0" err="1"/>
              <a:t>turtlesim</a:t>
            </a:r>
            <a:r>
              <a:rPr lang="en-US" sz="1400" dirty="0"/>
              <a:t> </a:t>
            </a:r>
            <a:r>
              <a:rPr lang="en-US" sz="1400" dirty="0" err="1"/>
              <a:t>turtlesim_node</a:t>
            </a:r>
            <a:endParaRPr lang="en-US" sz="1400" dirty="0"/>
          </a:p>
          <a:p>
            <a:r>
              <a:rPr lang="en-US" sz="1400" b="1" dirty="0"/>
              <a:t>Terminal 2: Spawn turtle2</a:t>
            </a:r>
          </a:p>
          <a:p>
            <a:pPr marL="588645" lvl="1" indent="0">
              <a:buNone/>
            </a:pPr>
            <a:r>
              <a:rPr lang="en-US" sz="1400" dirty="0"/>
              <a:t>ros2 service call /spawn </a:t>
            </a:r>
            <a:r>
              <a:rPr lang="en-US" sz="1400" dirty="0" err="1"/>
              <a:t>turtlesim</a:t>
            </a:r>
            <a:r>
              <a:rPr lang="en-US" sz="1400" dirty="0"/>
              <a:t>/</a:t>
            </a:r>
            <a:r>
              <a:rPr lang="en-US" sz="1400" dirty="0" err="1"/>
              <a:t>srv</a:t>
            </a:r>
            <a:r>
              <a:rPr lang="en-US" sz="1400" dirty="0"/>
              <a:t>/Spawn "{x: 2.0, y: 2.0, theta: 0.0, name: 'turtle2'}"</a:t>
            </a:r>
          </a:p>
          <a:p>
            <a:r>
              <a:rPr lang="en-US" sz="1400" b="1" dirty="0"/>
              <a:t>Terminal 3: Control turtle1 using keyboard</a:t>
            </a:r>
          </a:p>
          <a:p>
            <a:pPr marL="588645" lvl="1" indent="0">
              <a:buNone/>
            </a:pPr>
            <a:r>
              <a:rPr lang="en-US" sz="1400" dirty="0"/>
              <a:t>ros2 run </a:t>
            </a:r>
            <a:r>
              <a:rPr lang="en-US" sz="1400" dirty="0" err="1"/>
              <a:t>turtlesim</a:t>
            </a:r>
            <a:r>
              <a:rPr lang="en-US" sz="1400" dirty="0"/>
              <a:t> </a:t>
            </a:r>
            <a:r>
              <a:rPr lang="en-US" sz="1400" dirty="0" err="1"/>
              <a:t>turtle_teleop_key</a:t>
            </a:r>
            <a:endParaRPr lang="en-US" sz="1400" dirty="0"/>
          </a:p>
          <a:p>
            <a:pPr marL="588645" lvl="1" indent="0">
              <a:buNone/>
            </a:pPr>
            <a:r>
              <a:rPr lang="en-US" sz="1400" dirty="0"/>
              <a:t>Keep this terminal active when using the arrow keys.</a:t>
            </a:r>
          </a:p>
          <a:p>
            <a:r>
              <a:rPr lang="en-US" sz="1400" b="1" dirty="0"/>
              <a:t>Terminal 4: Run follower node</a:t>
            </a:r>
          </a:p>
          <a:p>
            <a:pPr marL="588645" lvl="1" indent="0">
              <a:buNone/>
            </a:pPr>
            <a:r>
              <a:rPr lang="en-US" sz="1400" dirty="0"/>
              <a:t>ros2 run </a:t>
            </a:r>
            <a:r>
              <a:rPr lang="en-US" sz="1400" dirty="0" err="1"/>
              <a:t>turtlesim_controller</a:t>
            </a:r>
            <a:r>
              <a:rPr lang="en-US" sz="1400" dirty="0"/>
              <a:t> </a:t>
            </a:r>
            <a:r>
              <a:rPr lang="en-US" sz="1400" dirty="0" err="1"/>
              <a:t>turtle_follower</a:t>
            </a:r>
            <a:endParaRPr lang="en-US" sz="1400" dirty="0"/>
          </a:p>
          <a:p>
            <a:r>
              <a:rPr lang="en-US" sz="1400" b="1" dirty="0"/>
              <a:t>Inside </a:t>
            </a:r>
            <a:r>
              <a:rPr lang="en-US" sz="1400" b="1" dirty="0" err="1"/>
              <a:t>entry_points</a:t>
            </a:r>
            <a:r>
              <a:rPr lang="en-US" sz="1400" b="1" dirty="0"/>
              <a:t>, add:</a:t>
            </a:r>
          </a:p>
          <a:p>
            <a:pPr marL="131445" indent="0">
              <a:buNone/>
            </a:pPr>
            <a:r>
              <a:rPr lang="en-US" sz="1400" dirty="0"/>
              <a:t>        '</a:t>
            </a:r>
            <a:r>
              <a:rPr lang="en-US" sz="1400" dirty="0" err="1"/>
              <a:t>turtle_follower</a:t>
            </a:r>
            <a:r>
              <a:rPr lang="en-US" sz="1400" dirty="0"/>
              <a:t> = </a:t>
            </a:r>
            <a:r>
              <a:rPr lang="en-US" sz="1400" dirty="0" err="1"/>
              <a:t>turtlesim_controller.turtle_follower:main</a:t>
            </a:r>
            <a:r>
              <a:rPr lang="en-US" sz="1400" dirty="0"/>
              <a:t>',</a:t>
            </a:r>
          </a:p>
          <a:p>
            <a:r>
              <a:rPr lang="en-US" sz="1400" b="1" dirty="0"/>
              <a:t>So, it may look like this:</a:t>
            </a:r>
          </a:p>
          <a:p>
            <a:pPr marL="588645" lvl="1" indent="0">
              <a:buNone/>
            </a:pPr>
            <a:r>
              <a:rPr lang="en-US" sz="1400" dirty="0" err="1"/>
              <a:t>entry_points</a:t>
            </a:r>
            <a:r>
              <a:rPr lang="en-US" sz="1400" dirty="0"/>
              <a:t>={</a:t>
            </a:r>
            <a:br>
              <a:rPr lang="en-US" sz="1400" dirty="0"/>
            </a:br>
            <a:r>
              <a:rPr lang="en-US" sz="1400" dirty="0"/>
              <a:t>    '</a:t>
            </a:r>
            <a:r>
              <a:rPr lang="en-US" sz="1400" dirty="0" err="1"/>
              <a:t>console_scripts</a:t>
            </a:r>
            <a:r>
              <a:rPr lang="en-US" sz="1400" dirty="0"/>
              <a:t>': [</a:t>
            </a:r>
            <a:br>
              <a:rPr lang="en-US" sz="1400" dirty="0"/>
            </a:br>
            <a:r>
              <a:rPr lang="en-US" sz="1400" dirty="0"/>
              <a:t>        '</a:t>
            </a:r>
            <a:r>
              <a:rPr lang="en-US" sz="1400" dirty="0" err="1"/>
              <a:t>turtle_follower</a:t>
            </a:r>
            <a:r>
              <a:rPr lang="en-US" sz="1400" dirty="0"/>
              <a:t> = </a:t>
            </a:r>
            <a:r>
              <a:rPr lang="en-US" sz="1400" dirty="0" err="1"/>
              <a:t>turtlesim_controller.turtle_follower:main</a:t>
            </a:r>
            <a:r>
              <a:rPr lang="en-US" sz="1400" dirty="0"/>
              <a:t>',</a:t>
            </a:r>
            <a:br>
              <a:rPr lang="en-US" sz="1400" dirty="0"/>
            </a:br>
            <a:r>
              <a:rPr lang="en-US" sz="1400" dirty="0"/>
              <a:t>    ],</a:t>
            </a:r>
            <a:br>
              <a:rPr lang="en-US" sz="1400" dirty="0"/>
            </a:br>
            <a:r>
              <a:rPr lang="en-US" sz="1400" dirty="0"/>
              <a:t>},</a:t>
            </a:r>
          </a:p>
          <a:p>
            <a:endParaRPr lang="en-US" sz="1400" dirty="0"/>
          </a:p>
        </p:txBody>
      </p:sp>
      <p:sp>
        <p:nvSpPr>
          <p:cNvPr id="4" name="Slide Number Placeholder 3">
            <a:extLst>
              <a:ext uri="{FF2B5EF4-FFF2-40B4-BE49-F238E27FC236}">
                <a16:creationId xmlns:a16="http://schemas.microsoft.com/office/drawing/2014/main" id="{E4EA1C53-52CD-B21B-5655-8436802C6B2E}"/>
              </a:ext>
            </a:extLst>
          </p:cNvPr>
          <p:cNvSpPr>
            <a:spLocks noGrp="1"/>
          </p:cNvSpPr>
          <p:nvPr>
            <p:ph type="sldNum" idx="12"/>
          </p:nvPr>
        </p:nvSpPr>
        <p:spPr/>
        <p:txBody>
          <a:bodyPr/>
          <a:lstStyle/>
          <a:p>
            <a:pPr marL="0" lvl="0" indent="0" algn="ctr" rtl="0">
              <a:spcBef>
                <a:spcPts val="0"/>
              </a:spcBef>
              <a:spcAft>
                <a:spcPts val="0"/>
              </a:spcAft>
              <a:buNone/>
            </a:pPr>
            <a:r>
              <a:rPr lang="en-US"/>
              <a:t>PAGE  </a:t>
            </a:r>
            <a:fld id="{00000000-1234-1234-1234-123412341234}" type="slidenum">
              <a:rPr lang="en-US" smtClean="0"/>
              <a:t>62</a:t>
            </a:fld>
            <a:endParaRPr/>
          </a:p>
        </p:txBody>
      </p:sp>
      <p:sp>
        <p:nvSpPr>
          <p:cNvPr id="5" name="TextBox 4">
            <a:extLst>
              <a:ext uri="{FF2B5EF4-FFF2-40B4-BE49-F238E27FC236}">
                <a16:creationId xmlns:a16="http://schemas.microsoft.com/office/drawing/2014/main" id="{5F9F1FA8-0547-A9A0-E9B1-01267E7AA495}"/>
              </a:ext>
            </a:extLst>
          </p:cNvPr>
          <p:cNvSpPr txBox="1"/>
          <p:nvPr/>
        </p:nvSpPr>
        <p:spPr>
          <a:xfrm>
            <a:off x="6590677" y="2763296"/>
            <a:ext cx="5437707" cy="1169551"/>
          </a:xfrm>
          <a:prstGeom prst="rect">
            <a:avLst/>
          </a:prstGeom>
          <a:noFill/>
        </p:spPr>
        <p:txBody>
          <a:bodyPr wrap="none" rtlCol="0">
            <a:spAutoFit/>
          </a:bodyPr>
          <a:lstStyle/>
          <a:p>
            <a:r>
              <a:rPr lang="en-US" b="1" dirty="0"/>
              <a:t>Build and source</a:t>
            </a:r>
          </a:p>
          <a:p>
            <a:r>
              <a:rPr lang="en-US" dirty="0"/>
              <a:t>cd ~/</a:t>
            </a:r>
            <a:r>
              <a:rPr lang="en-US" dirty="0" err="1"/>
              <a:t>workspace_name</a:t>
            </a:r>
            <a:br>
              <a:rPr lang="en-US" dirty="0"/>
            </a:br>
            <a:r>
              <a:rPr lang="en-US" dirty="0" err="1"/>
              <a:t>colcon</a:t>
            </a:r>
            <a:r>
              <a:rPr lang="en-US" dirty="0"/>
              <a:t> build --packages-select </a:t>
            </a:r>
            <a:r>
              <a:rPr lang="en-US" dirty="0" err="1"/>
              <a:t>turtlesim_controller</a:t>
            </a:r>
            <a:r>
              <a:rPr lang="en-US" dirty="0"/>
              <a:t> --</a:t>
            </a:r>
            <a:r>
              <a:rPr lang="en-US" dirty="0" err="1"/>
              <a:t>symlink</a:t>
            </a:r>
            <a:r>
              <a:rPr lang="en-US" dirty="0"/>
              <a:t>-install</a:t>
            </a:r>
            <a:br>
              <a:rPr lang="en-US" dirty="0"/>
            </a:br>
            <a:r>
              <a:rPr lang="en-US" dirty="0"/>
              <a:t>source install/</a:t>
            </a:r>
            <a:r>
              <a:rPr lang="en-US" dirty="0" err="1"/>
              <a:t>setup.bash</a:t>
            </a:r>
            <a:endParaRPr lang="en-US" dirty="0"/>
          </a:p>
          <a:p>
            <a:endParaRPr lang="en-US" dirty="0"/>
          </a:p>
        </p:txBody>
      </p:sp>
    </p:spTree>
    <p:extLst>
      <p:ext uri="{BB962C8B-B14F-4D97-AF65-F5344CB8AC3E}">
        <p14:creationId xmlns:p14="http://schemas.microsoft.com/office/powerpoint/2010/main" val="1381846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404D0-377F-AC76-1B01-A88951AB0D09}"/>
              </a:ext>
            </a:extLst>
          </p:cNvPr>
          <p:cNvSpPr>
            <a:spLocks noGrp="1"/>
          </p:cNvSpPr>
          <p:nvPr>
            <p:ph type="title"/>
          </p:nvPr>
        </p:nvSpPr>
        <p:spPr/>
        <p:txBody>
          <a:bodyPr/>
          <a:lstStyle/>
          <a:p>
            <a:r>
              <a:rPr lang="en-US" dirty="0"/>
              <a:t>Links</a:t>
            </a:r>
          </a:p>
        </p:txBody>
      </p:sp>
      <p:sp>
        <p:nvSpPr>
          <p:cNvPr id="3" name="Text Placeholder 2">
            <a:extLst>
              <a:ext uri="{FF2B5EF4-FFF2-40B4-BE49-F238E27FC236}">
                <a16:creationId xmlns:a16="http://schemas.microsoft.com/office/drawing/2014/main" id="{0A068D2D-07F4-561F-CEC8-2DC4611BAD8C}"/>
              </a:ext>
            </a:extLst>
          </p:cNvPr>
          <p:cNvSpPr>
            <a:spLocks noGrp="1"/>
          </p:cNvSpPr>
          <p:nvPr>
            <p:ph type="body" idx="1"/>
          </p:nvPr>
        </p:nvSpPr>
        <p:spPr/>
        <p:txBody>
          <a:bodyPr>
            <a:normAutofit/>
          </a:bodyPr>
          <a:lstStyle/>
          <a:p>
            <a:r>
              <a:rPr lang="en-US" sz="2000" dirty="0" err="1"/>
              <a:t>Github</a:t>
            </a:r>
            <a:r>
              <a:rPr lang="en-US" sz="2000" dirty="0"/>
              <a:t>: </a:t>
            </a:r>
            <a:r>
              <a:rPr lang="pt-BR" sz="2000" dirty="0">
                <a:hlinkClick r:id="rId2"/>
              </a:rPr>
              <a:t>https://github.com/tchoopojcharoen/simple_exercise/tree/rclpy_tutorial</a:t>
            </a:r>
            <a:endParaRPr lang="pt-BR" sz="2000" dirty="0"/>
          </a:p>
          <a:p>
            <a:r>
              <a:rPr lang="en-US" sz="2000" dirty="0"/>
              <a:t>Slides: </a:t>
            </a:r>
          </a:p>
          <a:p>
            <a:pPr marL="588645" indent="-457200">
              <a:buAutoNum type="arabicParenR"/>
            </a:pPr>
            <a:r>
              <a:rPr lang="en-US" sz="2000" dirty="0">
                <a:hlinkClick r:id="rId3" tooltip="https://github.com/tchoopojcharoen/ros2_pi_uwaterloo/blob/main/ros2_pi_01.pdf"/>
              </a:rPr>
              <a:t>https://github.com/tchoopojcharoen/ROS2_pi_uwaterloo/blob/main/ROS2_pi_01.pdf</a:t>
            </a:r>
            <a:endParaRPr lang="en-US" sz="2000" dirty="0"/>
          </a:p>
          <a:p>
            <a:pPr marL="588645" indent="-457200">
              <a:buFont typeface="Noto Sans Symbols"/>
              <a:buAutoNum type="arabicParenR"/>
            </a:pPr>
            <a:r>
              <a:rPr lang="en-US" sz="2000" dirty="0">
                <a:hlinkClick r:id="rId4" tooltip="https://docs.google.com/presentation/d/1ljf_5okg6fc9qix2waig2sxciydxqglgppohne3ueas/edit?slide=id.p1#slide=id.p1"/>
              </a:rPr>
              <a:t>https://docs.google.com/presentation/d/1ljf_5OKg6Fc9qIX2WaIG2sxCiyDxQGLgppOHNE3uEas/</a:t>
            </a:r>
            <a:r>
              <a:rPr lang="en-US" sz="2000" dirty="0" err="1">
                <a:hlinkClick r:id="rId4" tooltip="https://docs.google.com/presentation/d/1ljf_5okg6fc9qix2waig2sxciydxqglgppohne3ueas/edit?slide=id.p1#slide=id.p1"/>
              </a:rPr>
              <a:t>edit?slide</a:t>
            </a:r>
            <a:r>
              <a:rPr lang="en-US" sz="2000" dirty="0">
                <a:hlinkClick r:id="rId4" tooltip="https://docs.google.com/presentation/d/1ljf_5okg6fc9qix2waig2sxciydxqglgppohne3ueas/edit?slide=id.p1#slide=id.p1"/>
              </a:rPr>
              <a:t>=</a:t>
            </a:r>
            <a:r>
              <a:rPr lang="en-US" sz="2000" dirty="0" err="1">
                <a:hlinkClick r:id="rId4" tooltip="https://docs.google.com/presentation/d/1ljf_5okg6fc9qix2waig2sxciydxqglgppohne3ueas/edit?slide=id.p1#slide=id.p1"/>
              </a:rPr>
              <a:t>id.p</a:t>
            </a:r>
            <a:r>
              <a:rPr lang="en-US" sz="2000" dirty="0">
                <a:hlinkClick r:id="rId4" tooltip="https://docs.google.com/presentation/d/1ljf_5okg6fc9qix2waig2sxciydxqglgppohne3ueas/edit?slide=id.p1#slide=id.p1"/>
              </a:rPr>
              <a:t>…</a:t>
            </a:r>
            <a:endParaRPr lang="en-US" sz="2000" dirty="0"/>
          </a:p>
        </p:txBody>
      </p:sp>
      <p:sp>
        <p:nvSpPr>
          <p:cNvPr id="4" name="Slide Number Placeholder 3">
            <a:extLst>
              <a:ext uri="{FF2B5EF4-FFF2-40B4-BE49-F238E27FC236}">
                <a16:creationId xmlns:a16="http://schemas.microsoft.com/office/drawing/2014/main" id="{D2356EE1-DCD3-1E62-4D6A-884F69008754}"/>
              </a:ext>
            </a:extLst>
          </p:cNvPr>
          <p:cNvSpPr>
            <a:spLocks noGrp="1"/>
          </p:cNvSpPr>
          <p:nvPr>
            <p:ph type="sldNum" idx="12"/>
          </p:nvPr>
        </p:nvSpPr>
        <p:spPr/>
        <p:txBody>
          <a:bodyPr/>
          <a:lstStyle/>
          <a:p>
            <a:pPr marL="0" lvl="0" indent="0" algn="ctr" rtl="0">
              <a:spcBef>
                <a:spcPts val="0"/>
              </a:spcBef>
              <a:spcAft>
                <a:spcPts val="0"/>
              </a:spcAft>
              <a:buNone/>
            </a:pPr>
            <a:r>
              <a:rPr lang="en-US"/>
              <a:t>PAGE  </a:t>
            </a:r>
            <a:fld id="{00000000-1234-1234-1234-123412341234}" type="slidenum">
              <a:rPr lang="en-US" smtClean="0"/>
              <a:t>63</a:t>
            </a:fld>
            <a:endParaRPr/>
          </a:p>
        </p:txBody>
      </p:sp>
    </p:spTree>
    <p:extLst>
      <p:ext uri="{BB962C8B-B14F-4D97-AF65-F5344CB8AC3E}">
        <p14:creationId xmlns:p14="http://schemas.microsoft.com/office/powerpoint/2010/main" val="263249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UofWaterloo_WhiteBkgrd">
  <a:themeElements>
    <a:clrScheme name="UWaterloo">
      <a:dk1>
        <a:srgbClr val="000000"/>
      </a:dk1>
      <a:lt1>
        <a:srgbClr val="FFFFFF"/>
      </a:lt1>
      <a:dk2>
        <a:srgbClr val="787878"/>
      </a:dk2>
      <a:lt2>
        <a:srgbClr val="DFDFDF"/>
      </a:lt2>
      <a:accent1>
        <a:srgbClr val="F2EDA8"/>
      </a:accent1>
      <a:accent2>
        <a:srgbClr val="FAE100"/>
      </a:accent2>
      <a:accent3>
        <a:srgbClr val="FED34C"/>
      </a:accent3>
      <a:accent4>
        <a:srgbClr val="EBAB00"/>
      </a:accent4>
      <a:accent5>
        <a:srgbClr val="BB0F33"/>
      </a:accent5>
      <a:accent6>
        <a:srgbClr val="A2A2A2"/>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8698</Words>
  <Application>Microsoft Office PowerPoint</Application>
  <PresentationFormat>Widescreen</PresentationFormat>
  <Paragraphs>1039</Paragraphs>
  <Slides>63</Slides>
  <Notes>60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63</vt:i4>
      </vt:variant>
    </vt:vector>
  </HeadingPairs>
  <TitlesOfParts>
    <vt:vector size="76" baseType="lpstr">
      <vt:lpstr>Calibri,Sans-Serif</vt:lpstr>
      <vt:lpstr>Noto Sans Symbols</vt:lpstr>
      <vt:lpstr>Arial</vt:lpstr>
      <vt:lpstr>Angsana New</vt:lpstr>
      <vt:lpstr>ui-monospace</vt:lpstr>
      <vt:lpstr>Calibri</vt:lpstr>
      <vt:lpstr>SFMono-Regular</vt:lpstr>
      <vt:lpstr>Verdana</vt:lpstr>
      <vt:lpstr>Georgia</vt:lpstr>
      <vt:lpstr>Barlow Condensed</vt:lpstr>
      <vt:lpstr>Cordia New</vt:lpstr>
      <vt:lpstr>Calibri Light</vt:lpstr>
      <vt:lpstr>UofWaterloo_WhiteBkgrd</vt:lpstr>
      <vt:lpstr>Introduction to ROS2</vt:lpstr>
      <vt:lpstr>Agenda</vt:lpstr>
      <vt:lpstr>Motivation</vt:lpstr>
      <vt:lpstr>Distributed Publish-Subscribe Middleware</vt:lpstr>
      <vt:lpstr>Distributed Publish-Subscribe Middleware</vt:lpstr>
      <vt:lpstr>Distributed Publish-Subscribe Middleware</vt:lpstr>
      <vt:lpstr>Distributed Publish-Subscribe Middleware</vt:lpstr>
      <vt:lpstr>Distributed Publish-Subscribe Middleware</vt:lpstr>
      <vt:lpstr>When should you use ROS ?</vt:lpstr>
      <vt:lpstr>Robot Operating System (ROS)</vt:lpstr>
      <vt:lpstr>What is/isn’t ROS ?</vt:lpstr>
      <vt:lpstr>What does ROS do ?</vt:lpstr>
      <vt:lpstr>Supported Programming Language for ROS</vt:lpstr>
      <vt:lpstr>Common type of information used in robotics</vt:lpstr>
      <vt:lpstr>Packages for/by the ROS Community</vt:lpstr>
      <vt:lpstr>Physical System vs Simulation</vt:lpstr>
      <vt:lpstr>PowerPoint Presentation</vt:lpstr>
      <vt:lpstr>Physical System vs Simulation</vt:lpstr>
      <vt:lpstr>Physical System vs Simulation</vt:lpstr>
      <vt:lpstr>Physical System vs Simulation</vt:lpstr>
      <vt:lpstr>Physical System vs Simulation</vt:lpstr>
      <vt:lpstr>Physical System vs Simulation</vt:lpstr>
      <vt:lpstr>PowerPoint Presentation</vt:lpstr>
      <vt:lpstr>ROS2</vt:lpstr>
      <vt:lpstr>Issues from using ROS(1)</vt:lpstr>
      <vt:lpstr>ROS2</vt:lpstr>
      <vt:lpstr>Distribution (Distro)</vt:lpstr>
      <vt:lpstr>The Construct (Emulating ROS2 environment)</vt:lpstr>
      <vt:lpstr>Ubuntu : Common Command </vt:lpstr>
      <vt:lpstr>Nodes &amp; Topics</vt:lpstr>
      <vt:lpstr>The concept of Nodes and Topics</vt:lpstr>
      <vt:lpstr>The concept of Nodes and Topics</vt:lpstr>
      <vt:lpstr>Example: Turtlesim Simulation</vt:lpstr>
      <vt:lpstr>Example: Turtlesim Simulation +Teleoperation</vt:lpstr>
      <vt:lpstr>Example: Turtlesim Simulation +Feedback Control</vt:lpstr>
      <vt:lpstr>Message Type</vt:lpstr>
      <vt:lpstr>Message Type</vt:lpstr>
      <vt:lpstr>Example Message: Pose</vt:lpstr>
      <vt:lpstr>The concept of message</vt:lpstr>
      <vt:lpstr>Publising messages from the terminal</vt:lpstr>
      <vt:lpstr>The concept of service</vt:lpstr>
      <vt:lpstr>The concept of ROS2 Parameter</vt:lpstr>
      <vt:lpstr>The concept of action</vt:lpstr>
      <vt:lpstr>Example: ROS2 Network with Multiple Computers</vt:lpstr>
      <vt:lpstr>ROS2 Package</vt:lpstr>
      <vt:lpstr>The concept of Package</vt:lpstr>
      <vt:lpstr>Source folder (src)</vt:lpstr>
      <vt:lpstr>The concept of Workspace</vt:lpstr>
      <vt:lpstr>Build System</vt:lpstr>
      <vt:lpstr>Build System</vt:lpstr>
      <vt:lpstr>Creating a new workspace</vt:lpstr>
      <vt:lpstr>Package Layout</vt:lpstr>
      <vt:lpstr>Creating a ROS Package</vt:lpstr>
      <vt:lpstr>Creating my_first_pkg</vt:lpstr>
      <vt:lpstr>Node class in ROS Client Library for Python (RCLPY)</vt:lpstr>
      <vt:lpstr>General procedure on "running" a node using RCLPY</vt:lpstr>
      <vt:lpstr>Inheriting a Node class from RCLPY</vt:lpstr>
      <vt:lpstr>Attaching a timer to the node</vt:lpstr>
      <vt:lpstr>Attaching a timer to the node</vt:lpstr>
      <vt:lpstr>Attaching a publisher and publishing a message in a timer</vt:lpstr>
      <vt:lpstr>Code for Exercise : drive turtle in a circle</vt:lpstr>
      <vt:lpstr>Code for Exercise : turtle2 follow turtle1</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Ramisha Anjum</dc:creator>
  <cp:lastModifiedBy>Ramisha Anjum</cp:lastModifiedBy>
  <cp:revision>7</cp:revision>
  <dcterms:modified xsi:type="dcterms:W3CDTF">2026-06-03T16:25:31Z</dcterms:modified>
</cp:coreProperties>
</file>